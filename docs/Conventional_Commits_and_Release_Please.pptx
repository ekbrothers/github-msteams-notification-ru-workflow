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embeddedFontLst>
    <p:embeddedFont>
      <p:font typeface="Space Grotesk" pitchFamily="34" charset="0"/>
      <p:regular r:id="rId20"/>
      <p:bold r:id="rId21"/>
    </p:embeddedFont>
    <p:embeddedFont>
      <p:font typeface="JetBrains Mono" panose="02000009000000000000" pitchFamily="49" charset="0"/>
      <p:regular r:id="rId22"/>
      <p:bold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font" Target="fonts/font1.fntdata"/><Relationship Id="rId21" Type="http://schemas.openxmlformats.org/officeDocument/2006/relationships/font" Target="fonts/font2.fntdata"/><Relationship Id="rId22" Type="http://schemas.openxmlformats.org/officeDocument/2006/relationships/font" Target="fonts/font3.fntdata"/><Relationship Id="rId23"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is about two small habits that remove almost all of the manual work from versioning and release notes. The first is a naming convention for commit messages. The second is a bot that reads those messages and does the release paperwork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if you had to write release notes from this log, could you? Could you say whether this release is safe to install? This is the gap we are closing. The information exists in our heads at commit time, we just do not write it down in a way tools can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in one sentence. Humans add a tiny bit of structure when they commit. Machines take it from there. Everything after this slide is just the details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first line is required: type, colon, space, description. The scope in parentheses and the exclamation mark are optional. The body and the BREAKING CHANGE footer are optional too, but the footer is a second way to mark a breaking change and a good place to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commit left to right like diagramming a sentence. The type is the verb: it says what kind of action happened. The scope is the adjective: it narrows down which part of the system. The exclamation point works just like in English: it raises the volume and warns the reader. The description is the object: the specific thing that changed. Each part has a job for humans and a job for the robot. The colon is just punctuation separating the label from the details. The analogy is loose on purpose; the point is that every piece has one clear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semantic versioning, MAJOR.MINOR.PATCH, driven automatically by commit types. A release looks at every commit since the last one and picks the biggest bump. One feat plus ten fixes is a minor release. One breaking change anywhere makes it a major release. Edge case: before version 1.0.0, Release Please by default treats breaking changes as a minor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"after" column reads like release notes already. That is the point: the changelog is written one commit at a time, by the person who knows the change best, at the moment they know it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our commits carry meaning, we need something to read them. Release Please is an open source GitHub Action maintained by Google. It never pushes a release on its own. It proposes one, and a human approves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mental model: Release Please keeps one open pull request that always represents "the next release." Every time something merges to main, it recalculates the version and rewrites the changelog in that PR. Nothing is published until a person merges it. After merging, it creates the tag and the GitHub Release, and the workflow can trigger follow-up steps like publishing a package or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 changelog on the left is the same text as our commit messages from the before and after slide. Nobody wrote release notes by hand. If a message is wrong, you can fix it before merging the release 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minimal setup for a single-package repo. Swap release-type for your language: simple just uses a version.txt file and works for anything. For repos with multiple packages, Release Please supports a release-please-config.json and a .release-please-manifest.json. Check the action's README for current inputs and outputs before adopting, since the action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convention only works if it is followed, so automate the enforcement. Squash merging is the biggest win: contributors can commit however they like on their branch, and only the PR title has to follow the format. The gotcha at the bottom trips up almost every team the first time: GitHub deliberately does not trigger workflows from events created by the default token, so your tests will not run on the release PR unless you use a separate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repeating the three habits. Then open it up for questions. Good follow-ups: which repo should pilot this first, and who will add the PR title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3EC"/>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78341"/>
          </a:xfrm>
          <a:prstGeom prst="rect">
            <a:avLst/>
          </a:prstGeom>
          <a:noFill/>
          <a:ln/>
        </p:spPr>
        <p:txBody>
          <a:bodyPr wrap="square" lIns="0" tIns="0" rIns="0" bIns="0" rtlCol="0" anchor="t"/>
          <a:lstStyle>
            <a:lvl1pPr algn="l" indent="0" marL="0">
              <a:lnSpc>
                <a:spcPct val="115000"/>
              </a:lnSpc>
              <a:buNone/>
              <a:defRPr lang="en-US" sz="3600" dirty="0">
                <a:solidFill>
                  <a:srgbClr val="1B1E26"/>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95941"/>
            <a:ext cx="10566400" cy="4349259"/>
          </a:xfrm>
          <a:prstGeom prst="rect">
            <a:avLst/>
          </a:prstGeom>
          <a:noFill/>
          <a:ln/>
        </p:spPr>
        <p:txBody>
          <a:bodyPr wrap="square" lIns="0" tIns="0" rIns="0" bIns="0" rtlCol="0" anchor="t"/>
          <a:lstStyle>
            <a:lvl1pPr algn="l" indent="0" marL="0">
              <a:lnSpc>
                <a:spcPct val="140000"/>
              </a:lnSpc>
              <a:buNone/>
              <a:defRPr lang="en-US" sz="1600" dirty="0">
                <a:solidFill>
                  <a:srgbClr val="1B1E26"/>
                </a:solidFill>
                <a:latin typeface="Space Grotesk" pitchFamily="34" charset="0"/>
                <a:ea typeface="Space Grotesk" pitchFamily="34" charset="-122"/>
                <a:cs typeface="Space Grotesk"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3EC"/>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78341"/>
          </a:xfrm>
          <a:prstGeom prst="rect">
            <a:avLst/>
          </a:prstGeom>
          <a:noFill/>
          <a:ln/>
        </p:spPr>
        <p:txBody>
          <a:bodyPr wrap="square" lIns="0" tIns="0" rIns="0" bIns="0" rtlCol="0" anchor="t"/>
          <a:lstStyle>
            <a:lvl1pPr algn="l" indent="0" marL="0">
              <a:lnSpc>
                <a:spcPct val="115000"/>
              </a:lnSpc>
              <a:buNone/>
              <a:defRPr lang="en-US" sz="3600" dirty="0">
                <a:solidFill>
                  <a:srgbClr val="1B1E26"/>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95941"/>
            <a:ext cx="10566400" cy="4349259"/>
          </a:xfrm>
          <a:prstGeom prst="rect">
            <a:avLst/>
          </a:prstGeom>
          <a:noFill/>
          <a:ln/>
        </p:spPr>
        <p:txBody>
          <a:bodyPr wrap="square" lIns="0" tIns="0" rIns="0" bIns="0" rtlCol="0" anchor="t"/>
          <a:lstStyle>
            <a:lvl1pPr algn="l" indent="0" marL="0">
              <a:lnSpc>
                <a:spcPct val="140000"/>
              </a:lnSpc>
              <a:buNone/>
              <a:defRPr lang="en-US" sz="1600" dirty="0">
                <a:solidFill>
                  <a:srgbClr val="1B1E26"/>
                </a:solidFill>
                <a:latin typeface="Space Grotesk" pitchFamily="34" charset="0"/>
                <a:ea typeface="Space Grotesk" pitchFamily="34" charset="-122"/>
                <a:cs typeface="Space Grotesk"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812800" y="812800"/>
            <a:ext cx="10883392" cy="3525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F8A5C"/>
                </a:solidFill>
                <a:latin typeface="JetBrains Mono" pitchFamily="49" charset="0"/>
                <a:ea typeface="JetBrains Mono" pitchFamily="49" charset="-122"/>
                <a:cs typeface="JetBrains Mono" pitchFamily="49" charset="-120"/>
              </a:rPr>
              <a:t>feat: ship releases on autopilot</a:t>
            </a:r>
            <a:endParaRPr lang="en-US" sz="1600" dirty="0"/>
          </a:p>
        </p:txBody>
      </p:sp>
      <p:sp>
        <p:nvSpPr>
          <p:cNvPr id="3" name="Text 1"/>
          <p:cNvSpPr/>
          <p:nvPr>
            <p:ph type="title"/>
          </p:nvPr>
        </p:nvSpPr>
        <p:spPr>
          <a:xfrm>
            <a:off x="812800" y="2159454"/>
            <a:ext cx="10883392" cy="1988306"/>
          </a:xfrm>
          <a:prstGeom prst="rect">
            <a:avLst/>
          </a:prstGeom>
          <a:noFill/>
          <a:ln/>
        </p:spPr>
        <p:txBody>
          <a:bodyPr wrap="square" lIns="0" tIns="0" rIns="0" bIns="0" rtlCol="0" anchor="t">
            <a:normAutofit/>
          </a:bodyPr>
          <a:lstStyle/>
          <a:p>
            <a:pPr algn="l" indent="0" marL="0">
              <a:lnSpc>
                <a:spcPts val="6720"/>
              </a:lnSpc>
              <a:buNone/>
            </a:pPr>
            <a:r>
              <a:rPr lang="en-US" sz="6400" b="1" i="0" spc="-100" kern="0" dirty="0">
                <a:solidFill>
                  <a:srgbClr val="F6F3EC"/>
                </a:solidFill>
                <a:latin typeface="Space Grotesk" pitchFamily="34" charset="0"/>
                <a:ea typeface="Space Grotesk" pitchFamily="34" charset="-122"/>
                <a:cs typeface="Space Grotesk" pitchFamily="34" charset="-120"/>
              </a:rPr>
              <a:t>Commits that</a:t>
            </a:r>
            <a:endParaRPr lang="en-US" sz="6400" dirty="0"/>
          </a:p>
          <a:p>
            <a:pPr algn="l" indent="0" marL="0">
              <a:lnSpc>
                <a:spcPts val="6720"/>
              </a:lnSpc>
              <a:buNone/>
            </a:pPr>
            <a:r>
              <a:rPr lang="en-US" sz="6400" b="1" i="0" spc="-100" kern="0" dirty="0">
                <a:solidFill>
                  <a:srgbClr val="F6F3EC"/>
                </a:solidFill>
                <a:latin typeface="Space Grotesk" pitchFamily="34" charset="0"/>
                <a:ea typeface="Space Grotesk" pitchFamily="34" charset="-122"/>
                <a:cs typeface="Space Grotesk" pitchFamily="34" charset="-120"/>
              </a:rPr>
              <a:t>release themselves</a:t>
            </a:r>
            <a:endParaRPr lang="en-US" sz="6400" dirty="0"/>
          </a:p>
        </p:txBody>
      </p:sp>
      <p:sp>
        <p:nvSpPr>
          <p:cNvPr id="4" name="Text 2"/>
          <p:cNvSpPr/>
          <p:nvPr/>
        </p:nvSpPr>
        <p:spPr>
          <a:xfrm>
            <a:off x="812800" y="4350960"/>
            <a:ext cx="10883392" cy="434332"/>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A3A9B6"/>
                </a:solidFill>
                <a:latin typeface="Space Grotesk" pitchFamily="34" charset="0"/>
                <a:ea typeface="Space Grotesk" pitchFamily="34" charset="-122"/>
                <a:cs typeface="Space Grotesk" pitchFamily="34" charset="-120"/>
              </a:rPr>
              <a:t>Conventional Commits + Release Please, explained simply</a:t>
            </a:r>
            <a:endParaRPr lang="en-US" sz="2000" dirty="0"/>
          </a:p>
        </p:txBody>
      </p:sp>
      <p:sp>
        <p:nvSpPr>
          <p:cNvPr id="5" name="Text 3"/>
          <p:cNvSpPr/>
          <p:nvPr/>
        </p:nvSpPr>
        <p:spPr>
          <a:xfrm>
            <a:off x="812800" y="5779407"/>
            <a:ext cx="10883392" cy="291193"/>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3A9B6"/>
                </a:solidFill>
                <a:latin typeface="Space Grotesk" pitchFamily="34" charset="0"/>
                <a:ea typeface="Space Grotesk" pitchFamily="34" charset="-122"/>
                <a:cs typeface="Space Grotesk" pitchFamily="34" charset="-120"/>
              </a:rPr>
              <a:t>[Presenter name] · [Team] · [Date]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The problem: our history tells us nothing</a:t>
            </a:r>
            <a:endParaRPr lang="en-US" sz="3600" dirty="0"/>
          </a:p>
        </p:txBody>
      </p:sp>
      <p:sp>
        <p:nvSpPr>
          <p:cNvPr id="3" name="Shape 1"/>
          <p:cNvSpPr/>
          <p:nvPr/>
        </p:nvSpPr>
        <p:spPr>
          <a:xfrm>
            <a:off x="812800" y="1797541"/>
            <a:ext cx="5384800" cy="3350570"/>
          </a:xfrm>
          <a:prstGeom prst="roundRect">
            <a:avLst>
              <a:gd name="adj" fmla="val 3790"/>
            </a:avLst>
          </a:prstGeom>
          <a:solidFill>
            <a:srgbClr val="15181F"/>
          </a:solidFill>
          <a:ln/>
        </p:spPr>
      </p:sp>
      <p:sp>
        <p:nvSpPr>
          <p:cNvPr id="4" name="Text 2"/>
          <p:cNvSpPr/>
          <p:nvPr/>
        </p:nvSpPr>
        <p:spPr>
          <a:xfrm>
            <a:off x="1117600" y="2102341"/>
            <a:ext cx="4918456" cy="291193"/>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3A9B6"/>
                </a:solidFill>
                <a:latin typeface="JetBrains Mono" pitchFamily="49" charset="0"/>
                <a:ea typeface="JetBrains Mono" pitchFamily="49" charset="-122"/>
                <a:cs typeface="JetBrains Mono" pitchFamily="49" charset="-120"/>
              </a:rPr>
              <a:t>$ git log --oneline</a:t>
            </a:r>
            <a:endParaRPr lang="en-US" sz="1300" dirty="0"/>
          </a:p>
        </p:txBody>
      </p:sp>
      <p:sp>
        <p:nvSpPr>
          <p:cNvPr id="5" name="Text 3"/>
          <p:cNvSpPr/>
          <p:nvPr/>
        </p:nvSpPr>
        <p:spPr>
          <a:xfrm>
            <a:off x="1117600" y="2495135"/>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a1f3c9e</a:t>
            </a:r>
            <a:r>
              <a:rPr lang="en-US" sz="1800" dirty="0">
                <a:solidFill>
                  <a:srgbClr val="F6F3EC"/>
                </a:solidFill>
                <a:latin typeface="JetBrains Mono" pitchFamily="49" charset="0"/>
                <a:ea typeface="JetBrains Mono" pitchFamily="49" charset="-122"/>
                <a:cs typeface="JetBrains Mono" pitchFamily="49" charset="-120"/>
              </a:rPr>
              <a:t> fixed stuff</a:t>
            </a:r>
            <a:endParaRPr lang="en-US" sz="1800" dirty="0"/>
          </a:p>
        </p:txBody>
      </p:sp>
      <p:sp>
        <p:nvSpPr>
          <p:cNvPr id="6" name="Text 4"/>
          <p:cNvSpPr/>
          <p:nvPr/>
        </p:nvSpPr>
        <p:spPr>
          <a:xfrm>
            <a:off x="1117600" y="2990170"/>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7be2d10</a:t>
            </a:r>
            <a:r>
              <a:rPr lang="en-US" sz="1800" dirty="0">
                <a:solidFill>
                  <a:srgbClr val="F6F3EC"/>
                </a:solidFill>
                <a:latin typeface="JetBrains Mono" pitchFamily="49" charset="0"/>
                <a:ea typeface="JetBrains Mono" pitchFamily="49" charset="-122"/>
                <a:cs typeface="JetBrains Mono" pitchFamily="49" charset="-120"/>
              </a:rPr>
              <a:t> wip</a:t>
            </a:r>
            <a:endParaRPr lang="en-US" sz="1800" dirty="0"/>
          </a:p>
        </p:txBody>
      </p:sp>
      <p:sp>
        <p:nvSpPr>
          <p:cNvPr id="7" name="Text 5"/>
          <p:cNvSpPr/>
          <p:nvPr/>
        </p:nvSpPr>
        <p:spPr>
          <a:xfrm>
            <a:off x="1117600" y="3485205"/>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c09e4a1</a:t>
            </a:r>
            <a:r>
              <a:rPr lang="en-US" sz="1800" dirty="0">
                <a:solidFill>
                  <a:srgbClr val="F6F3EC"/>
                </a:solidFill>
                <a:latin typeface="JetBrains Mono" pitchFamily="49" charset="0"/>
                <a:ea typeface="JetBrains Mono" pitchFamily="49" charset="-122"/>
                <a:cs typeface="JetBrains Mono" pitchFamily="49" charset="-120"/>
              </a:rPr>
              <a:t> updates</a:t>
            </a:r>
            <a:endParaRPr lang="en-US" sz="1800" dirty="0"/>
          </a:p>
        </p:txBody>
      </p:sp>
      <p:sp>
        <p:nvSpPr>
          <p:cNvPr id="8" name="Text 6"/>
          <p:cNvSpPr/>
          <p:nvPr/>
        </p:nvSpPr>
        <p:spPr>
          <a:xfrm>
            <a:off x="1117600" y="3980241"/>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e44b8f2</a:t>
            </a:r>
            <a:r>
              <a:rPr lang="en-US" sz="1800" dirty="0">
                <a:solidFill>
                  <a:srgbClr val="F6F3EC"/>
                </a:solidFill>
                <a:latin typeface="JetBrains Mono" pitchFamily="49" charset="0"/>
                <a:ea typeface="JetBrains Mono" pitchFamily="49" charset="-122"/>
                <a:cs typeface="JetBrains Mono" pitchFamily="49" charset="-120"/>
              </a:rPr>
              <a:t> final final v2</a:t>
            </a:r>
            <a:endParaRPr lang="en-US" sz="1800" dirty="0"/>
          </a:p>
        </p:txBody>
      </p:sp>
      <p:sp>
        <p:nvSpPr>
          <p:cNvPr id="9" name="Text 7"/>
          <p:cNvSpPr/>
          <p:nvPr/>
        </p:nvSpPr>
        <p:spPr>
          <a:xfrm>
            <a:off x="1117600" y="4475276"/>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91ad3c7</a:t>
            </a:r>
            <a:r>
              <a:rPr lang="en-US" sz="1800" dirty="0">
                <a:solidFill>
                  <a:srgbClr val="F6F3EC"/>
                </a:solidFill>
                <a:latin typeface="JetBrains Mono" pitchFamily="49" charset="0"/>
                <a:ea typeface="JetBrains Mono" pitchFamily="49" charset="-122"/>
                <a:cs typeface="JetBrains Mono" pitchFamily="49" charset="-120"/>
              </a:rPr>
              <a:t> pls work</a:t>
            </a:r>
            <a:endParaRPr lang="en-US" sz="1800" dirty="0"/>
          </a:p>
        </p:txBody>
      </p:sp>
      <p:sp>
        <p:nvSpPr>
          <p:cNvPr id="10" name="Text 8"/>
          <p:cNvSpPr/>
          <p:nvPr/>
        </p:nvSpPr>
        <p:spPr>
          <a:xfrm>
            <a:off x="6604000" y="2171889"/>
            <a:ext cx="4918456" cy="446012"/>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B1E26"/>
                </a:solidFill>
                <a:latin typeface="Space Grotesk" pitchFamily="34" charset="0"/>
                <a:ea typeface="Space Grotesk" pitchFamily="34" charset="-122"/>
                <a:cs typeface="Space Grotesk" pitchFamily="34" charset="-120"/>
              </a:rPr>
              <a:t>What changed?</a:t>
            </a:r>
            <a:endParaRPr lang="en-US" sz="2400" dirty="0"/>
          </a:p>
        </p:txBody>
      </p:sp>
      <p:sp>
        <p:nvSpPr>
          <p:cNvPr id="11" name="Text 9"/>
          <p:cNvSpPr/>
          <p:nvPr/>
        </p:nvSpPr>
        <p:spPr>
          <a:xfrm>
            <a:off x="6604000" y="2821101"/>
            <a:ext cx="4918456" cy="446012"/>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B1E26"/>
                </a:solidFill>
                <a:latin typeface="Space Grotesk" pitchFamily="34" charset="0"/>
                <a:ea typeface="Space Grotesk" pitchFamily="34" charset="-122"/>
                <a:cs typeface="Space Grotesk" pitchFamily="34" charset="-120"/>
              </a:rPr>
              <a:t>Will anything break?</a:t>
            </a:r>
            <a:endParaRPr lang="en-US" sz="2400" dirty="0"/>
          </a:p>
        </p:txBody>
      </p:sp>
      <p:sp>
        <p:nvSpPr>
          <p:cNvPr id="12" name="Text 10"/>
          <p:cNvSpPr/>
          <p:nvPr/>
        </p:nvSpPr>
        <p:spPr>
          <a:xfrm>
            <a:off x="6604000" y="3470313"/>
            <a:ext cx="4918456" cy="446012"/>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B1E26"/>
                </a:solidFill>
                <a:latin typeface="Space Grotesk" pitchFamily="34" charset="0"/>
                <a:ea typeface="Space Grotesk" pitchFamily="34" charset="-122"/>
                <a:cs typeface="Space Grotesk" pitchFamily="34" charset="-120"/>
              </a:rPr>
              <a:t>What is the next version?</a:t>
            </a:r>
            <a:endParaRPr lang="en-US" sz="2400" dirty="0"/>
          </a:p>
        </p:txBody>
      </p:sp>
      <p:sp>
        <p:nvSpPr>
          <p:cNvPr id="13" name="Text 11"/>
          <p:cNvSpPr/>
          <p:nvPr/>
        </p:nvSpPr>
        <p:spPr>
          <a:xfrm>
            <a:off x="6604000" y="4119525"/>
            <a:ext cx="4918456" cy="6796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D6270"/>
                </a:solidFill>
                <a:latin typeface="Space Grotesk" pitchFamily="34" charset="0"/>
                <a:ea typeface="Space Grotesk" pitchFamily="34" charset="-122"/>
                <a:cs typeface="Space Grotesk" pitchFamily="34" charset="-120"/>
              </a:rPr>
              <a:t>Today, answering these means reading code, asking around, and guessing.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592A"/>
        </a:solidFill>
      </p:bgPr>
    </p:bg>
    <p:spTree>
      <p:nvGrpSpPr>
        <p:cNvPr id="1" name=""/>
        <p:cNvGrpSpPr/>
        <p:nvPr/>
      </p:nvGrpSpPr>
      <p:grpSpPr>
        <a:xfrm>
          <a:off x="0" y="0"/>
          <a:ext cx="0" cy="0"/>
          <a:chOff x="0" y="0"/>
          <a:chExt cx="0" cy="0"/>
        </a:xfrm>
      </p:grpSpPr>
      <p:sp>
        <p:nvSpPr>
          <p:cNvPr id="2" name="Text 0"/>
          <p:cNvSpPr/>
          <p:nvPr/>
        </p:nvSpPr>
        <p:spPr>
          <a:xfrm>
            <a:off x="812800" y="1178871"/>
            <a:ext cx="10883392" cy="352501"/>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5181F"/>
                </a:solidFill>
                <a:latin typeface="JetBrains Mono" pitchFamily="49" charset="0"/>
                <a:ea typeface="JetBrains Mono" pitchFamily="49" charset="-122"/>
                <a:cs typeface="JetBrains Mono" pitchFamily="49" charset="-120"/>
              </a:rPr>
              <a:t>the big idea</a:t>
            </a:r>
            <a:endParaRPr lang="en-US" sz="1600" dirty="0"/>
          </a:p>
        </p:txBody>
      </p:sp>
      <p:sp>
        <p:nvSpPr>
          <p:cNvPr id="3" name="Text 1"/>
          <p:cNvSpPr/>
          <p:nvPr>
            <p:ph type="title"/>
          </p:nvPr>
        </p:nvSpPr>
        <p:spPr>
          <a:xfrm>
            <a:off x="812800" y="1810770"/>
            <a:ext cx="10883392" cy="3179989"/>
          </a:xfrm>
          <a:prstGeom prst="rect">
            <a:avLst/>
          </a:prstGeom>
          <a:noFill/>
          <a:ln/>
        </p:spPr>
        <p:txBody>
          <a:bodyPr wrap="square" lIns="0" tIns="0" rIns="0" bIns="0" rtlCol="0" anchor="t">
            <a:normAutofit/>
          </a:bodyPr>
          <a:lstStyle/>
          <a:p>
            <a:pPr algn="l" indent="0" marL="0">
              <a:lnSpc>
                <a:spcPts val="5400"/>
              </a:lnSpc>
              <a:buNone/>
            </a:pPr>
            <a:r>
              <a:rPr lang="en-US" sz="5000" b="1" i="0" spc="-100" kern="0" dirty="0">
                <a:solidFill>
                  <a:srgbClr val="15181F"/>
                </a:solidFill>
                <a:latin typeface="Space Grotesk" pitchFamily="34" charset="0"/>
                <a:ea typeface="Space Grotesk" pitchFamily="34" charset="-122"/>
                <a:cs typeface="Space Grotesk" pitchFamily="34" charset="-120"/>
              </a:rPr>
              <a:t>Add one word to every commit. Get versions, changelogs, and releases for free.</a:t>
            </a:r>
            <a:endParaRPr lang="en-US" sz="5000" dirty="0"/>
          </a:p>
        </p:txBody>
      </p:sp>
      <p:sp>
        <p:nvSpPr>
          <p:cNvPr id="4" name="Text 2"/>
          <p:cNvSpPr/>
          <p:nvPr/>
        </p:nvSpPr>
        <p:spPr>
          <a:xfrm>
            <a:off x="812800" y="5270160"/>
            <a:ext cx="10883392" cy="434332"/>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15181F"/>
                </a:solidFill>
                <a:latin typeface="Space Grotesk" pitchFamily="34" charset="0"/>
                <a:ea typeface="Space Grotesk" pitchFamily="34" charset="-122"/>
                <a:cs typeface="Space Grotesk" pitchFamily="34" charset="-120"/>
              </a:rPr>
              <a:t>That one word is called the </a:t>
            </a:r>
            <a:r>
              <a:rPr lang="en-US" sz="2000" b="1" dirty="0">
                <a:solidFill>
                  <a:srgbClr val="15181F"/>
                </a:solidFill>
                <a:latin typeface="Space Grotesk" pitchFamily="34" charset="0"/>
                <a:ea typeface="Space Grotesk" pitchFamily="34" charset="-122"/>
                <a:cs typeface="Space Grotesk" pitchFamily="34" charset="-120"/>
              </a:rPr>
              <a:t>type</a:t>
            </a:r>
            <a:r>
              <a:rPr lang="en-US" sz="2000" dirty="0">
                <a:solidFill>
                  <a:srgbClr val="15181F"/>
                </a:solidFill>
                <a:latin typeface="Space Grotesk" pitchFamily="34" charset="0"/>
                <a:ea typeface="Space Grotesk" pitchFamily="34" charset="-122"/>
                <a:cs typeface="Space Grotesk" pitchFamily="34" charset="-120"/>
              </a:rPr>
              <a: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Anatomy of a conventional commit</a:t>
            </a:r>
            <a:endParaRPr lang="en-US" sz="3600" dirty="0"/>
          </a:p>
        </p:txBody>
      </p:sp>
      <p:sp>
        <p:nvSpPr>
          <p:cNvPr id="3" name="Shape 1"/>
          <p:cNvSpPr/>
          <p:nvPr/>
        </p:nvSpPr>
        <p:spPr>
          <a:xfrm>
            <a:off x="812800" y="1695941"/>
            <a:ext cx="10566400" cy="1957728"/>
          </a:xfrm>
          <a:prstGeom prst="roundRect">
            <a:avLst>
              <a:gd name="adj" fmla="val 6487"/>
            </a:avLst>
          </a:prstGeom>
          <a:solidFill>
            <a:srgbClr val="15181F"/>
          </a:solidFill>
          <a:ln/>
        </p:spPr>
      </p:sp>
      <p:sp>
        <p:nvSpPr>
          <p:cNvPr id="4" name="Text 2"/>
          <p:cNvSpPr/>
          <p:nvPr/>
        </p:nvSpPr>
        <p:spPr>
          <a:xfrm>
            <a:off x="1168400" y="2000741"/>
            <a:ext cx="10150856" cy="516126"/>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8A5C"/>
                </a:solidFill>
                <a:latin typeface="JetBrains Mono" pitchFamily="49" charset="0"/>
                <a:ea typeface="JetBrains Mono" pitchFamily="49" charset="-122"/>
                <a:cs typeface="JetBrains Mono" pitchFamily="49" charset="-120"/>
              </a:rPr>
              <a:t>feat</a:t>
            </a:r>
            <a:r>
              <a:rPr lang="en-US" sz="2400" b="1" dirty="0">
                <a:solidFill>
                  <a:srgbClr val="7FB0FF"/>
                </a:solidFill>
                <a:latin typeface="JetBrains Mono" pitchFamily="49" charset="0"/>
                <a:ea typeface="JetBrains Mono" pitchFamily="49" charset="-122"/>
                <a:cs typeface="JetBrains Mono" pitchFamily="49" charset="-120"/>
              </a:rPr>
              <a:t>(auth)</a:t>
            </a:r>
            <a:r>
              <a:rPr lang="en-US" sz="2400" b="1" dirty="0">
                <a:solidFill>
                  <a:srgbClr val="FFD166"/>
                </a:solidFill>
                <a:latin typeface="JetBrains Mono" pitchFamily="49" charset="0"/>
                <a:ea typeface="JetBrains Mono" pitchFamily="49" charset="-122"/>
                <a:cs typeface="JetBrains Mono" pitchFamily="49" charset="-120"/>
              </a:rPr>
              <a:t>!</a:t>
            </a:r>
            <a:r>
              <a:rPr lang="en-US" sz="2400" b="1" dirty="0">
                <a:solidFill>
                  <a:srgbClr val="F6F3EC"/>
                </a:solidFill>
                <a:latin typeface="JetBrains Mono" pitchFamily="49" charset="0"/>
                <a:ea typeface="JetBrains Mono" pitchFamily="49" charset="-122"/>
                <a:cs typeface="JetBrains Mono" pitchFamily="49" charset="-120"/>
              </a:rPr>
              <a:t>: add SSO login</a:t>
            </a:r>
            <a:endParaRPr lang="en-US" sz="2400" dirty="0"/>
          </a:p>
        </p:txBody>
      </p:sp>
      <p:sp>
        <p:nvSpPr>
          <p:cNvPr id="5" name="Text 3"/>
          <p:cNvSpPr/>
          <p:nvPr/>
        </p:nvSpPr>
        <p:spPr>
          <a:xfrm>
            <a:off x="1168400" y="2593068"/>
            <a:ext cx="10150856" cy="3525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3A9B6"/>
                </a:solidFill>
                <a:latin typeface="JetBrains Mono" pitchFamily="49" charset="0"/>
                <a:ea typeface="JetBrains Mono" pitchFamily="49" charset="-122"/>
                <a:cs typeface="JetBrains Mono" pitchFamily="49" charset="-120"/>
              </a:rPr>
              <a:t>Users can now sign in with company SSO.</a:t>
            </a:r>
            <a:endParaRPr lang="en-US" sz="1600" dirty="0"/>
          </a:p>
        </p:txBody>
      </p:sp>
      <p:sp>
        <p:nvSpPr>
          <p:cNvPr id="6" name="Text 4"/>
          <p:cNvSpPr/>
          <p:nvPr/>
        </p:nvSpPr>
        <p:spPr>
          <a:xfrm>
            <a:off x="1168400" y="3021769"/>
            <a:ext cx="10150856" cy="3525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3A9B6"/>
                </a:solidFill>
                <a:latin typeface="JetBrains Mono" pitchFamily="49" charset="0"/>
                <a:ea typeface="JetBrains Mono" pitchFamily="49" charset="-122"/>
                <a:cs typeface="JetBrains Mono" pitchFamily="49" charset="-120"/>
              </a:rPr>
              <a:t>BREAKING CHANGE: /login now requires a tenant ID</a:t>
            </a:r>
            <a:endParaRPr lang="en-US" sz="1600" dirty="0"/>
          </a:p>
        </p:txBody>
      </p:sp>
      <p:sp>
        <p:nvSpPr>
          <p:cNvPr id="7" name="Shape 5"/>
          <p:cNvSpPr/>
          <p:nvPr/>
        </p:nvSpPr>
        <p:spPr>
          <a:xfrm>
            <a:off x="819150" y="3964820"/>
            <a:ext cx="2514600" cy="1637657"/>
          </a:xfrm>
          <a:prstGeom prst="roundRect">
            <a:avLst>
              <a:gd name="adj" fmla="val 5816"/>
            </a:avLst>
          </a:prstGeom>
          <a:solidFill>
            <a:srgbClr val="FFFDF8"/>
          </a:solidFill>
          <a:ln w="12700">
            <a:solidFill>
              <a:srgbClr val="E2DDD2"/>
            </a:solidFill>
            <a:prstDash val="solid"/>
          </a:ln>
        </p:spPr>
      </p:sp>
      <p:sp>
        <p:nvSpPr>
          <p:cNvPr id="8" name="Text 6"/>
          <p:cNvSpPr/>
          <p:nvPr/>
        </p:nvSpPr>
        <p:spPr>
          <a:xfrm>
            <a:off x="1028095" y="4173765"/>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8441B"/>
                </a:solidFill>
                <a:latin typeface="JetBrains Mono" pitchFamily="49" charset="0"/>
                <a:ea typeface="JetBrains Mono" pitchFamily="49" charset="-122"/>
                <a:cs typeface="JetBrains Mono" pitchFamily="49" charset="-120"/>
              </a:rPr>
              <a:t>feat</a:t>
            </a:r>
            <a:endParaRPr lang="en-US" sz="1800" dirty="0"/>
          </a:p>
        </p:txBody>
      </p:sp>
      <p:sp>
        <p:nvSpPr>
          <p:cNvPr id="9" name="Text 7"/>
          <p:cNvSpPr/>
          <p:nvPr/>
        </p:nvSpPr>
        <p:spPr>
          <a:xfrm>
            <a:off x="1028095" y="4565424"/>
            <a:ext cx="2159611"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E26"/>
                </a:solidFill>
                <a:latin typeface="Space Grotesk" pitchFamily="34" charset="0"/>
                <a:ea typeface="Space Grotesk" pitchFamily="34" charset="-122"/>
                <a:cs typeface="Space Grotesk" pitchFamily="34" charset="-120"/>
              </a:rPr>
              <a:t>The type. What kind of change is this?</a:t>
            </a:r>
            <a:endParaRPr lang="en-US" sz="1400" dirty="0"/>
          </a:p>
        </p:txBody>
      </p:sp>
      <p:sp>
        <p:nvSpPr>
          <p:cNvPr id="10" name="Shape 8"/>
          <p:cNvSpPr/>
          <p:nvPr/>
        </p:nvSpPr>
        <p:spPr>
          <a:xfrm>
            <a:off x="3498850" y="3964820"/>
            <a:ext cx="2514600" cy="1637657"/>
          </a:xfrm>
          <a:prstGeom prst="roundRect">
            <a:avLst>
              <a:gd name="adj" fmla="val 5816"/>
            </a:avLst>
          </a:prstGeom>
          <a:solidFill>
            <a:srgbClr val="FFFDF8"/>
          </a:solidFill>
          <a:ln w="12700">
            <a:solidFill>
              <a:srgbClr val="E2DDD2"/>
            </a:solidFill>
            <a:prstDash val="solid"/>
          </a:ln>
        </p:spPr>
      </p:sp>
      <p:sp>
        <p:nvSpPr>
          <p:cNvPr id="11" name="Text 9"/>
          <p:cNvSpPr/>
          <p:nvPr/>
        </p:nvSpPr>
        <p:spPr>
          <a:xfrm>
            <a:off x="3707795" y="4173765"/>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62B0"/>
                </a:solidFill>
                <a:latin typeface="JetBrains Mono" pitchFamily="49" charset="0"/>
                <a:ea typeface="JetBrains Mono" pitchFamily="49" charset="-122"/>
                <a:cs typeface="JetBrains Mono" pitchFamily="49" charset="-120"/>
              </a:rPr>
              <a:t>(auth)</a:t>
            </a:r>
            <a:endParaRPr lang="en-US" sz="1800" dirty="0"/>
          </a:p>
        </p:txBody>
      </p:sp>
      <p:sp>
        <p:nvSpPr>
          <p:cNvPr id="12" name="Text 10"/>
          <p:cNvSpPr/>
          <p:nvPr/>
        </p:nvSpPr>
        <p:spPr>
          <a:xfrm>
            <a:off x="3707795" y="4565424"/>
            <a:ext cx="2159611"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E26"/>
                </a:solidFill>
                <a:latin typeface="Space Grotesk" pitchFamily="34" charset="0"/>
                <a:ea typeface="Space Grotesk" pitchFamily="34" charset="-122"/>
                <a:cs typeface="Space Grotesk" pitchFamily="34" charset="-120"/>
              </a:rPr>
              <a:t>Scope. Optional. Which part of the app?</a:t>
            </a:r>
            <a:endParaRPr lang="en-US" sz="1400" dirty="0"/>
          </a:p>
        </p:txBody>
      </p:sp>
      <p:sp>
        <p:nvSpPr>
          <p:cNvPr id="13" name="Shape 11"/>
          <p:cNvSpPr/>
          <p:nvPr/>
        </p:nvSpPr>
        <p:spPr>
          <a:xfrm>
            <a:off x="6178550" y="3964820"/>
            <a:ext cx="2514600" cy="1637657"/>
          </a:xfrm>
          <a:prstGeom prst="roundRect">
            <a:avLst>
              <a:gd name="adj" fmla="val 5816"/>
            </a:avLst>
          </a:prstGeom>
          <a:solidFill>
            <a:srgbClr val="FFFDF8"/>
          </a:solidFill>
          <a:ln w="12700">
            <a:solidFill>
              <a:srgbClr val="E2DDD2"/>
            </a:solidFill>
            <a:prstDash val="solid"/>
          </a:ln>
        </p:spPr>
      </p:sp>
      <p:sp>
        <p:nvSpPr>
          <p:cNvPr id="14" name="Text 12"/>
          <p:cNvSpPr/>
          <p:nvPr/>
        </p:nvSpPr>
        <p:spPr>
          <a:xfrm>
            <a:off x="6387495" y="4173765"/>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8A6400"/>
                </a:solidFill>
                <a:latin typeface="JetBrains Mono" pitchFamily="49" charset="0"/>
                <a:ea typeface="JetBrains Mono" pitchFamily="49" charset="-122"/>
                <a:cs typeface="JetBrains Mono" pitchFamily="49" charset="-120"/>
              </a:rPr>
              <a:t>!</a:t>
            </a:r>
            <a:endParaRPr lang="en-US" sz="1800" dirty="0"/>
          </a:p>
        </p:txBody>
      </p:sp>
      <p:sp>
        <p:nvSpPr>
          <p:cNvPr id="15" name="Text 13"/>
          <p:cNvSpPr/>
          <p:nvPr/>
        </p:nvSpPr>
        <p:spPr>
          <a:xfrm>
            <a:off x="6387495" y="4565424"/>
            <a:ext cx="2159611"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E26"/>
                </a:solidFill>
                <a:latin typeface="Space Grotesk" pitchFamily="34" charset="0"/>
                <a:ea typeface="Space Grotesk" pitchFamily="34" charset="-122"/>
                <a:cs typeface="Space Grotesk" pitchFamily="34" charset="-120"/>
              </a:rPr>
              <a:t>Optional. Warns that this breaks something.</a:t>
            </a:r>
            <a:endParaRPr lang="en-US" sz="1400" dirty="0"/>
          </a:p>
        </p:txBody>
      </p:sp>
      <p:sp>
        <p:nvSpPr>
          <p:cNvPr id="16" name="Shape 14"/>
          <p:cNvSpPr/>
          <p:nvPr/>
        </p:nvSpPr>
        <p:spPr>
          <a:xfrm>
            <a:off x="8858250" y="3964820"/>
            <a:ext cx="2514600" cy="1637657"/>
          </a:xfrm>
          <a:prstGeom prst="roundRect">
            <a:avLst>
              <a:gd name="adj" fmla="val 5816"/>
            </a:avLst>
          </a:prstGeom>
          <a:solidFill>
            <a:srgbClr val="FFFDF8"/>
          </a:solidFill>
          <a:ln w="12700">
            <a:solidFill>
              <a:srgbClr val="E2DDD2"/>
            </a:solidFill>
            <a:prstDash val="solid"/>
          </a:ln>
        </p:spPr>
      </p:sp>
      <p:sp>
        <p:nvSpPr>
          <p:cNvPr id="17" name="Text 15"/>
          <p:cNvSpPr/>
          <p:nvPr/>
        </p:nvSpPr>
        <p:spPr>
          <a:xfrm>
            <a:off x="9067195" y="4173765"/>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JetBrains Mono" pitchFamily="49" charset="0"/>
                <a:ea typeface="JetBrains Mono" pitchFamily="49" charset="-122"/>
                <a:cs typeface="JetBrains Mono" pitchFamily="49" charset="-120"/>
              </a:rPr>
              <a:t>: add SSO</a:t>
            </a:r>
            <a:endParaRPr lang="en-US" sz="1800" dirty="0"/>
          </a:p>
        </p:txBody>
      </p:sp>
      <p:sp>
        <p:nvSpPr>
          <p:cNvPr id="18" name="Text 16"/>
          <p:cNvSpPr/>
          <p:nvPr/>
        </p:nvSpPr>
        <p:spPr>
          <a:xfrm>
            <a:off x="9067195" y="4565424"/>
            <a:ext cx="2159611"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E26"/>
                </a:solidFill>
                <a:latin typeface="Space Grotesk" pitchFamily="34" charset="0"/>
                <a:ea typeface="Space Grotesk" pitchFamily="34" charset="-122"/>
                <a:cs typeface="Space Grotesk" pitchFamily="34" charset="-120"/>
              </a:rPr>
              <a:t>A short summary, written like a command.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Read a commit like a sentence</a:t>
            </a:r>
            <a:endParaRPr lang="en-US" sz="3600" dirty="0"/>
          </a:p>
        </p:txBody>
      </p:sp>
      <p:sp>
        <p:nvSpPr>
          <p:cNvPr id="3" name="Shape 1"/>
          <p:cNvSpPr/>
          <p:nvPr/>
        </p:nvSpPr>
        <p:spPr>
          <a:xfrm>
            <a:off x="812800" y="1645143"/>
            <a:ext cx="10566400" cy="1329720"/>
          </a:xfrm>
          <a:prstGeom prst="roundRect">
            <a:avLst>
              <a:gd name="adj" fmla="val 9551"/>
            </a:avLst>
          </a:prstGeom>
          <a:solidFill>
            <a:srgbClr val="15181F"/>
          </a:solidFill>
          <a:ln/>
        </p:spPr>
      </p:sp>
      <p:sp>
        <p:nvSpPr>
          <p:cNvPr id="4" name="Text 2"/>
          <p:cNvSpPr/>
          <p:nvPr/>
        </p:nvSpPr>
        <p:spPr>
          <a:xfrm>
            <a:off x="1117600" y="1848343"/>
            <a:ext cx="10255504" cy="586241"/>
          </a:xfrm>
          <a:prstGeom prst="rect">
            <a:avLst/>
          </a:prstGeom>
          <a:noFill/>
          <a:ln/>
        </p:spPr>
        <p:txBody>
          <a:bodyPr wrap="square" lIns="0" tIns="0" rIns="0" bIns="0" rtlCol="0" anchor="t">
            <a:normAutofit/>
          </a:bodyPr>
          <a:lstStyle/>
          <a:p>
            <a:pPr algn="l" indent="0" marL="0">
              <a:lnSpc>
                <a:spcPts val="3840"/>
              </a:lnSpc>
              <a:buNone/>
            </a:pPr>
            <a:r>
              <a:rPr lang="en-US" sz="3200" b="1" dirty="0">
                <a:solidFill>
                  <a:srgbClr val="FF8A5C"/>
                </a:solidFill>
                <a:latin typeface="JetBrains Mono" pitchFamily="49" charset="0"/>
                <a:ea typeface="JetBrains Mono" pitchFamily="49" charset="-122"/>
                <a:cs typeface="JetBrains Mono" pitchFamily="49" charset="-120"/>
              </a:rPr>
              <a:t>feat</a:t>
            </a:r>
            <a:r>
              <a:rPr lang="en-US" sz="3200" b="1" dirty="0">
                <a:solidFill>
                  <a:srgbClr val="7FB0FF"/>
                </a:solidFill>
                <a:latin typeface="JetBrains Mono" pitchFamily="49" charset="0"/>
                <a:ea typeface="JetBrains Mono" pitchFamily="49" charset="-122"/>
                <a:cs typeface="JetBrains Mono" pitchFamily="49" charset="-120"/>
              </a:rPr>
              <a:t>(api)</a:t>
            </a:r>
            <a:r>
              <a:rPr lang="en-US" sz="3200" b="1" dirty="0">
                <a:solidFill>
                  <a:srgbClr val="FFD166"/>
                </a:solidFill>
                <a:latin typeface="JetBrains Mono" pitchFamily="49" charset="0"/>
                <a:ea typeface="JetBrains Mono" pitchFamily="49" charset="-122"/>
                <a:cs typeface="JetBrains Mono" pitchFamily="49" charset="-120"/>
              </a:rPr>
              <a:t>!</a:t>
            </a:r>
            <a:r>
              <a:rPr lang="en-US" sz="3200" b="1" dirty="0">
                <a:solidFill>
                  <a:srgbClr val="F6F3EC"/>
                </a:solidFill>
                <a:latin typeface="JetBrains Mono" pitchFamily="49" charset="0"/>
                <a:ea typeface="JetBrains Mono" pitchFamily="49" charset="-122"/>
                <a:cs typeface="JetBrains Mono" pitchFamily="49" charset="-120"/>
              </a:rPr>
              <a:t>: remove v1 endpoints</a:t>
            </a:r>
            <a:endParaRPr lang="en-US" sz="3200" dirty="0"/>
          </a:p>
        </p:txBody>
      </p:sp>
      <p:sp>
        <p:nvSpPr>
          <p:cNvPr id="5" name="Text 3"/>
          <p:cNvSpPr/>
          <p:nvPr/>
        </p:nvSpPr>
        <p:spPr>
          <a:xfrm>
            <a:off x="1117600" y="2485383"/>
            <a:ext cx="10255504"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3A9B6"/>
                </a:solidFill>
                <a:latin typeface="Space Grotesk" pitchFamily="34" charset="0"/>
                <a:ea typeface="Space Grotesk" pitchFamily="34" charset="-122"/>
                <a:cs typeface="Space Grotesk" pitchFamily="34" charset="-120"/>
              </a:rPr>
              <a:t>Say it out loud: "A new API feature, and heads up, it breaks things: we removed the v1 endpoints."</a:t>
            </a:r>
            <a:endParaRPr lang="en-US" sz="1400" dirty="0"/>
          </a:p>
        </p:txBody>
      </p:sp>
      <p:sp>
        <p:nvSpPr>
          <p:cNvPr id="6" name="Shape 4"/>
          <p:cNvSpPr/>
          <p:nvPr/>
        </p:nvSpPr>
        <p:spPr>
          <a:xfrm>
            <a:off x="819150" y="3235213"/>
            <a:ext cx="2514600" cy="2765576"/>
          </a:xfrm>
          <a:prstGeom prst="roundRect">
            <a:avLst>
              <a:gd name="adj" fmla="val 3788"/>
            </a:avLst>
          </a:prstGeom>
          <a:solidFill>
            <a:srgbClr val="FFFDF8"/>
          </a:solidFill>
          <a:ln w="12700">
            <a:solidFill>
              <a:srgbClr val="E2DDD2"/>
            </a:solidFill>
            <a:prstDash val="solid"/>
          </a:ln>
        </p:spPr>
      </p:sp>
      <p:sp>
        <p:nvSpPr>
          <p:cNvPr id="7" name="Text 5"/>
          <p:cNvSpPr/>
          <p:nvPr/>
        </p:nvSpPr>
        <p:spPr>
          <a:xfrm>
            <a:off x="1028095" y="3444159"/>
            <a:ext cx="2159611"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8441B"/>
                </a:solidFill>
                <a:latin typeface="JetBrains Mono" pitchFamily="49" charset="0"/>
                <a:ea typeface="JetBrains Mono" pitchFamily="49" charset="-122"/>
                <a:cs typeface="JetBrains Mono" pitchFamily="49" charset="-120"/>
              </a:rPr>
              <a:t>feat</a:t>
            </a:r>
            <a:endParaRPr lang="en-US" sz="2000" dirty="0"/>
          </a:p>
        </p:txBody>
      </p:sp>
      <p:sp>
        <p:nvSpPr>
          <p:cNvPr id="8" name="Text 6"/>
          <p:cNvSpPr/>
          <p:nvPr/>
        </p:nvSpPr>
        <p:spPr>
          <a:xfrm>
            <a:off x="1028095" y="3929289"/>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Space Grotesk" pitchFamily="34" charset="0"/>
                <a:ea typeface="Space Grotesk" pitchFamily="34" charset="-122"/>
                <a:cs typeface="Space Grotesk" pitchFamily="34" charset="-120"/>
              </a:rPr>
              <a:t>Verb</a:t>
            </a:r>
            <a:endParaRPr lang="en-US" sz="1800" dirty="0"/>
          </a:p>
        </p:txBody>
      </p:sp>
      <p:sp>
        <p:nvSpPr>
          <p:cNvPr id="9" name="Text 7"/>
          <p:cNvSpPr/>
          <p:nvPr/>
        </p:nvSpPr>
        <p:spPr>
          <a:xfrm>
            <a:off x="1028095" y="4320949"/>
            <a:ext cx="2159611" cy="53801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1E26"/>
                </a:solidFill>
                <a:latin typeface="Space Grotesk" pitchFamily="34" charset="0"/>
                <a:ea typeface="Space Grotesk" pitchFamily="34" charset="-122"/>
                <a:cs typeface="Space Grotesk" pitchFamily="34" charset="-120"/>
              </a:rPr>
              <a:t>The action. What kind of change is this?</a:t>
            </a:r>
            <a:endParaRPr lang="en-US" sz="1300" dirty="0"/>
          </a:p>
        </p:txBody>
      </p:sp>
      <p:sp>
        <p:nvSpPr>
          <p:cNvPr id="10" name="Text 8"/>
          <p:cNvSpPr/>
          <p:nvPr/>
        </p:nvSpPr>
        <p:spPr>
          <a:xfrm>
            <a:off x="1028095" y="4909759"/>
            <a:ext cx="2159611" cy="49855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5D6270"/>
                </a:solidFill>
                <a:latin typeface="Space Grotesk" pitchFamily="34" charset="0"/>
                <a:ea typeface="Space Grotesk" pitchFamily="34" charset="-122"/>
                <a:cs typeface="Space Grotesk" pitchFamily="34" charset="-120"/>
              </a:rPr>
              <a:t>Robot reads:</a:t>
            </a:r>
            <a:r>
              <a:rPr lang="en-US" sz="1200" dirty="0">
                <a:solidFill>
                  <a:srgbClr val="5D6270"/>
                </a:solidFill>
                <a:latin typeface="Space Grotesk" pitchFamily="34" charset="0"/>
                <a:ea typeface="Space Grotesk" pitchFamily="34" charset="-122"/>
                <a:cs typeface="Space Grotesk" pitchFamily="34" charset="-120"/>
              </a:rPr>
              <a:t> picks the version bump.</a:t>
            </a:r>
            <a:endParaRPr lang="en-US" sz="1200" dirty="0"/>
          </a:p>
        </p:txBody>
      </p:sp>
      <p:sp>
        <p:nvSpPr>
          <p:cNvPr id="11" name="Shape 9"/>
          <p:cNvSpPr/>
          <p:nvPr/>
        </p:nvSpPr>
        <p:spPr>
          <a:xfrm>
            <a:off x="3498850" y="3235213"/>
            <a:ext cx="2514600" cy="2765576"/>
          </a:xfrm>
          <a:prstGeom prst="roundRect">
            <a:avLst>
              <a:gd name="adj" fmla="val 3788"/>
            </a:avLst>
          </a:prstGeom>
          <a:solidFill>
            <a:srgbClr val="FFFDF8"/>
          </a:solidFill>
          <a:ln w="12700">
            <a:solidFill>
              <a:srgbClr val="E2DDD2"/>
            </a:solidFill>
            <a:prstDash val="solid"/>
          </a:ln>
        </p:spPr>
      </p:sp>
      <p:sp>
        <p:nvSpPr>
          <p:cNvPr id="12" name="Text 10"/>
          <p:cNvSpPr/>
          <p:nvPr/>
        </p:nvSpPr>
        <p:spPr>
          <a:xfrm>
            <a:off x="3707795" y="3444159"/>
            <a:ext cx="2159611"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F62B0"/>
                </a:solidFill>
                <a:latin typeface="JetBrains Mono" pitchFamily="49" charset="0"/>
                <a:ea typeface="JetBrains Mono" pitchFamily="49" charset="-122"/>
                <a:cs typeface="JetBrains Mono" pitchFamily="49" charset="-120"/>
              </a:rPr>
              <a:t>(api)</a:t>
            </a:r>
            <a:endParaRPr lang="en-US" sz="2000" dirty="0"/>
          </a:p>
        </p:txBody>
      </p:sp>
      <p:sp>
        <p:nvSpPr>
          <p:cNvPr id="13" name="Text 11"/>
          <p:cNvSpPr/>
          <p:nvPr/>
        </p:nvSpPr>
        <p:spPr>
          <a:xfrm>
            <a:off x="3707795" y="3929289"/>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Space Grotesk" pitchFamily="34" charset="0"/>
                <a:ea typeface="Space Grotesk" pitchFamily="34" charset="-122"/>
                <a:cs typeface="Space Grotesk" pitchFamily="34" charset="-120"/>
              </a:rPr>
              <a:t>Adjective</a:t>
            </a:r>
            <a:endParaRPr lang="en-US" sz="1800" dirty="0"/>
          </a:p>
        </p:txBody>
      </p:sp>
      <p:sp>
        <p:nvSpPr>
          <p:cNvPr id="14" name="Text 12"/>
          <p:cNvSpPr/>
          <p:nvPr/>
        </p:nvSpPr>
        <p:spPr>
          <a:xfrm>
            <a:off x="3707795" y="4320949"/>
            <a:ext cx="2159611" cy="79431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1E26"/>
                </a:solidFill>
                <a:latin typeface="Space Grotesk" pitchFamily="34" charset="0"/>
                <a:ea typeface="Space Grotesk" pitchFamily="34" charset="-122"/>
                <a:cs typeface="Space Grotesk" pitchFamily="34" charset="-120"/>
              </a:rPr>
              <a:t>Describes which part. Not just a feature, an API feature.</a:t>
            </a:r>
            <a:endParaRPr lang="en-US" sz="1300" dirty="0"/>
          </a:p>
        </p:txBody>
      </p:sp>
      <p:sp>
        <p:nvSpPr>
          <p:cNvPr id="15" name="Text 13"/>
          <p:cNvSpPr/>
          <p:nvPr/>
        </p:nvSpPr>
        <p:spPr>
          <a:xfrm>
            <a:off x="3707795" y="5166066"/>
            <a:ext cx="2159611" cy="49855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5D6270"/>
                </a:solidFill>
                <a:latin typeface="Space Grotesk" pitchFamily="34" charset="0"/>
                <a:ea typeface="Space Grotesk" pitchFamily="34" charset="-122"/>
                <a:cs typeface="Space Grotesk" pitchFamily="34" charset="-120"/>
              </a:rPr>
              <a:t>Robot reads:</a:t>
            </a:r>
            <a:r>
              <a:rPr lang="en-US" sz="1200" dirty="0">
                <a:solidFill>
                  <a:srgbClr val="5D6270"/>
                </a:solidFill>
                <a:latin typeface="Space Grotesk" pitchFamily="34" charset="0"/>
                <a:ea typeface="Space Grotesk" pitchFamily="34" charset="-122"/>
                <a:cs typeface="Space Grotesk" pitchFamily="34" charset="-120"/>
              </a:rPr>
              <a:t> labels the changelog entry.</a:t>
            </a:r>
            <a:endParaRPr lang="en-US" sz="1200" dirty="0"/>
          </a:p>
        </p:txBody>
      </p:sp>
      <p:sp>
        <p:nvSpPr>
          <p:cNvPr id="16" name="Shape 14"/>
          <p:cNvSpPr/>
          <p:nvPr/>
        </p:nvSpPr>
        <p:spPr>
          <a:xfrm>
            <a:off x="6178550" y="3235213"/>
            <a:ext cx="2514600" cy="2765576"/>
          </a:xfrm>
          <a:prstGeom prst="roundRect">
            <a:avLst>
              <a:gd name="adj" fmla="val 3788"/>
            </a:avLst>
          </a:prstGeom>
          <a:solidFill>
            <a:srgbClr val="FFFDF8"/>
          </a:solidFill>
          <a:ln w="12700">
            <a:solidFill>
              <a:srgbClr val="E2DDD2"/>
            </a:solidFill>
            <a:prstDash val="solid"/>
          </a:ln>
        </p:spPr>
      </p:sp>
      <p:sp>
        <p:nvSpPr>
          <p:cNvPr id="17" name="Text 15"/>
          <p:cNvSpPr/>
          <p:nvPr/>
        </p:nvSpPr>
        <p:spPr>
          <a:xfrm>
            <a:off x="6387495" y="3444159"/>
            <a:ext cx="2159611"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8A6400"/>
                </a:solidFill>
                <a:latin typeface="JetBrains Mono" pitchFamily="49" charset="0"/>
                <a:ea typeface="JetBrains Mono" pitchFamily="49" charset="-122"/>
                <a:cs typeface="JetBrains Mono" pitchFamily="49" charset="-120"/>
              </a:rPr>
              <a:t>!</a:t>
            </a:r>
            <a:endParaRPr lang="en-US" sz="2000" dirty="0"/>
          </a:p>
        </p:txBody>
      </p:sp>
      <p:sp>
        <p:nvSpPr>
          <p:cNvPr id="18" name="Text 16"/>
          <p:cNvSpPr/>
          <p:nvPr/>
        </p:nvSpPr>
        <p:spPr>
          <a:xfrm>
            <a:off x="6387495" y="3929289"/>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Space Grotesk" pitchFamily="34" charset="0"/>
                <a:ea typeface="Space Grotesk" pitchFamily="34" charset="-122"/>
                <a:cs typeface="Space Grotesk" pitchFamily="34" charset="-120"/>
              </a:rPr>
              <a:t>Exclamation</a:t>
            </a:r>
            <a:endParaRPr lang="en-US" sz="1800" dirty="0"/>
          </a:p>
        </p:txBody>
      </p:sp>
      <p:sp>
        <p:nvSpPr>
          <p:cNvPr id="19" name="Text 17"/>
          <p:cNvSpPr/>
          <p:nvPr/>
        </p:nvSpPr>
        <p:spPr>
          <a:xfrm>
            <a:off x="6387495" y="4320949"/>
            <a:ext cx="2159611" cy="79431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1E26"/>
                </a:solidFill>
                <a:latin typeface="Space Grotesk" pitchFamily="34" charset="0"/>
                <a:ea typeface="Space Grotesk" pitchFamily="34" charset="-122"/>
                <a:cs typeface="Space Grotesk" pitchFamily="34" charset="-120"/>
              </a:rPr>
              <a:t>Raises its voice. Careful, this breaks things.</a:t>
            </a:r>
            <a:endParaRPr lang="en-US" sz="1300" dirty="0"/>
          </a:p>
        </p:txBody>
      </p:sp>
      <p:sp>
        <p:nvSpPr>
          <p:cNvPr id="20" name="Text 18"/>
          <p:cNvSpPr/>
          <p:nvPr/>
        </p:nvSpPr>
        <p:spPr>
          <a:xfrm>
            <a:off x="6387495" y="5166066"/>
            <a:ext cx="2159611" cy="49855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5D6270"/>
                </a:solidFill>
                <a:latin typeface="Space Grotesk" pitchFamily="34" charset="0"/>
                <a:ea typeface="Space Grotesk" pitchFamily="34" charset="-122"/>
                <a:cs typeface="Space Grotesk" pitchFamily="34" charset="-120"/>
              </a:rPr>
              <a:t>Robot reads:</a:t>
            </a:r>
            <a:r>
              <a:rPr lang="en-US" sz="1200" dirty="0">
                <a:solidFill>
                  <a:srgbClr val="5D6270"/>
                </a:solidFill>
                <a:latin typeface="Space Grotesk" pitchFamily="34" charset="0"/>
                <a:ea typeface="Space Grotesk" pitchFamily="34" charset="-122"/>
                <a:cs typeface="Space Grotesk" pitchFamily="34" charset="-120"/>
              </a:rPr>
              <a:t> forces a major version.</a:t>
            </a:r>
            <a:endParaRPr lang="en-US" sz="1200" dirty="0"/>
          </a:p>
        </p:txBody>
      </p:sp>
      <p:sp>
        <p:nvSpPr>
          <p:cNvPr id="21" name="Shape 19"/>
          <p:cNvSpPr/>
          <p:nvPr/>
        </p:nvSpPr>
        <p:spPr>
          <a:xfrm>
            <a:off x="8858250" y="3235213"/>
            <a:ext cx="2514600" cy="2765576"/>
          </a:xfrm>
          <a:prstGeom prst="roundRect">
            <a:avLst>
              <a:gd name="adj" fmla="val 3788"/>
            </a:avLst>
          </a:prstGeom>
          <a:solidFill>
            <a:srgbClr val="FFFDF8"/>
          </a:solidFill>
          <a:ln w="12700">
            <a:solidFill>
              <a:srgbClr val="E2DDD2"/>
            </a:solidFill>
            <a:prstDash val="solid"/>
          </a:ln>
        </p:spPr>
      </p:sp>
      <p:sp>
        <p:nvSpPr>
          <p:cNvPr id="22" name="Text 20"/>
          <p:cNvSpPr/>
          <p:nvPr/>
        </p:nvSpPr>
        <p:spPr>
          <a:xfrm>
            <a:off x="9067195" y="3444159"/>
            <a:ext cx="2159611" cy="843265"/>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B1E26"/>
                </a:solidFill>
                <a:latin typeface="JetBrains Mono" pitchFamily="49" charset="0"/>
                <a:ea typeface="JetBrains Mono" pitchFamily="49" charset="-122"/>
                <a:cs typeface="JetBrains Mono" pitchFamily="49" charset="-120"/>
              </a:rPr>
              <a:t>remove v1 endpoints</a:t>
            </a:r>
            <a:endParaRPr lang="en-US" sz="2000" dirty="0"/>
          </a:p>
        </p:txBody>
      </p:sp>
      <p:sp>
        <p:nvSpPr>
          <p:cNvPr id="23" name="Text 21"/>
          <p:cNvSpPr/>
          <p:nvPr/>
        </p:nvSpPr>
        <p:spPr>
          <a:xfrm>
            <a:off x="9067195" y="4338222"/>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Space Grotesk" pitchFamily="34" charset="0"/>
                <a:ea typeface="Space Grotesk" pitchFamily="34" charset="-122"/>
                <a:cs typeface="Space Grotesk" pitchFamily="34" charset="-120"/>
              </a:rPr>
              <a:t>Object</a:t>
            </a:r>
            <a:endParaRPr lang="en-US" sz="1800" dirty="0"/>
          </a:p>
        </p:txBody>
      </p:sp>
      <p:sp>
        <p:nvSpPr>
          <p:cNvPr id="24" name="Text 22"/>
          <p:cNvSpPr/>
          <p:nvPr/>
        </p:nvSpPr>
        <p:spPr>
          <a:xfrm>
            <a:off x="9067195" y="4729882"/>
            <a:ext cx="2159611" cy="53801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1E26"/>
                </a:solidFill>
                <a:latin typeface="Space Grotesk" pitchFamily="34" charset="0"/>
                <a:ea typeface="Space Grotesk" pitchFamily="34" charset="-122"/>
                <a:cs typeface="Space Grotesk" pitchFamily="34" charset="-120"/>
              </a:rPr>
              <a:t>The details. What actually changed.</a:t>
            </a:r>
            <a:endParaRPr lang="en-US" sz="1300" dirty="0"/>
          </a:p>
        </p:txBody>
      </p:sp>
      <p:sp>
        <p:nvSpPr>
          <p:cNvPr id="25" name="Text 23"/>
          <p:cNvSpPr/>
          <p:nvPr/>
        </p:nvSpPr>
        <p:spPr>
          <a:xfrm>
            <a:off x="9067195" y="5318692"/>
            <a:ext cx="2159611" cy="49855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5D6270"/>
                </a:solidFill>
                <a:latin typeface="Space Grotesk" pitchFamily="34" charset="0"/>
                <a:ea typeface="Space Grotesk" pitchFamily="34" charset="-122"/>
                <a:cs typeface="Space Grotesk" pitchFamily="34" charset="-120"/>
              </a:rPr>
              <a:t>Robot reads:</a:t>
            </a:r>
            <a:r>
              <a:rPr lang="en-US" sz="1200" dirty="0">
                <a:solidFill>
                  <a:srgbClr val="5D6270"/>
                </a:solidFill>
                <a:latin typeface="Space Grotesk" pitchFamily="34" charset="0"/>
                <a:ea typeface="Space Grotesk" pitchFamily="34" charset="-122"/>
                <a:cs typeface="Space Grotesk" pitchFamily="34" charset="-120"/>
              </a:rPr>
              <a:t> becomes the changelog line.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The type decides the version number</a:t>
            </a:r>
            <a:endParaRPr lang="en-US" sz="3600" dirty="0"/>
          </a:p>
        </p:txBody>
      </p:sp>
      <p:sp>
        <p:nvSpPr>
          <p:cNvPr id="3" name="Shape 1"/>
          <p:cNvSpPr/>
          <p:nvPr/>
        </p:nvSpPr>
        <p:spPr>
          <a:xfrm>
            <a:off x="819150" y="1702293"/>
            <a:ext cx="3415884" cy="2837467"/>
          </a:xfrm>
          <a:prstGeom prst="roundRect">
            <a:avLst>
              <a:gd name="adj" fmla="val 4252"/>
            </a:avLst>
          </a:prstGeom>
          <a:solidFill>
            <a:srgbClr val="FFFDF8"/>
          </a:solidFill>
          <a:ln w="12700">
            <a:solidFill>
              <a:srgbClr val="E2DDD2"/>
            </a:solidFill>
            <a:prstDash val="solid"/>
          </a:ln>
        </p:spPr>
      </p:sp>
      <p:sp>
        <p:nvSpPr>
          <p:cNvPr id="4" name="Text 2"/>
          <p:cNvSpPr/>
          <p:nvPr/>
        </p:nvSpPr>
        <p:spPr>
          <a:xfrm>
            <a:off x="1078895" y="1962038"/>
            <a:ext cx="2983286" cy="516126"/>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1B1E26"/>
                </a:solidFill>
                <a:latin typeface="JetBrains Mono" pitchFamily="49" charset="0"/>
                <a:ea typeface="JetBrains Mono" pitchFamily="49" charset="-122"/>
                <a:cs typeface="JetBrains Mono" pitchFamily="49" charset="-120"/>
              </a:rPr>
              <a:t>fix:</a:t>
            </a:r>
            <a:endParaRPr lang="en-US" sz="2400" dirty="0"/>
          </a:p>
        </p:txBody>
      </p:sp>
      <p:sp>
        <p:nvSpPr>
          <p:cNvPr id="5" name="Text 3"/>
          <p:cNvSpPr/>
          <p:nvPr/>
        </p:nvSpPr>
        <p:spPr>
          <a:xfrm>
            <a:off x="1078895" y="2554365"/>
            <a:ext cx="2983286" cy="375897"/>
          </a:xfrm>
          <a:prstGeom prst="rect">
            <a:avLst/>
          </a:prstGeom>
          <a:noFill/>
          <a:ln/>
        </p:spPr>
        <p:txBody>
          <a:bodyPr wrap="square" lIns="0" tIns="0" rIns="0" bIns="0" rtlCol="0" anchor="t">
            <a:normAutofit/>
          </a:bodyPr>
          <a:lstStyle/>
          <a:p>
            <a:pPr algn="l" indent="0" marL="0">
              <a:lnSpc>
                <a:spcPts val="2400"/>
              </a:lnSpc>
              <a:buNone/>
            </a:pPr>
            <a:r>
              <a:rPr lang="en-US" sz="2000" b="1" spc="100" kern="0" dirty="0">
                <a:solidFill>
                  <a:srgbClr val="2F62B0"/>
                </a:solidFill>
                <a:latin typeface="Space Grotesk" pitchFamily="34" charset="0"/>
                <a:ea typeface="Space Grotesk" pitchFamily="34" charset="-122"/>
                <a:cs typeface="Space Grotesk" pitchFamily="34" charset="-120"/>
              </a:rPr>
              <a:t>PATCH</a:t>
            </a:r>
            <a:endParaRPr lang="en-US" sz="2000" dirty="0"/>
          </a:p>
        </p:txBody>
      </p:sp>
      <p:sp>
        <p:nvSpPr>
          <p:cNvPr id="6" name="Text 4"/>
          <p:cNvSpPr/>
          <p:nvPr/>
        </p:nvSpPr>
        <p:spPr>
          <a:xfrm>
            <a:off x="1078895" y="3006461"/>
            <a:ext cx="298328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B1E26"/>
                </a:solidFill>
                <a:latin typeface="JetBrains Mono" pitchFamily="49" charset="0"/>
                <a:ea typeface="JetBrains Mono" pitchFamily="49" charset="-122"/>
                <a:cs typeface="JetBrains Mono" pitchFamily="49" charset="-120"/>
              </a:rPr>
              <a:t>2.4.1 → 2.4.</a:t>
            </a:r>
            <a:r>
              <a:rPr lang="en-US" sz="1800" b="1" dirty="0">
                <a:solidFill>
                  <a:srgbClr val="1B1E26"/>
                </a:solidFill>
                <a:latin typeface="JetBrains Mono" pitchFamily="49" charset="0"/>
                <a:ea typeface="JetBrains Mono" pitchFamily="49" charset="-122"/>
                <a:cs typeface="JetBrains Mono" pitchFamily="49" charset="-120"/>
              </a:rPr>
              <a:t>2</a:t>
            </a:r>
            <a:endParaRPr lang="en-US" sz="1800" dirty="0"/>
          </a:p>
        </p:txBody>
      </p:sp>
      <p:sp>
        <p:nvSpPr>
          <p:cNvPr id="7" name="Text 5"/>
          <p:cNvSpPr/>
          <p:nvPr/>
        </p:nvSpPr>
        <p:spPr>
          <a:xfrm>
            <a:off x="1078895" y="3476098"/>
            <a:ext cx="2983286"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A bug fix. Nothing new to learn.</a:t>
            </a:r>
            <a:endParaRPr lang="en-US" sz="1400" dirty="0"/>
          </a:p>
        </p:txBody>
      </p:sp>
      <p:sp>
        <p:nvSpPr>
          <p:cNvPr id="8" name="Shape 6"/>
          <p:cNvSpPr/>
          <p:nvPr/>
        </p:nvSpPr>
        <p:spPr>
          <a:xfrm>
            <a:off x="4400134" y="1702293"/>
            <a:ext cx="3415922" cy="2837467"/>
          </a:xfrm>
          <a:prstGeom prst="roundRect">
            <a:avLst>
              <a:gd name="adj" fmla="val 4252"/>
            </a:avLst>
          </a:prstGeom>
          <a:solidFill>
            <a:srgbClr val="FFFDF8"/>
          </a:solidFill>
          <a:ln w="12700">
            <a:solidFill>
              <a:srgbClr val="E2DDD2"/>
            </a:solidFill>
            <a:prstDash val="solid"/>
          </a:ln>
        </p:spPr>
      </p:sp>
      <p:sp>
        <p:nvSpPr>
          <p:cNvPr id="9" name="Text 7"/>
          <p:cNvSpPr/>
          <p:nvPr/>
        </p:nvSpPr>
        <p:spPr>
          <a:xfrm>
            <a:off x="4659880" y="1962038"/>
            <a:ext cx="2983324" cy="516126"/>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1B1E26"/>
                </a:solidFill>
                <a:latin typeface="JetBrains Mono" pitchFamily="49" charset="0"/>
                <a:ea typeface="JetBrains Mono" pitchFamily="49" charset="-122"/>
                <a:cs typeface="JetBrains Mono" pitchFamily="49" charset="-120"/>
              </a:rPr>
              <a:t>feat:</a:t>
            </a:r>
            <a:endParaRPr lang="en-US" sz="2400" dirty="0"/>
          </a:p>
        </p:txBody>
      </p:sp>
      <p:sp>
        <p:nvSpPr>
          <p:cNvPr id="10" name="Text 8"/>
          <p:cNvSpPr/>
          <p:nvPr/>
        </p:nvSpPr>
        <p:spPr>
          <a:xfrm>
            <a:off x="4659880" y="2554365"/>
            <a:ext cx="2983324" cy="375897"/>
          </a:xfrm>
          <a:prstGeom prst="rect">
            <a:avLst/>
          </a:prstGeom>
          <a:noFill/>
          <a:ln/>
        </p:spPr>
        <p:txBody>
          <a:bodyPr wrap="square" lIns="0" tIns="0" rIns="0" bIns="0" rtlCol="0" anchor="t">
            <a:normAutofit/>
          </a:bodyPr>
          <a:lstStyle/>
          <a:p>
            <a:pPr algn="l" indent="0" marL="0">
              <a:lnSpc>
                <a:spcPts val="2400"/>
              </a:lnSpc>
              <a:buNone/>
            </a:pPr>
            <a:r>
              <a:rPr lang="en-US" sz="2000" b="1" spc="100" kern="0" dirty="0">
                <a:solidFill>
                  <a:srgbClr val="2F62B0"/>
                </a:solidFill>
                <a:latin typeface="Space Grotesk" pitchFamily="34" charset="0"/>
                <a:ea typeface="Space Grotesk" pitchFamily="34" charset="-122"/>
                <a:cs typeface="Space Grotesk" pitchFamily="34" charset="-120"/>
              </a:rPr>
              <a:t>MINOR</a:t>
            </a:r>
            <a:endParaRPr lang="en-US" sz="2000" dirty="0"/>
          </a:p>
        </p:txBody>
      </p:sp>
      <p:sp>
        <p:nvSpPr>
          <p:cNvPr id="11" name="Text 9"/>
          <p:cNvSpPr/>
          <p:nvPr/>
        </p:nvSpPr>
        <p:spPr>
          <a:xfrm>
            <a:off x="4659880" y="3006461"/>
            <a:ext cx="2983324"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B1E26"/>
                </a:solidFill>
                <a:latin typeface="JetBrains Mono" pitchFamily="49" charset="0"/>
                <a:ea typeface="JetBrains Mono" pitchFamily="49" charset="-122"/>
                <a:cs typeface="JetBrains Mono" pitchFamily="49" charset="-120"/>
              </a:rPr>
              <a:t>2.4.1 → 2.</a:t>
            </a:r>
            <a:r>
              <a:rPr lang="en-US" sz="1800" b="1" dirty="0">
                <a:solidFill>
                  <a:srgbClr val="1B1E26"/>
                </a:solidFill>
                <a:latin typeface="JetBrains Mono" pitchFamily="49" charset="0"/>
                <a:ea typeface="JetBrains Mono" pitchFamily="49" charset="-122"/>
                <a:cs typeface="JetBrains Mono" pitchFamily="49" charset="-120"/>
              </a:rPr>
              <a:t>5</a:t>
            </a:r>
            <a:r>
              <a:rPr lang="en-US" sz="1800" dirty="0">
                <a:solidFill>
                  <a:srgbClr val="1B1E26"/>
                </a:solidFill>
                <a:latin typeface="JetBrains Mono" pitchFamily="49" charset="0"/>
                <a:ea typeface="JetBrains Mono" pitchFamily="49" charset="-122"/>
                <a:cs typeface="JetBrains Mono" pitchFamily="49" charset="-120"/>
              </a:rPr>
              <a:t>.0</a:t>
            </a:r>
            <a:endParaRPr lang="en-US" sz="1800" dirty="0"/>
          </a:p>
        </p:txBody>
      </p:sp>
      <p:sp>
        <p:nvSpPr>
          <p:cNvPr id="12" name="Text 10"/>
          <p:cNvSpPr/>
          <p:nvPr/>
        </p:nvSpPr>
        <p:spPr>
          <a:xfrm>
            <a:off x="4659880" y="3476098"/>
            <a:ext cx="2983324"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A new feature. Everything old still works.</a:t>
            </a:r>
            <a:endParaRPr lang="en-US" sz="1400" dirty="0"/>
          </a:p>
        </p:txBody>
      </p:sp>
      <p:sp>
        <p:nvSpPr>
          <p:cNvPr id="13" name="Shape 11"/>
          <p:cNvSpPr/>
          <p:nvPr/>
        </p:nvSpPr>
        <p:spPr>
          <a:xfrm>
            <a:off x="7974806" y="1695943"/>
            <a:ext cx="3404394" cy="2850167"/>
          </a:xfrm>
          <a:prstGeom prst="roundRect">
            <a:avLst>
              <a:gd name="adj" fmla="val 4456"/>
            </a:avLst>
          </a:prstGeom>
          <a:solidFill>
            <a:srgbClr val="15181F"/>
          </a:solidFill>
          <a:ln/>
        </p:spPr>
      </p:sp>
      <p:sp>
        <p:nvSpPr>
          <p:cNvPr id="14" name="Text 12"/>
          <p:cNvSpPr/>
          <p:nvPr/>
        </p:nvSpPr>
        <p:spPr>
          <a:xfrm>
            <a:off x="8228806" y="1949943"/>
            <a:ext cx="2983286" cy="516126"/>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8A5C"/>
                </a:solidFill>
                <a:latin typeface="JetBrains Mono" pitchFamily="49" charset="0"/>
                <a:ea typeface="JetBrains Mono" pitchFamily="49" charset="-122"/>
                <a:cs typeface="JetBrains Mono" pitchFamily="49" charset="-120"/>
              </a:rPr>
              <a:t>feat!:</a:t>
            </a:r>
            <a:endParaRPr lang="en-US" sz="2400" dirty="0"/>
          </a:p>
        </p:txBody>
      </p:sp>
      <p:sp>
        <p:nvSpPr>
          <p:cNvPr id="15" name="Text 13"/>
          <p:cNvSpPr/>
          <p:nvPr/>
        </p:nvSpPr>
        <p:spPr>
          <a:xfrm>
            <a:off x="8228806" y="2542270"/>
            <a:ext cx="2983286" cy="375897"/>
          </a:xfrm>
          <a:prstGeom prst="rect">
            <a:avLst/>
          </a:prstGeom>
          <a:noFill/>
          <a:ln/>
        </p:spPr>
        <p:txBody>
          <a:bodyPr wrap="square" lIns="0" tIns="0" rIns="0" bIns="0" rtlCol="0" anchor="t">
            <a:normAutofit/>
          </a:bodyPr>
          <a:lstStyle/>
          <a:p>
            <a:pPr algn="l" indent="0" marL="0">
              <a:lnSpc>
                <a:spcPts val="2400"/>
              </a:lnSpc>
              <a:buNone/>
            </a:pPr>
            <a:r>
              <a:rPr lang="en-US" sz="2000" b="1" spc="100" kern="0" dirty="0">
                <a:solidFill>
                  <a:srgbClr val="FF8A5C"/>
                </a:solidFill>
                <a:latin typeface="Space Grotesk" pitchFamily="34" charset="0"/>
                <a:ea typeface="Space Grotesk" pitchFamily="34" charset="-122"/>
                <a:cs typeface="Space Grotesk" pitchFamily="34" charset="-120"/>
              </a:rPr>
              <a:t>MAJOR</a:t>
            </a:r>
            <a:endParaRPr lang="en-US" sz="2000" dirty="0"/>
          </a:p>
        </p:txBody>
      </p:sp>
      <p:sp>
        <p:nvSpPr>
          <p:cNvPr id="16" name="Text 14"/>
          <p:cNvSpPr/>
          <p:nvPr/>
        </p:nvSpPr>
        <p:spPr>
          <a:xfrm>
            <a:off x="8228806" y="2994366"/>
            <a:ext cx="298328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6F3EC"/>
                </a:solidFill>
                <a:latin typeface="JetBrains Mono" pitchFamily="49" charset="0"/>
                <a:ea typeface="JetBrains Mono" pitchFamily="49" charset="-122"/>
                <a:cs typeface="JetBrains Mono" pitchFamily="49" charset="-120"/>
              </a:rPr>
              <a:t>2.4.1 → </a:t>
            </a:r>
            <a:r>
              <a:rPr lang="en-US" sz="1800" b="1" dirty="0">
                <a:solidFill>
                  <a:srgbClr val="F6F3EC"/>
                </a:solidFill>
                <a:latin typeface="JetBrains Mono" pitchFamily="49" charset="0"/>
                <a:ea typeface="JetBrains Mono" pitchFamily="49" charset="-122"/>
                <a:cs typeface="JetBrains Mono" pitchFamily="49" charset="-120"/>
              </a:rPr>
              <a:t>3</a:t>
            </a:r>
            <a:r>
              <a:rPr lang="en-US" sz="1800" dirty="0">
                <a:solidFill>
                  <a:srgbClr val="F6F3EC"/>
                </a:solidFill>
                <a:latin typeface="JetBrains Mono" pitchFamily="49" charset="0"/>
                <a:ea typeface="JetBrains Mono" pitchFamily="49" charset="-122"/>
                <a:cs typeface="JetBrains Mono" pitchFamily="49" charset="-120"/>
              </a:rPr>
              <a:t>.0.0</a:t>
            </a:r>
            <a:endParaRPr lang="en-US" sz="1800" dirty="0"/>
          </a:p>
        </p:txBody>
      </p:sp>
      <p:sp>
        <p:nvSpPr>
          <p:cNvPr id="17" name="Text 15"/>
          <p:cNvSpPr/>
          <p:nvPr/>
        </p:nvSpPr>
        <p:spPr>
          <a:xfrm>
            <a:off x="8228806" y="3464003"/>
            <a:ext cx="2983286"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A breaking change. Users may need to update their code.</a:t>
            </a:r>
            <a:endParaRPr lang="en-US" sz="1400" dirty="0"/>
          </a:p>
        </p:txBody>
      </p:sp>
      <p:sp>
        <p:nvSpPr>
          <p:cNvPr id="18" name="Text 16"/>
          <p:cNvSpPr/>
          <p:nvPr/>
        </p:nvSpPr>
        <p:spPr>
          <a:xfrm>
            <a:off x="812800" y="4850910"/>
            <a:ext cx="10883392" cy="63878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1E26"/>
                </a:solidFill>
                <a:latin typeface="Space Grotesk" pitchFamily="34" charset="0"/>
                <a:ea typeface="Space Grotesk" pitchFamily="34" charset="-122"/>
                <a:cs typeface="Space Grotesk" pitchFamily="34" charset="-120"/>
              </a:rPr>
              <a:t>No release on their own:</a:t>
            </a:r>
            <a:r>
              <a:rPr lang="en-US" sz="1500" dirty="0">
                <a:solidFill>
                  <a:srgbClr val="5D6270"/>
                </a:solidFill>
                <a:latin typeface="Space Grotesk" pitchFamily="34" charset="0"/>
                <a:ea typeface="Space Grotesk" pitchFamily="34" charset="-122"/>
                <a:cs typeface="Space Grotesk" pitchFamily="34" charset="-120"/>
              </a:rPr>
              <a:t> </a:t>
            </a:r>
            <a:r>
              <a:rPr lang="en-US" sz="1500" dirty="0">
                <a:solidFill>
                  <a:srgbClr val="1B1E26"/>
                </a:solidFill>
                <a:latin typeface="Space Grotesk" pitchFamily="34" charset="0"/>
                <a:ea typeface="Space Grotesk" pitchFamily="34" charset="-122"/>
                <a:cs typeface="Space Grotesk" pitchFamily="34" charset="-120"/>
              </a:rPr>
              <a:t>docs, chore, refactor, test, ci, style.</a:t>
            </a:r>
            <a:r>
              <a:rPr lang="en-US" sz="1500" dirty="0">
                <a:solidFill>
                  <a:srgbClr val="5D6270"/>
                </a:solidFill>
                <a:latin typeface="Space Grotesk" pitchFamily="34" charset="0"/>
                <a:ea typeface="Space Grotesk" pitchFamily="34" charset="-122"/>
                <a:cs typeface="Space Grotesk" pitchFamily="34" charset="-120"/>
              </a:rPr>
              <a:t> Useful labels, but they do not change the version.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Before and after</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4895" y="1708038"/>
          <a:ext cx="10554305" cy="3559175"/>
        </p:xfrm>
        <a:graphic>
          <a:graphicData uri="http://schemas.openxmlformats.org/drawingml/2006/table">
            <a:tbl>
              <a:tblPr/>
              <a:tblGrid>
                <a:gridCol w="3588464"/>
                <a:gridCol w="6965841"/>
              </a:tblGrid>
              <a:tr h="593196">
                <a:tc>
                  <a:txBody>
                    <a:bodyPr/>
                    <a:lstStyle/>
                    <a:p>
                      <a:pPr indent="0" marL="0">
                        <a:lnSpc>
                          <a:spcPts val="2240"/>
                        </a:lnSpc>
                        <a:buNone/>
                      </a:pPr>
                      <a:r>
                        <a:rPr lang="en-US" sz="1600" b="1" dirty="0">
                          <a:solidFill>
                            <a:srgbClr val="A3A9B6"/>
                          </a:solidFill>
                          <a:latin typeface="JetBrains Mono" pitchFamily="49" charset="0"/>
                          <a:ea typeface="JetBrains Mono" pitchFamily="49" charset="-122"/>
                          <a:cs typeface="JetBrains Mono" pitchFamily="49" charset="-120"/>
                        </a:rPr>
                        <a:t>Instead of</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15171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15171C"/>
                      </a:solidFill>
                      <a:prstDash val="solid"/>
                      <a:round/>
                      <a:headEnd type="none" w="med" len="med"/>
                      <a:tailEnd type="none" w="med" len="med"/>
                    </a:lnB>
                    <a:solidFill>
                      <a:srgbClr val="15181F"/>
                    </a:solidFill>
                  </a:tcPr>
                </a:tc>
                <a:tc>
                  <a:txBody>
                    <a:bodyPr/>
                    <a:lstStyle/>
                    <a:p>
                      <a:pPr indent="0" marL="0">
                        <a:lnSpc>
                          <a:spcPts val="2240"/>
                        </a:lnSpc>
                        <a:buNone/>
                      </a:pPr>
                      <a:r>
                        <a:rPr lang="en-US" sz="1600" b="1" dirty="0">
                          <a:solidFill>
                            <a:srgbClr val="FF8A5C"/>
                          </a:solidFill>
                          <a:latin typeface="JetBrains Mono" pitchFamily="49" charset="0"/>
                          <a:ea typeface="JetBrains Mono" pitchFamily="49" charset="-122"/>
                          <a:cs typeface="JetBrains Mono" pitchFamily="49" charset="-120"/>
                        </a:rPr>
                        <a:t>Write</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15171C"/>
                      </a:solidFill>
                      <a:prstDash val="solid"/>
                      <a:round/>
                      <a:headEnd type="none" w="med" len="med"/>
                      <a:tailEnd type="none" w="med" len="med"/>
                    </a:lnL>
                    <a:lnR w="12700" cap="flat" cmpd="sng" algn="ctr">
                      <a:solidFill>
                        <a:srgbClr val="15171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15171C"/>
                      </a:solidFill>
                      <a:prstDash val="solid"/>
                      <a:round/>
                      <a:headEnd type="none" w="med" len="med"/>
                      <a:tailEnd type="none" w="med" len="med"/>
                    </a:lnB>
                    <a:solidFill>
                      <a:srgbClr val="15181F"/>
                    </a:solidFill>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fixed stuff</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15171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fix(cart): stop double charge on retry</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15171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added export</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9B0"/>
                      </a:solidFill>
                      <a:prstDash val="solid"/>
                      <a:round/>
                      <a:headEnd type="none" w="med" len="med"/>
                      <a:tailEnd type="none" w="med" len="med"/>
                    </a:lnB>
                    <a:solidFill>
                      <a:srgbClr val="ECE7DC"/>
                    </a:solidFill>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feat(reports): export to CSV</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9B0"/>
                      </a:solidFill>
                      <a:prstDash val="solid"/>
                      <a:round/>
                      <a:headEnd type="none" w="med" len="med"/>
                      <a:tailEnd type="none" w="med" len="med"/>
                    </a:lnB>
                    <a:solidFill>
                      <a:srgbClr val="ECE7DC"/>
                    </a:solidFill>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update readme</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docs: add local setup steps</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bump deps</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9B0"/>
                      </a:solidFill>
                      <a:prstDash val="solid"/>
                      <a:round/>
                      <a:headEnd type="none" w="med" len="med"/>
                      <a:tailEnd type="none" w="med" len="med"/>
                    </a:lnB>
                    <a:solidFill>
                      <a:srgbClr val="ECE7DC"/>
                    </a:solidFill>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chore(deps): upgrade axios to 1.7</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9B0"/>
                      </a:solidFill>
                      <a:prstDash val="solid"/>
                      <a:round/>
                      <a:headEnd type="none" w="med" len="med"/>
                      <a:tailEnd type="none" w="med" len="med"/>
                    </a:lnB>
                    <a:solidFill>
                      <a:srgbClr val="ECE7DC"/>
                    </a:solidFill>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new API</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feat(api)!: remove v1 endpoints</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Text 1"/>
          <p:cNvSpPr/>
          <p:nvPr/>
        </p:nvSpPr>
        <p:spPr>
          <a:xfrm>
            <a:off x="812800" y="6165323"/>
            <a:ext cx="10883392"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D6270"/>
                </a:solidFill>
                <a:latin typeface="Space Grotesk" pitchFamily="34" charset="0"/>
                <a:ea typeface="Space Grotesk" pitchFamily="34" charset="-122"/>
                <a:cs typeface="Space Grotesk" pitchFamily="34" charset="-120"/>
              </a:rPr>
              <a:t>Tip: finish the sentence "If applied, this commit will..." Lowercase, no period.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812800" y="2002594"/>
            <a:ext cx="10883392" cy="3525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F8A5C"/>
                </a:solidFill>
                <a:latin typeface="JetBrains Mono" pitchFamily="49" charset="0"/>
                <a:ea typeface="JetBrains Mono" pitchFamily="49" charset="-122"/>
                <a:cs typeface="JetBrains Mono" pitchFamily="49" charset="-120"/>
              </a:rPr>
              <a:t>part 2</a:t>
            </a:r>
            <a:endParaRPr lang="en-US" sz="1600" dirty="0"/>
          </a:p>
        </p:txBody>
      </p:sp>
      <p:sp>
        <p:nvSpPr>
          <p:cNvPr id="3" name="Text 1"/>
          <p:cNvSpPr/>
          <p:nvPr>
            <p:ph type="title"/>
          </p:nvPr>
        </p:nvSpPr>
        <p:spPr>
          <a:xfrm>
            <a:off x="812800" y="2583693"/>
            <a:ext cx="10883392" cy="1175544"/>
          </a:xfrm>
          <a:prstGeom prst="rect">
            <a:avLst/>
          </a:prstGeom>
          <a:noFill/>
          <a:ln/>
        </p:spPr>
        <p:txBody>
          <a:bodyPr wrap="square" lIns="0" tIns="0" rIns="0" bIns="0" rtlCol="0" anchor="t">
            <a:normAutofit/>
          </a:bodyPr>
          <a:lstStyle/>
          <a:p>
            <a:pPr algn="l" indent="0" marL="0">
              <a:lnSpc>
                <a:spcPts val="7875"/>
              </a:lnSpc>
              <a:buNone/>
            </a:pPr>
            <a:r>
              <a:rPr lang="en-US" sz="7500" b="1" i="0" spc="-150" kern="0" dirty="0">
                <a:solidFill>
                  <a:srgbClr val="F6F3EC"/>
                </a:solidFill>
                <a:latin typeface="Space Grotesk" pitchFamily="34" charset="0"/>
                <a:ea typeface="Space Grotesk" pitchFamily="34" charset="-122"/>
                <a:cs typeface="Space Grotesk" pitchFamily="34" charset="-120"/>
              </a:rPr>
              <a:t>Release Please</a:t>
            </a:r>
            <a:endParaRPr lang="en-US" sz="7500" dirty="0"/>
          </a:p>
        </p:txBody>
      </p:sp>
      <p:sp>
        <p:nvSpPr>
          <p:cNvPr id="4" name="Text 2"/>
          <p:cNvSpPr/>
          <p:nvPr/>
        </p:nvSpPr>
        <p:spPr>
          <a:xfrm>
            <a:off x="812800" y="3987840"/>
            <a:ext cx="8502650" cy="89293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A3A9B6"/>
                </a:solidFill>
                <a:latin typeface="Space Grotesk" pitchFamily="34" charset="0"/>
                <a:ea typeface="Space Grotesk" pitchFamily="34" charset="-122"/>
                <a:cs typeface="Space Grotesk" pitchFamily="34" charset="-120"/>
              </a:rPr>
              <a:t>A GitHub Action from Google that reads your commits and does the release paperwork for you.</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How it works: one PR that grows with you</a:t>
            </a:r>
            <a:endParaRPr lang="en-US" sz="3600" dirty="0"/>
          </a:p>
        </p:txBody>
      </p:sp>
      <p:sp>
        <p:nvSpPr>
          <p:cNvPr id="3" name="Shape 1"/>
          <p:cNvSpPr/>
          <p:nvPr/>
        </p:nvSpPr>
        <p:spPr>
          <a:xfrm>
            <a:off x="819150" y="2017030"/>
            <a:ext cx="2253948" cy="2453973"/>
          </a:xfrm>
          <a:prstGeom prst="roundRect">
            <a:avLst>
              <a:gd name="adj" fmla="val 5353"/>
            </a:avLst>
          </a:prstGeom>
          <a:solidFill>
            <a:srgbClr val="FFFDF8"/>
          </a:solidFill>
          <a:ln w="12700">
            <a:solidFill>
              <a:srgbClr val="E2DDD2"/>
            </a:solidFill>
            <a:prstDash val="solid"/>
          </a:ln>
        </p:spPr>
      </p:sp>
      <p:sp>
        <p:nvSpPr>
          <p:cNvPr id="4" name="Text 2"/>
          <p:cNvSpPr/>
          <p:nvPr/>
        </p:nvSpPr>
        <p:spPr>
          <a:xfrm>
            <a:off x="1028095" y="2225979"/>
            <a:ext cx="1891139"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8441B"/>
                </a:solidFill>
                <a:latin typeface="JetBrains Mono" pitchFamily="49" charset="0"/>
                <a:ea typeface="JetBrains Mono" pitchFamily="49" charset="-122"/>
                <a:cs typeface="JetBrains Mono" pitchFamily="49" charset="-120"/>
              </a:rPr>
              <a:t>01</a:t>
            </a:r>
            <a:endParaRPr lang="en-US" sz="2000" dirty="0"/>
          </a:p>
        </p:txBody>
      </p:sp>
      <p:sp>
        <p:nvSpPr>
          <p:cNvPr id="5" name="Text 3"/>
          <p:cNvSpPr/>
          <p:nvPr/>
        </p:nvSpPr>
        <p:spPr>
          <a:xfrm>
            <a:off x="1028095" y="2736509"/>
            <a:ext cx="1891139" cy="621242"/>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B1E26"/>
                </a:solidFill>
                <a:latin typeface="Space Grotesk" pitchFamily="34" charset="0"/>
                <a:ea typeface="Space Grotesk" pitchFamily="34" charset="-122"/>
                <a:cs typeface="Space Grotesk" pitchFamily="34" charset="-120"/>
              </a:rPr>
              <a:t>You merge to main</a:t>
            </a:r>
            <a:endParaRPr lang="en-US" sz="1700" dirty="0"/>
          </a:p>
        </p:txBody>
      </p:sp>
      <p:sp>
        <p:nvSpPr>
          <p:cNvPr id="6" name="Text 4"/>
          <p:cNvSpPr/>
          <p:nvPr/>
        </p:nvSpPr>
        <p:spPr>
          <a:xfrm>
            <a:off x="1028095" y="3433955"/>
            <a:ext cx="1891139"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Normal PRs, with conventional commit messages.</a:t>
            </a:r>
            <a:endParaRPr lang="en-US" sz="1400" dirty="0"/>
          </a:p>
        </p:txBody>
      </p:sp>
      <p:pic>
        <p:nvPicPr>
          <p:cNvPr id="7" name="Image 0" descr="arrow-right">    </p:cNvPr>
          <p:cNvPicPr>
            <a:picLocks noChangeAspect="1"/>
          </p:cNvPicPr>
          <p:nvPr/>
        </p:nvPicPr>
        <p:blipFill>
          <a:blip r:embed="rId1"/>
          <a:srcRect l="0" r="0" t="0" b="0"/>
          <a:stretch/>
        </p:blipFill>
        <p:spPr>
          <a:xfrm>
            <a:off x="3181048" y="3155119"/>
            <a:ext cx="304800" cy="177800"/>
          </a:xfrm>
          <a:prstGeom prst="rect">
            <a:avLst/>
          </a:prstGeom>
        </p:spPr>
      </p:pic>
      <p:sp>
        <p:nvSpPr>
          <p:cNvPr id="8" name="Shape 5"/>
          <p:cNvSpPr/>
          <p:nvPr/>
        </p:nvSpPr>
        <p:spPr>
          <a:xfrm>
            <a:off x="3593798" y="1878998"/>
            <a:ext cx="2253948" cy="2730009"/>
          </a:xfrm>
          <a:prstGeom prst="roundRect">
            <a:avLst>
              <a:gd name="adj" fmla="val 5353"/>
            </a:avLst>
          </a:prstGeom>
          <a:solidFill>
            <a:srgbClr val="FFFDF8"/>
          </a:solidFill>
          <a:ln w="12700">
            <a:solidFill>
              <a:srgbClr val="E2DDD2"/>
            </a:solidFill>
            <a:prstDash val="solid"/>
          </a:ln>
        </p:spPr>
      </p:sp>
      <p:sp>
        <p:nvSpPr>
          <p:cNvPr id="9" name="Text 6"/>
          <p:cNvSpPr/>
          <p:nvPr/>
        </p:nvSpPr>
        <p:spPr>
          <a:xfrm>
            <a:off x="3802743" y="2087941"/>
            <a:ext cx="1891139"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8441B"/>
                </a:solidFill>
                <a:latin typeface="JetBrains Mono" pitchFamily="49" charset="0"/>
                <a:ea typeface="JetBrains Mono" pitchFamily="49" charset="-122"/>
                <a:cs typeface="JetBrains Mono" pitchFamily="49" charset="-120"/>
              </a:rPr>
              <a:t>02</a:t>
            </a:r>
            <a:endParaRPr lang="en-US" sz="2000" dirty="0"/>
          </a:p>
        </p:txBody>
      </p:sp>
      <p:sp>
        <p:nvSpPr>
          <p:cNvPr id="10" name="Text 7"/>
          <p:cNvSpPr/>
          <p:nvPr/>
        </p:nvSpPr>
        <p:spPr>
          <a:xfrm>
            <a:off x="3802743" y="2598477"/>
            <a:ext cx="1891139" cy="621242"/>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B1E26"/>
                </a:solidFill>
                <a:latin typeface="Space Grotesk" pitchFamily="34" charset="0"/>
                <a:ea typeface="Space Grotesk" pitchFamily="34" charset="-122"/>
                <a:cs typeface="Space Grotesk" pitchFamily="34" charset="-120"/>
              </a:rPr>
              <a:t>A release PR appears</a:t>
            </a:r>
            <a:endParaRPr lang="en-US" sz="1700" dirty="0"/>
          </a:p>
        </p:txBody>
      </p:sp>
      <p:sp>
        <p:nvSpPr>
          <p:cNvPr id="11" name="Text 8"/>
          <p:cNvSpPr/>
          <p:nvPr/>
        </p:nvSpPr>
        <p:spPr>
          <a:xfrm>
            <a:off x="3802743" y="3295917"/>
            <a:ext cx="1891139" cy="112954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Next version and changelog. It updates on every merge.</a:t>
            </a:r>
            <a:endParaRPr lang="en-US" sz="1400" dirty="0"/>
          </a:p>
        </p:txBody>
      </p:sp>
      <p:pic>
        <p:nvPicPr>
          <p:cNvPr id="12" name="Image 1" descr="arrow-right">    </p:cNvPr>
          <p:cNvPicPr>
            <a:picLocks noChangeAspect="1"/>
          </p:cNvPicPr>
          <p:nvPr/>
        </p:nvPicPr>
        <p:blipFill>
          <a:blip r:embed="rId2"/>
          <a:srcRect l="0" r="0" t="0" b="0"/>
          <a:stretch/>
        </p:blipFill>
        <p:spPr>
          <a:xfrm>
            <a:off x="5955695" y="3155119"/>
            <a:ext cx="304800" cy="177800"/>
          </a:xfrm>
          <a:prstGeom prst="rect">
            <a:avLst/>
          </a:prstGeom>
        </p:spPr>
      </p:pic>
      <p:sp>
        <p:nvSpPr>
          <p:cNvPr id="13" name="Shape 9"/>
          <p:cNvSpPr/>
          <p:nvPr/>
        </p:nvSpPr>
        <p:spPr>
          <a:xfrm>
            <a:off x="6368445" y="1878998"/>
            <a:ext cx="2253948" cy="2730009"/>
          </a:xfrm>
          <a:prstGeom prst="roundRect">
            <a:avLst>
              <a:gd name="adj" fmla="val 5353"/>
            </a:avLst>
          </a:prstGeom>
          <a:solidFill>
            <a:srgbClr val="FFFDF8"/>
          </a:solidFill>
          <a:ln w="12700">
            <a:solidFill>
              <a:srgbClr val="E2DDD2"/>
            </a:solidFill>
            <a:prstDash val="solid"/>
          </a:ln>
        </p:spPr>
      </p:sp>
      <p:sp>
        <p:nvSpPr>
          <p:cNvPr id="14" name="Text 10"/>
          <p:cNvSpPr/>
          <p:nvPr/>
        </p:nvSpPr>
        <p:spPr>
          <a:xfrm>
            <a:off x="6577391" y="2087941"/>
            <a:ext cx="1891139"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8441B"/>
                </a:solidFill>
                <a:latin typeface="JetBrains Mono" pitchFamily="49" charset="0"/>
                <a:ea typeface="JetBrains Mono" pitchFamily="49" charset="-122"/>
                <a:cs typeface="JetBrains Mono" pitchFamily="49" charset="-120"/>
              </a:rPr>
              <a:t>03</a:t>
            </a:r>
            <a:endParaRPr lang="en-US" sz="2000" dirty="0"/>
          </a:p>
        </p:txBody>
      </p:sp>
      <p:sp>
        <p:nvSpPr>
          <p:cNvPr id="15" name="Text 11"/>
          <p:cNvSpPr/>
          <p:nvPr/>
        </p:nvSpPr>
        <p:spPr>
          <a:xfrm>
            <a:off x="6577391" y="2598477"/>
            <a:ext cx="1891139" cy="621242"/>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B1E26"/>
                </a:solidFill>
                <a:latin typeface="Space Grotesk" pitchFamily="34" charset="0"/>
                <a:ea typeface="Space Grotesk" pitchFamily="34" charset="-122"/>
                <a:cs typeface="Space Grotesk" pitchFamily="34" charset="-120"/>
              </a:rPr>
              <a:t>You merge the release PR</a:t>
            </a:r>
            <a:endParaRPr lang="en-US" sz="1700" dirty="0"/>
          </a:p>
        </p:txBody>
      </p:sp>
      <p:sp>
        <p:nvSpPr>
          <p:cNvPr id="16" name="Text 12"/>
          <p:cNvSpPr/>
          <p:nvPr/>
        </p:nvSpPr>
        <p:spPr>
          <a:xfrm>
            <a:off x="6577391" y="3295917"/>
            <a:ext cx="1891139" cy="112954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Whenever you are ready to ship. That is the only button.</a:t>
            </a:r>
            <a:endParaRPr lang="en-US" sz="1400" dirty="0"/>
          </a:p>
        </p:txBody>
      </p:sp>
      <p:pic>
        <p:nvPicPr>
          <p:cNvPr id="17" name="Image 2" descr="arrow-right">    </p:cNvPr>
          <p:cNvPicPr>
            <a:picLocks noChangeAspect="1"/>
          </p:cNvPicPr>
          <p:nvPr/>
        </p:nvPicPr>
        <p:blipFill>
          <a:blip r:embed="rId3"/>
          <a:srcRect l="0" r="0" t="0" b="0"/>
          <a:stretch/>
        </p:blipFill>
        <p:spPr>
          <a:xfrm>
            <a:off x="8730343" y="3155119"/>
            <a:ext cx="304800" cy="177800"/>
          </a:xfrm>
          <a:prstGeom prst="rect">
            <a:avLst/>
          </a:prstGeom>
        </p:spPr>
      </p:pic>
      <p:sp>
        <p:nvSpPr>
          <p:cNvPr id="18" name="Shape 13"/>
          <p:cNvSpPr/>
          <p:nvPr/>
        </p:nvSpPr>
        <p:spPr>
          <a:xfrm>
            <a:off x="9136743" y="1746740"/>
            <a:ext cx="2242457" cy="2994554"/>
          </a:xfrm>
          <a:prstGeom prst="roundRect">
            <a:avLst>
              <a:gd name="adj" fmla="val 5663"/>
            </a:avLst>
          </a:prstGeom>
          <a:solidFill>
            <a:srgbClr val="15181F"/>
          </a:solidFill>
          <a:ln/>
        </p:spPr>
      </p:sp>
      <p:sp>
        <p:nvSpPr>
          <p:cNvPr id="19" name="Text 14"/>
          <p:cNvSpPr/>
          <p:nvPr/>
        </p:nvSpPr>
        <p:spPr>
          <a:xfrm>
            <a:off x="9339943" y="1949940"/>
            <a:ext cx="1891139"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F8A5C"/>
                </a:solidFill>
                <a:latin typeface="JetBrains Mono" pitchFamily="49" charset="0"/>
                <a:ea typeface="JetBrains Mono" pitchFamily="49" charset="-122"/>
                <a:cs typeface="JetBrains Mono" pitchFamily="49" charset="-120"/>
              </a:rPr>
              <a:t>04</a:t>
            </a:r>
            <a:endParaRPr lang="en-US" sz="2000" dirty="0"/>
          </a:p>
        </p:txBody>
      </p:sp>
      <p:sp>
        <p:nvSpPr>
          <p:cNvPr id="20" name="Text 15"/>
          <p:cNvSpPr/>
          <p:nvPr/>
        </p:nvSpPr>
        <p:spPr>
          <a:xfrm>
            <a:off x="9339943" y="2460476"/>
            <a:ext cx="1891139" cy="621242"/>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3EC"/>
                </a:solidFill>
                <a:latin typeface="Space Grotesk" pitchFamily="34" charset="0"/>
                <a:ea typeface="Space Grotesk" pitchFamily="34" charset="-122"/>
                <a:cs typeface="Space Grotesk" pitchFamily="34" charset="-120"/>
              </a:rPr>
              <a:t>The release is created</a:t>
            </a:r>
            <a:endParaRPr lang="en-US" sz="1700" dirty="0"/>
          </a:p>
        </p:txBody>
      </p:sp>
      <p:sp>
        <p:nvSpPr>
          <p:cNvPr id="21" name="Text 16"/>
          <p:cNvSpPr/>
          <p:nvPr/>
        </p:nvSpPr>
        <p:spPr>
          <a:xfrm>
            <a:off x="9339943" y="3157916"/>
            <a:ext cx="1891139" cy="140558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Git tag plus GitHub Release with notes. Publish jobs can run next.</a:t>
            </a:r>
            <a:endParaRPr lang="en-US" sz="1400" dirty="0"/>
          </a:p>
        </p:txBody>
      </p:sp>
      <p:sp>
        <p:nvSpPr>
          <p:cNvPr id="22" name="Text 17"/>
          <p:cNvSpPr/>
          <p:nvPr/>
        </p:nvSpPr>
        <p:spPr>
          <a:xfrm>
            <a:off x="812800" y="5096898"/>
            <a:ext cx="10883392" cy="380282"/>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1B1E26"/>
                </a:solidFill>
                <a:latin typeface="Space Grotesk" pitchFamily="34" charset="0"/>
                <a:ea typeface="Space Grotesk" pitchFamily="34" charset="-122"/>
                <a:cs typeface="Space Grotesk" pitchFamily="34" charset="-120"/>
              </a:rPr>
              <a:t>You</a:t>
            </a:r>
            <a:r>
              <a:rPr lang="en-US" sz="1800" dirty="0">
                <a:solidFill>
                  <a:srgbClr val="1B1E26"/>
                </a:solidFill>
                <a:latin typeface="Space Grotesk" pitchFamily="34" charset="0"/>
                <a:ea typeface="Space Grotesk" pitchFamily="34" charset="-122"/>
                <a:cs typeface="Space Grotesk" pitchFamily="34" charset="-120"/>
              </a:rPr>
              <a:t> decide </a:t>
            </a:r>
            <a:r>
              <a:rPr lang="en-US" sz="1800" i="1" dirty="0">
                <a:solidFill>
                  <a:srgbClr val="1B1E26"/>
                </a:solidFill>
                <a:latin typeface="Space Grotesk" pitchFamily="34" charset="0"/>
                <a:ea typeface="Space Grotesk" pitchFamily="34" charset="-122"/>
                <a:cs typeface="Space Grotesk" pitchFamily="34" charset="-120"/>
              </a:rPr>
              <a:t>when</a:t>
            </a:r>
            <a:r>
              <a:rPr lang="en-US" sz="1800" dirty="0">
                <a:solidFill>
                  <a:srgbClr val="1B1E26"/>
                </a:solidFill>
                <a:latin typeface="Space Grotesk" pitchFamily="34" charset="0"/>
                <a:ea typeface="Space Grotesk" pitchFamily="34" charset="-122"/>
                <a:cs typeface="Space Grotesk" pitchFamily="34" charset="-120"/>
              </a:rPr>
              <a:t> to release. </a:t>
            </a:r>
            <a:r>
              <a:rPr lang="en-US" sz="1800" b="1" dirty="0">
                <a:solidFill>
                  <a:srgbClr val="1B1E26"/>
                </a:solidFill>
                <a:latin typeface="Space Grotesk" pitchFamily="34" charset="0"/>
                <a:ea typeface="Space Grotesk" pitchFamily="34" charset="-122"/>
                <a:cs typeface="Space Grotesk" pitchFamily="34" charset="-120"/>
              </a:rPr>
              <a:t>Release Please</a:t>
            </a:r>
            <a:r>
              <a:rPr lang="en-US" sz="1800" dirty="0">
                <a:solidFill>
                  <a:srgbClr val="1B1E26"/>
                </a:solidFill>
                <a:latin typeface="Space Grotesk" pitchFamily="34" charset="0"/>
                <a:ea typeface="Space Grotesk" pitchFamily="34" charset="-122"/>
                <a:cs typeface="Space Grotesk" pitchFamily="34" charset="-120"/>
              </a:rPr>
              <a:t> decides </a:t>
            </a:r>
            <a:r>
              <a:rPr lang="en-US" sz="1800" i="1" dirty="0">
                <a:solidFill>
                  <a:srgbClr val="1B1E26"/>
                </a:solidFill>
                <a:latin typeface="Space Grotesk" pitchFamily="34" charset="0"/>
                <a:ea typeface="Space Grotesk" pitchFamily="34" charset="-122"/>
                <a:cs typeface="Space Grotesk" pitchFamily="34" charset="-120"/>
              </a:rPr>
              <a:t>what</a:t>
            </a:r>
            <a:r>
              <a:rPr lang="en-US" sz="1800" dirty="0">
                <a:solidFill>
                  <a:srgbClr val="1B1E26"/>
                </a:solidFill>
                <a:latin typeface="Space Grotesk" pitchFamily="34" charset="0"/>
                <a:ea typeface="Space Grotesk" pitchFamily="34" charset="-122"/>
                <a:cs typeface="Space Grotesk" pitchFamily="34" charset="-120"/>
              </a:rPr>
              <a:t> the version is.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CE7D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What the release PR contains</a:t>
            </a:r>
            <a:endParaRPr lang="en-US" sz="3600" dirty="0"/>
          </a:p>
        </p:txBody>
      </p:sp>
      <p:sp>
        <p:nvSpPr>
          <p:cNvPr id="3" name="Shape 1"/>
          <p:cNvSpPr/>
          <p:nvPr/>
        </p:nvSpPr>
        <p:spPr>
          <a:xfrm>
            <a:off x="819150" y="1812510"/>
            <a:ext cx="5540111" cy="2907998"/>
          </a:xfrm>
          <a:prstGeom prst="roundRect">
            <a:avLst>
              <a:gd name="adj" fmla="val 4149"/>
            </a:avLst>
          </a:prstGeom>
          <a:solidFill>
            <a:srgbClr val="FFFDF8"/>
          </a:solidFill>
          <a:ln w="12700">
            <a:solidFill>
              <a:srgbClr val="D6CFC0"/>
            </a:solidFill>
            <a:prstDash val="solid"/>
          </a:ln>
        </p:spPr>
      </p:sp>
      <p:sp>
        <p:nvSpPr>
          <p:cNvPr id="4" name="Text 2"/>
          <p:cNvSpPr/>
          <p:nvPr/>
        </p:nvSpPr>
        <p:spPr>
          <a:xfrm>
            <a:off x="824895" y="1818258"/>
            <a:ext cx="5528620" cy="611490"/>
          </a:xfrm>
          <a:custGeom>
            <a:avLst/>
            <a:gdLst/>
            <a:ahLst/>
            <a:cxnLst/>
            <a:rect l="l" t="t" r="r" b="b"/>
            <a:pathLst>
              <a:path w="5528620" h="611490">
                <a:moveTo>
                  <a:pt x="0" y="114905"/>
                </a:moveTo>
                <a:arcTo hR="114905" wR="114905" stAng="10800000" swAng="5400000"/>
                <a:lnTo>
                  <a:pt x="5413715" y="0"/>
                </a:lnTo>
                <a:arcTo hR="114905" wR="114905" stAng="16200000" swAng="5400000"/>
                <a:lnTo>
                  <a:pt x="5528620" y="611490"/>
                </a:lnTo>
                <a:lnTo>
                  <a:pt x="0" y="611490"/>
                </a:lnTo>
                <a:close/>
              </a:path>
            </a:pathLst>
          </a:custGeom>
          <a:solidFill>
            <a:srgbClr val="15181F"/>
          </a:solidFill>
          <a:ln/>
        </p:spPr>
        <p:txBody>
          <a:bodyPr wrap="square" lIns="228600" tIns="152400" rIns="228600" bIns="127000" rtlCol="0" anchor="t">
            <a:normAutofit/>
          </a:bodyPr>
          <a:lstStyle/>
          <a:p>
            <a:pPr algn="l" indent="0" marL="0">
              <a:lnSpc>
                <a:spcPts val="2100"/>
              </a:lnSpc>
              <a:buNone/>
            </a:pPr>
            <a:r>
              <a:rPr lang="en-US" sz="1500" dirty="0">
                <a:solidFill>
                  <a:srgbClr val="F6F3EC"/>
                </a:solidFill>
                <a:latin typeface="JetBrains Mono" pitchFamily="49" charset="0"/>
                <a:ea typeface="JetBrains Mono" pitchFamily="49" charset="-122"/>
                <a:cs typeface="JetBrains Mono" pitchFamily="49" charset="-120"/>
              </a:rPr>
              <a:t>chore(main): release </a:t>
            </a:r>
            <a:r>
              <a:rPr lang="en-US" sz="1500" dirty="0">
                <a:solidFill>
                  <a:srgbClr val="FF8A5C"/>
                </a:solidFill>
                <a:latin typeface="JetBrains Mono" pitchFamily="49" charset="0"/>
                <a:ea typeface="JetBrains Mono" pitchFamily="49" charset="-122"/>
                <a:cs typeface="JetBrains Mono" pitchFamily="49" charset="-120"/>
              </a:rPr>
              <a:t>2.5.0</a:t>
            </a:r>
            <a:endParaRPr lang="en-US" sz="1500" dirty="0"/>
          </a:p>
        </p:txBody>
      </p:sp>
      <p:sp>
        <p:nvSpPr>
          <p:cNvPr id="5" name="Text 3"/>
          <p:cNvSpPr/>
          <p:nvPr/>
        </p:nvSpPr>
        <p:spPr>
          <a:xfrm>
            <a:off x="1053495" y="2658343"/>
            <a:ext cx="5223563" cy="352501"/>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1E26"/>
                </a:solidFill>
                <a:latin typeface="JetBrains Mono" pitchFamily="49" charset="0"/>
                <a:ea typeface="JetBrains Mono" pitchFamily="49" charset="-122"/>
                <a:cs typeface="JetBrains Mono" pitchFamily="49" charset="-120"/>
              </a:rPr>
              <a:t>## 2.5.0 (2026-10-29)</a:t>
            </a:r>
            <a:endParaRPr lang="en-US" sz="1600" dirty="0"/>
          </a:p>
        </p:txBody>
      </p:sp>
      <p:sp>
        <p:nvSpPr>
          <p:cNvPr id="6" name="Text 4"/>
          <p:cNvSpPr/>
          <p:nvPr/>
        </p:nvSpPr>
        <p:spPr>
          <a:xfrm>
            <a:off x="1053495" y="3074349"/>
            <a:ext cx="5223563" cy="31167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441B"/>
                </a:solidFill>
                <a:latin typeface="JetBrains Mono" pitchFamily="49" charset="0"/>
                <a:ea typeface="JetBrains Mono" pitchFamily="49" charset="-122"/>
                <a:cs typeface="JetBrains Mono" pitchFamily="49" charset="-120"/>
              </a:rPr>
              <a:t>### Features</a:t>
            </a:r>
            <a:endParaRPr lang="en-US" sz="1400" dirty="0"/>
          </a:p>
        </p:txBody>
      </p:sp>
      <p:sp>
        <p:nvSpPr>
          <p:cNvPr id="7" name="Text 5"/>
          <p:cNvSpPr/>
          <p:nvPr/>
        </p:nvSpPr>
        <p:spPr>
          <a:xfrm>
            <a:off x="1053495" y="3449526"/>
            <a:ext cx="5223563"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1E26"/>
                </a:solidFill>
                <a:latin typeface="JetBrains Mono" pitchFamily="49" charset="0"/>
                <a:ea typeface="JetBrains Mono" pitchFamily="49" charset="-122"/>
                <a:cs typeface="JetBrains Mono" pitchFamily="49" charset="-120"/>
              </a:rPr>
              <a:t>* reports: export to CSV</a:t>
            </a:r>
            <a:endParaRPr lang="en-US" sz="1400" dirty="0"/>
          </a:p>
        </p:txBody>
      </p:sp>
      <p:sp>
        <p:nvSpPr>
          <p:cNvPr id="8" name="Text 6"/>
          <p:cNvSpPr/>
          <p:nvPr/>
        </p:nvSpPr>
        <p:spPr>
          <a:xfrm>
            <a:off x="1053495" y="3824703"/>
            <a:ext cx="5223563" cy="31167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F62B0"/>
                </a:solidFill>
                <a:latin typeface="JetBrains Mono" pitchFamily="49" charset="0"/>
                <a:ea typeface="JetBrains Mono" pitchFamily="49" charset="-122"/>
                <a:cs typeface="JetBrains Mono" pitchFamily="49" charset="-120"/>
              </a:rPr>
              <a:t>### Bug Fixes</a:t>
            </a:r>
            <a:endParaRPr lang="en-US" sz="1400" dirty="0"/>
          </a:p>
        </p:txBody>
      </p:sp>
      <p:sp>
        <p:nvSpPr>
          <p:cNvPr id="9" name="Text 7"/>
          <p:cNvSpPr/>
          <p:nvPr/>
        </p:nvSpPr>
        <p:spPr>
          <a:xfrm>
            <a:off x="1053495" y="4199886"/>
            <a:ext cx="5223563"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1E26"/>
                </a:solidFill>
                <a:latin typeface="JetBrains Mono" pitchFamily="49" charset="0"/>
                <a:ea typeface="JetBrains Mono" pitchFamily="49" charset="-122"/>
                <a:cs typeface="JetBrains Mono" pitchFamily="49" charset="-120"/>
              </a:rPr>
              <a:t>* cart: stop double charge on retry</a:t>
            </a:r>
            <a:endParaRPr lang="en-US" sz="1400" dirty="0"/>
          </a:p>
        </p:txBody>
      </p:sp>
      <p:sp>
        <p:nvSpPr>
          <p:cNvPr id="10" name="Text 8"/>
          <p:cNvSpPr/>
          <p:nvPr/>
        </p:nvSpPr>
        <p:spPr>
          <a:xfrm>
            <a:off x="6772011" y="1746740"/>
            <a:ext cx="4745405"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A new version number</a:t>
            </a:r>
            <a:endParaRPr lang="en-US" sz="1900" dirty="0"/>
          </a:p>
        </p:txBody>
      </p:sp>
      <p:sp>
        <p:nvSpPr>
          <p:cNvPr id="11" name="Text 9"/>
          <p:cNvSpPr/>
          <p:nvPr/>
        </p:nvSpPr>
        <p:spPr>
          <a:xfrm>
            <a:off x="6772011" y="2130537"/>
            <a:ext cx="4745405"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Bumped in your files, like package.json or version.txt.</a:t>
            </a:r>
            <a:endParaRPr lang="en-US" sz="1400" dirty="0"/>
          </a:p>
        </p:txBody>
      </p:sp>
      <p:sp>
        <p:nvSpPr>
          <p:cNvPr id="12" name="Text 10"/>
          <p:cNvSpPr/>
          <p:nvPr/>
        </p:nvSpPr>
        <p:spPr>
          <a:xfrm>
            <a:off x="6772011" y="2936615"/>
            <a:ext cx="4745405"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An updated CHANGELOG.md</a:t>
            </a:r>
            <a:endParaRPr lang="en-US" sz="1900" dirty="0"/>
          </a:p>
        </p:txBody>
      </p:sp>
      <p:sp>
        <p:nvSpPr>
          <p:cNvPr id="13" name="Text 11"/>
          <p:cNvSpPr/>
          <p:nvPr/>
        </p:nvSpPr>
        <p:spPr>
          <a:xfrm>
            <a:off x="6772011" y="3320411"/>
            <a:ext cx="4745405"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Grouped by type, built straight from commit messages.</a:t>
            </a:r>
            <a:endParaRPr lang="en-US" sz="1400" dirty="0"/>
          </a:p>
        </p:txBody>
      </p:sp>
      <p:sp>
        <p:nvSpPr>
          <p:cNvPr id="14" name="Text 12"/>
          <p:cNvSpPr/>
          <p:nvPr/>
        </p:nvSpPr>
        <p:spPr>
          <a:xfrm>
            <a:off x="6772011" y="4126483"/>
            <a:ext cx="4745405"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Nothing ships yet</a:t>
            </a:r>
            <a:endParaRPr lang="en-US" sz="1900" dirty="0"/>
          </a:p>
        </p:txBody>
      </p:sp>
      <p:sp>
        <p:nvSpPr>
          <p:cNvPr id="15" name="Text 13"/>
          <p:cNvSpPr/>
          <p:nvPr/>
        </p:nvSpPr>
        <p:spPr>
          <a:xfrm>
            <a:off x="6772011" y="4510280"/>
            <a:ext cx="4745405" cy="301436"/>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It is just a PR. Review it, wait, or merge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81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38163"/>
          </a:xfrm>
          <a:prstGeom prst="rect">
            <a:avLst/>
          </a:prstGeom>
          <a:noFill/>
          <a:ln/>
        </p:spPr>
        <p:txBody>
          <a:bodyPr wrap="square" lIns="0" tIns="0" rIns="0" bIns="0" rtlCol="0" anchor="t">
            <a:normAutofit/>
          </a:bodyPr>
          <a:lstStyle/>
          <a:p>
            <a:pPr algn="l" indent="0" marL="0">
              <a:lnSpc>
                <a:spcPts val="3539"/>
              </a:lnSpc>
              <a:buNone/>
            </a:pPr>
            <a:r>
              <a:rPr lang="en-US" sz="3218" b="1" i="0" spc="-50" kern="0" dirty="0">
                <a:solidFill>
                  <a:srgbClr val="F6F3EC"/>
                </a:solidFill>
                <a:latin typeface="Space Grotesk" pitchFamily="34" charset="0"/>
                <a:ea typeface="Space Grotesk" pitchFamily="34" charset="-122"/>
                <a:cs typeface="Space Grotesk" pitchFamily="34" charset="-120"/>
              </a:rPr>
              <a:t>Setup: one workflow file</a:t>
            </a:r>
            <a:endParaRPr lang="en-US" sz="3218" dirty="0"/>
          </a:p>
        </p:txBody>
      </p:sp>
      <p:sp>
        <p:nvSpPr>
          <p:cNvPr id="3" name="Text 1"/>
          <p:cNvSpPr/>
          <p:nvPr/>
        </p:nvSpPr>
        <p:spPr>
          <a:xfrm>
            <a:off x="819150" y="1354404"/>
            <a:ext cx="6178059" cy="4966758"/>
          </a:xfrm>
          <a:prstGeom prst="roundRect">
            <a:avLst>
              <a:gd name="adj" fmla="val 2429"/>
            </a:avLst>
          </a:prstGeom>
          <a:solidFill>
            <a:srgbClr val="0D0F14"/>
          </a:solidFill>
          <a:ln w="12700">
            <a:solidFill>
              <a:srgbClr val="2A2F3A"/>
            </a:solidFill>
            <a:prstDash val="solid"/>
          </a:ln>
        </p:spPr>
        <p:txBody>
          <a:bodyPr wrap="square" lIns="275208" tIns="224408" rIns="108499" bIns="199008" rtlCol="0" anchor="t">
            <a:normAutofit/>
          </a:bodyPr>
          <a:lstStyle/>
          <a:p>
            <a:pPr algn="l" indent="0" marL="0">
              <a:lnSpc>
                <a:spcPts val="2030"/>
              </a:lnSpc>
              <a:buNone/>
            </a:pPr>
            <a:r>
              <a:rPr lang="en-US" sz="1400" dirty="0">
                <a:solidFill>
                  <a:srgbClr val="A3A9B6"/>
                </a:solidFill>
                <a:latin typeface="JetBrains Mono" pitchFamily="49" charset="0"/>
                <a:ea typeface="JetBrains Mono" pitchFamily="49" charset="-122"/>
                <a:cs typeface="JetBrains Mono" pitchFamily="49" charset="-120"/>
              </a:rPr>
              <a:t># .github/workflows/release-please.yml</a:t>
            </a:r>
            <a:endParaRPr lang="en-US" sz="1400" dirty="0"/>
          </a:p>
          <a:p>
            <a:pPr algn="l" indent="0" marL="0">
              <a:lnSpc>
                <a:spcPts val="2030"/>
              </a:lnSpc>
              <a:buNone/>
            </a:pPr>
            <a:r>
              <a:rPr lang="en-US" sz="1400" dirty="0">
                <a:solidFill>
                  <a:srgbClr val="7FB0FF"/>
                </a:solidFill>
                <a:latin typeface="JetBrains Mono" pitchFamily="49" charset="0"/>
                <a:ea typeface="JetBrains Mono" pitchFamily="49" charset="-122"/>
                <a:cs typeface="JetBrains Mono" pitchFamily="49" charset="-120"/>
              </a:rPr>
              <a:t>on</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push</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branches</a:t>
            </a:r>
            <a:r>
              <a:rPr lang="en-US" sz="1400" dirty="0">
                <a:solidFill>
                  <a:srgbClr val="E6E2D8"/>
                </a:solidFill>
                <a:latin typeface="JetBrains Mono" pitchFamily="49" charset="0"/>
                <a:ea typeface="JetBrains Mono" pitchFamily="49" charset="-122"/>
                <a:cs typeface="JetBrains Mono" pitchFamily="49" charset="-120"/>
              </a:rPr>
              <a:t>: [main]</a:t>
            </a:r>
            <a:endParaRPr lang="en-US" sz="1400" dirty="0"/>
          </a:p>
          <a:p>
            <a:pPr algn="l" indent="0" marL="0">
              <a:lnSpc>
                <a:spcPts val="2030"/>
              </a:lnSpc>
              <a:buNone/>
            </a:pPr>
            <a:r>
              <a:rPr lang="en-US" sz="1400" dirty="0">
                <a:solidFill>
                  <a:srgbClr val="7FB0FF"/>
                </a:solidFill>
                <a:latin typeface="JetBrains Mono" pitchFamily="49" charset="0"/>
                <a:ea typeface="JetBrains Mono" pitchFamily="49" charset="-122"/>
                <a:cs typeface="JetBrains Mono" pitchFamily="49" charset="-120"/>
              </a:rPr>
              <a:t>permissions</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contents</a:t>
            </a:r>
            <a:r>
              <a:rPr lang="en-US" sz="1400" dirty="0">
                <a:solidFill>
                  <a:srgbClr val="E6E2D8"/>
                </a:solidFill>
                <a:latin typeface="JetBrains Mono" pitchFamily="49" charset="0"/>
                <a:ea typeface="JetBrains Mono" pitchFamily="49" charset="-122"/>
                <a:cs typeface="JetBrains Mono" pitchFamily="49" charset="-120"/>
              </a:rPr>
              <a:t>: write</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pull-requests</a:t>
            </a:r>
            <a:r>
              <a:rPr lang="en-US" sz="1400" dirty="0">
                <a:solidFill>
                  <a:srgbClr val="E6E2D8"/>
                </a:solidFill>
                <a:latin typeface="JetBrains Mono" pitchFamily="49" charset="0"/>
                <a:ea typeface="JetBrains Mono" pitchFamily="49" charset="-122"/>
                <a:cs typeface="JetBrains Mono" pitchFamily="49" charset="-120"/>
              </a:rPr>
              <a:t>: write</a:t>
            </a:r>
            <a:endParaRPr lang="en-US" sz="1400" dirty="0"/>
          </a:p>
          <a:p>
            <a:pPr algn="l" indent="0" marL="0">
              <a:lnSpc>
                <a:spcPts val="2030"/>
              </a:lnSpc>
              <a:buNone/>
            </a:pPr>
            <a:r>
              <a:rPr lang="en-US" sz="1400" dirty="0">
                <a:solidFill>
                  <a:srgbClr val="7FB0FF"/>
                </a:solidFill>
                <a:latin typeface="JetBrains Mono" pitchFamily="49" charset="0"/>
                <a:ea typeface="JetBrains Mono" pitchFamily="49" charset="-122"/>
                <a:cs typeface="JetBrains Mono" pitchFamily="49" charset="-120"/>
              </a:rPr>
              <a:t>jobs</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release-please</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runs-on</a:t>
            </a:r>
            <a:r>
              <a:rPr lang="en-US" sz="1400" dirty="0">
                <a:solidFill>
                  <a:srgbClr val="E6E2D8"/>
                </a:solidFill>
                <a:latin typeface="JetBrains Mono" pitchFamily="49" charset="0"/>
                <a:ea typeface="JetBrains Mono" pitchFamily="49" charset="-122"/>
                <a:cs typeface="JetBrains Mono" pitchFamily="49" charset="-120"/>
              </a:rPr>
              <a:t>: ubuntu-latest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steps</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 </a:t>
            </a:r>
            <a:r>
              <a:rPr lang="en-US" sz="1400" dirty="0">
                <a:solidFill>
                  <a:srgbClr val="7FB0FF"/>
                </a:solidFill>
                <a:latin typeface="JetBrains Mono" pitchFamily="49" charset="0"/>
                <a:ea typeface="JetBrains Mono" pitchFamily="49" charset="-122"/>
                <a:cs typeface="JetBrains Mono" pitchFamily="49" charset="-120"/>
              </a:rPr>
              <a:t>uses</a:t>
            </a: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FF8A5C"/>
                </a:solidFill>
                <a:latin typeface="JetBrains Mono" pitchFamily="49" charset="0"/>
                <a:ea typeface="JetBrains Mono" pitchFamily="49" charset="-122"/>
                <a:cs typeface="JetBrains Mono" pitchFamily="49" charset="-120"/>
              </a:rPr>
              <a:t>googleapis/release-please-action@v4</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with</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release-type</a:t>
            </a:r>
            <a:r>
              <a:rPr lang="en-US" sz="1400" dirty="0">
                <a:solidFill>
                  <a:srgbClr val="E6E2D8"/>
                </a:solidFill>
                <a:latin typeface="JetBrains Mono" pitchFamily="49" charset="0"/>
                <a:ea typeface="JetBrains Mono" pitchFamily="49" charset="-122"/>
                <a:cs typeface="JetBrains Mono" pitchFamily="49" charset="-120"/>
              </a:rPr>
              <a:t>: node</a:t>
            </a:r>
            <a:endParaRPr lang="en-US" sz="1400" dirty="0"/>
          </a:p>
        </p:txBody>
      </p:sp>
      <p:sp>
        <p:nvSpPr>
          <p:cNvPr id="4" name="Text 2"/>
          <p:cNvSpPr/>
          <p:nvPr/>
        </p:nvSpPr>
        <p:spPr>
          <a:xfrm>
            <a:off x="7409959" y="2068252"/>
            <a:ext cx="4088319"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F8A5C"/>
                </a:solidFill>
                <a:latin typeface="Space Grotesk" pitchFamily="34" charset="0"/>
                <a:ea typeface="Space Grotesk" pitchFamily="34" charset="-122"/>
                <a:cs typeface="Space Grotesk" pitchFamily="34" charset="-120"/>
              </a:rPr>
              <a:t>Pick a release type</a:t>
            </a:r>
            <a:endParaRPr lang="en-US" sz="1800" dirty="0"/>
          </a:p>
        </p:txBody>
      </p:sp>
      <p:sp>
        <p:nvSpPr>
          <p:cNvPr id="5" name="Text 3"/>
          <p:cNvSpPr/>
          <p:nvPr/>
        </p:nvSpPr>
        <p:spPr>
          <a:xfrm>
            <a:off x="7409959" y="2434506"/>
            <a:ext cx="4088319"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node, python, go, java, simple, and more. It tells the bot which files hold the version.</a:t>
            </a:r>
            <a:endParaRPr lang="en-US" sz="1400" dirty="0"/>
          </a:p>
        </p:txBody>
      </p:sp>
      <p:sp>
        <p:nvSpPr>
          <p:cNvPr id="6" name="Text 4"/>
          <p:cNvSpPr/>
          <p:nvPr/>
        </p:nvSpPr>
        <p:spPr>
          <a:xfrm>
            <a:off x="7409959" y="3516616"/>
            <a:ext cx="4088319"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F8A5C"/>
                </a:solidFill>
                <a:latin typeface="Space Grotesk" pitchFamily="34" charset="0"/>
                <a:ea typeface="Space Grotesk" pitchFamily="34" charset="-122"/>
                <a:cs typeface="Space Grotesk" pitchFamily="34" charset="-120"/>
              </a:rPr>
              <a:t>Grant two permissions</a:t>
            </a:r>
            <a:endParaRPr lang="en-US" sz="1800" dirty="0"/>
          </a:p>
        </p:txBody>
      </p:sp>
      <p:sp>
        <p:nvSpPr>
          <p:cNvPr id="7" name="Text 5"/>
          <p:cNvSpPr/>
          <p:nvPr/>
        </p:nvSpPr>
        <p:spPr>
          <a:xfrm>
            <a:off x="7409959" y="3882876"/>
            <a:ext cx="4088319"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Write access to contents and pull requests.</a:t>
            </a:r>
            <a:endParaRPr lang="en-US" sz="1400" dirty="0"/>
          </a:p>
        </p:txBody>
      </p:sp>
      <p:sp>
        <p:nvSpPr>
          <p:cNvPr id="8" name="Text 6"/>
          <p:cNvSpPr/>
          <p:nvPr/>
        </p:nvSpPr>
        <p:spPr>
          <a:xfrm>
            <a:off x="7409959" y="4688948"/>
            <a:ext cx="4088319"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F8A5C"/>
                </a:solidFill>
                <a:latin typeface="Space Grotesk" pitchFamily="34" charset="0"/>
                <a:ea typeface="Space Grotesk" pitchFamily="34" charset="-122"/>
                <a:cs typeface="Space Grotesk" pitchFamily="34" charset="-120"/>
              </a:rPr>
              <a:t>Monorepo?</a:t>
            </a:r>
            <a:endParaRPr lang="en-US" sz="1800" dirty="0"/>
          </a:p>
        </p:txBody>
      </p:sp>
      <p:sp>
        <p:nvSpPr>
          <p:cNvPr id="9" name="Text 7"/>
          <p:cNvSpPr/>
          <p:nvPr/>
        </p:nvSpPr>
        <p:spPr>
          <a:xfrm>
            <a:off x="7409959" y="5055208"/>
            <a:ext cx="4088319"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Add a config file and a manifest to version each package separately.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Keep it honest: three guardrails</a:t>
            </a:r>
            <a:endParaRPr lang="en-US" sz="3600" dirty="0"/>
          </a:p>
        </p:txBody>
      </p:sp>
      <p:sp>
        <p:nvSpPr>
          <p:cNvPr id="3" name="Shape 1"/>
          <p:cNvSpPr/>
          <p:nvPr/>
        </p:nvSpPr>
        <p:spPr>
          <a:xfrm>
            <a:off x="819150" y="1702290"/>
            <a:ext cx="3407833" cy="2556404"/>
          </a:xfrm>
          <a:prstGeom prst="roundRect">
            <a:avLst>
              <a:gd name="adj" fmla="val 4720"/>
            </a:avLst>
          </a:prstGeom>
          <a:solidFill>
            <a:srgbClr val="FFFDF8"/>
          </a:solidFill>
          <a:ln w="12700">
            <a:solidFill>
              <a:srgbClr val="E2DDD2"/>
            </a:solidFill>
            <a:prstDash val="solid"/>
          </a:ln>
        </p:spPr>
      </p:sp>
      <p:pic>
        <p:nvPicPr>
          <p:cNvPr id="4" name="Image 0" descr="Check">    </p:cNvPr>
          <p:cNvPicPr>
            <a:picLocks noChangeAspect="1"/>
          </p:cNvPicPr>
          <p:nvPr/>
        </p:nvPicPr>
        <p:blipFill>
          <a:blip r:embed="rId1"/>
          <a:srcRect l="0" r="0" t="0" b="0"/>
          <a:stretch/>
        </p:blipFill>
        <p:spPr>
          <a:xfrm>
            <a:off x="1078895" y="1962038"/>
            <a:ext cx="355600" cy="355600"/>
          </a:xfrm>
          <a:prstGeom prst="rect">
            <a:avLst/>
          </a:prstGeom>
        </p:spPr>
      </p:pic>
      <p:sp>
        <p:nvSpPr>
          <p:cNvPr id="5" name="Text 2"/>
          <p:cNvSpPr/>
          <p:nvPr/>
        </p:nvSpPr>
        <p:spPr>
          <a:xfrm>
            <a:off x="1078895" y="2419238"/>
            <a:ext cx="2974993"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Squash merge</a:t>
            </a:r>
            <a:endParaRPr lang="en-US" sz="1900" dirty="0"/>
          </a:p>
        </p:txBody>
      </p:sp>
      <p:sp>
        <p:nvSpPr>
          <p:cNvPr id="6" name="Text 3"/>
          <p:cNvSpPr/>
          <p:nvPr/>
        </p:nvSpPr>
        <p:spPr>
          <a:xfrm>
            <a:off x="1078895" y="2853835"/>
            <a:ext cx="2974993" cy="117051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D6270"/>
                </a:solidFill>
                <a:latin typeface="Space Grotesk" pitchFamily="34" charset="0"/>
                <a:ea typeface="Space Grotesk" pitchFamily="34" charset="-122"/>
                <a:cs typeface="Space Grotesk" pitchFamily="34" charset="-120"/>
              </a:rPr>
              <a:t>Use the PR title as the commit message. One clean commit per PR, so only titles need to be right.</a:t>
            </a:r>
            <a:endParaRPr lang="en-US" sz="1400" dirty="0"/>
          </a:p>
        </p:txBody>
      </p:sp>
      <p:sp>
        <p:nvSpPr>
          <p:cNvPr id="7" name="Shape 4"/>
          <p:cNvSpPr/>
          <p:nvPr/>
        </p:nvSpPr>
        <p:spPr>
          <a:xfrm>
            <a:off x="4392083" y="1702290"/>
            <a:ext cx="3407833" cy="2556404"/>
          </a:xfrm>
          <a:prstGeom prst="roundRect">
            <a:avLst>
              <a:gd name="adj" fmla="val 4720"/>
            </a:avLst>
          </a:prstGeom>
          <a:solidFill>
            <a:srgbClr val="FFFDF8"/>
          </a:solidFill>
          <a:ln w="12700">
            <a:solidFill>
              <a:srgbClr val="E2DDD2"/>
            </a:solidFill>
            <a:prstDash val="solid"/>
          </a:ln>
        </p:spPr>
      </p:sp>
      <p:pic>
        <p:nvPicPr>
          <p:cNvPr id="8" name="Image 1" descr="Verified">    </p:cNvPr>
          <p:cNvPicPr>
            <a:picLocks noChangeAspect="1"/>
          </p:cNvPicPr>
          <p:nvPr/>
        </p:nvPicPr>
        <p:blipFill>
          <a:blip r:embed="rId2"/>
          <a:srcRect l="0" r="0" t="0" b="0"/>
          <a:stretch/>
        </p:blipFill>
        <p:spPr>
          <a:xfrm>
            <a:off x="4651829" y="1962038"/>
            <a:ext cx="355600" cy="355600"/>
          </a:xfrm>
          <a:prstGeom prst="rect">
            <a:avLst/>
          </a:prstGeom>
        </p:spPr>
      </p:pic>
      <p:sp>
        <p:nvSpPr>
          <p:cNvPr id="9" name="Text 5"/>
          <p:cNvSpPr/>
          <p:nvPr/>
        </p:nvSpPr>
        <p:spPr>
          <a:xfrm>
            <a:off x="4651829" y="2419238"/>
            <a:ext cx="2974993"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Lint PR titles</a:t>
            </a:r>
            <a:endParaRPr lang="en-US" sz="1900" dirty="0"/>
          </a:p>
        </p:txBody>
      </p:sp>
      <p:sp>
        <p:nvSpPr>
          <p:cNvPr id="10" name="Text 6"/>
          <p:cNvSpPr/>
          <p:nvPr/>
        </p:nvSpPr>
        <p:spPr>
          <a:xfrm>
            <a:off x="4651829" y="2853835"/>
            <a:ext cx="2974993" cy="117051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D6270"/>
                </a:solidFill>
                <a:latin typeface="Space Grotesk" pitchFamily="34" charset="0"/>
                <a:ea typeface="Space Grotesk" pitchFamily="34" charset="-122"/>
                <a:cs typeface="Space Grotesk" pitchFamily="34" charset="-120"/>
              </a:rPr>
              <a:t>A required check, such as action-semantic-pull-request, blocks titles that skip the format.</a:t>
            </a:r>
            <a:endParaRPr lang="en-US" sz="1400" dirty="0"/>
          </a:p>
        </p:txBody>
      </p:sp>
      <p:sp>
        <p:nvSpPr>
          <p:cNvPr id="11" name="Shape 7"/>
          <p:cNvSpPr/>
          <p:nvPr/>
        </p:nvSpPr>
        <p:spPr>
          <a:xfrm>
            <a:off x="7965017" y="1702290"/>
            <a:ext cx="3407833" cy="2556404"/>
          </a:xfrm>
          <a:prstGeom prst="roundRect">
            <a:avLst>
              <a:gd name="adj" fmla="val 4720"/>
            </a:avLst>
          </a:prstGeom>
          <a:solidFill>
            <a:srgbClr val="FFFDF8"/>
          </a:solidFill>
          <a:ln w="12700">
            <a:solidFill>
              <a:srgbClr val="E2DDD2"/>
            </a:solidFill>
            <a:prstDash val="solid"/>
          </a:ln>
        </p:spPr>
      </p:sp>
      <p:pic>
        <p:nvPicPr>
          <p:cNvPr id="12" name="Image 2" descr="Code">    </p:cNvPr>
          <p:cNvPicPr>
            <a:picLocks noChangeAspect="1"/>
          </p:cNvPicPr>
          <p:nvPr/>
        </p:nvPicPr>
        <p:blipFill>
          <a:blip r:embed="rId3"/>
          <a:srcRect l="0" r="0" t="0" b="0"/>
          <a:stretch/>
        </p:blipFill>
        <p:spPr>
          <a:xfrm>
            <a:off x="8224762" y="1962038"/>
            <a:ext cx="355600" cy="355600"/>
          </a:xfrm>
          <a:prstGeom prst="rect">
            <a:avLst/>
          </a:prstGeom>
        </p:spPr>
      </p:pic>
      <p:sp>
        <p:nvSpPr>
          <p:cNvPr id="13" name="Text 8"/>
          <p:cNvSpPr/>
          <p:nvPr/>
        </p:nvSpPr>
        <p:spPr>
          <a:xfrm>
            <a:off x="8224762" y="2419238"/>
            <a:ext cx="2974993"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Lint locally</a:t>
            </a:r>
            <a:endParaRPr lang="en-US" sz="1900" dirty="0"/>
          </a:p>
        </p:txBody>
      </p:sp>
      <p:sp>
        <p:nvSpPr>
          <p:cNvPr id="14" name="Text 9"/>
          <p:cNvSpPr/>
          <p:nvPr/>
        </p:nvSpPr>
        <p:spPr>
          <a:xfrm>
            <a:off x="8224762" y="2853835"/>
            <a:ext cx="2974993" cy="884238"/>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D6270"/>
                </a:solidFill>
                <a:latin typeface="Space Grotesk" pitchFamily="34" charset="0"/>
                <a:ea typeface="Space Grotesk" pitchFamily="34" charset="-122"/>
                <a:cs typeface="Space Grotesk" pitchFamily="34" charset="-120"/>
              </a:rPr>
              <a:t>Optional. commitlint in a git hook catches mistakes before you push.</a:t>
            </a:r>
            <a:endParaRPr lang="en-US" sz="1400" dirty="0"/>
          </a:p>
        </p:txBody>
      </p:sp>
      <p:sp>
        <p:nvSpPr>
          <p:cNvPr id="15" name="Shape 10"/>
          <p:cNvSpPr/>
          <p:nvPr/>
        </p:nvSpPr>
        <p:spPr>
          <a:xfrm>
            <a:off x="812800" y="4569848"/>
            <a:ext cx="10566400" cy="928158"/>
          </a:xfrm>
          <a:prstGeom prst="roundRect">
            <a:avLst>
              <a:gd name="adj" fmla="val 10946"/>
            </a:avLst>
          </a:prstGeom>
          <a:solidFill>
            <a:srgbClr val="15181F"/>
          </a:solidFill>
          <a:ln/>
        </p:spPr>
      </p:sp>
      <p:pic>
        <p:nvPicPr>
          <p:cNvPr id="16" name="Image 3" descr="Warning">    </p:cNvPr>
          <p:cNvPicPr>
            <a:picLocks noChangeAspect="1"/>
          </p:cNvPicPr>
          <p:nvPr/>
        </p:nvPicPr>
        <p:blipFill>
          <a:blip r:embed="rId4"/>
          <a:srcRect l="0" r="0" t="-350" b="-350"/>
          <a:stretch/>
        </p:blipFill>
        <p:spPr>
          <a:xfrm>
            <a:off x="1066800" y="4894225"/>
            <a:ext cx="189177" cy="279400"/>
          </a:xfrm>
          <a:prstGeom prst="rect">
            <a:avLst/>
          </a:prstGeom>
        </p:spPr>
      </p:pic>
      <p:sp>
        <p:nvSpPr>
          <p:cNvPr id="17" name="Text 11"/>
          <p:cNvSpPr/>
          <p:nvPr/>
        </p:nvSpPr>
        <p:spPr>
          <a:xfrm>
            <a:off x="1408377" y="4747648"/>
            <a:ext cx="10008328" cy="597958"/>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3EC"/>
                </a:solidFill>
                <a:latin typeface="Space Grotesk" pitchFamily="34" charset="0"/>
                <a:ea typeface="Space Grotesk" pitchFamily="34" charset="-122"/>
                <a:cs typeface="Space Grotesk" pitchFamily="34" charset="-120"/>
              </a:rPr>
              <a:t>Gotcha:</a:t>
            </a:r>
            <a:r>
              <a:rPr lang="en-US" sz="1400" dirty="0">
                <a:solidFill>
                  <a:srgbClr val="F6F3EC"/>
                </a:solidFill>
                <a:latin typeface="Space Grotesk" pitchFamily="34" charset="0"/>
                <a:ea typeface="Space Grotesk" pitchFamily="34" charset="-122"/>
                <a:cs typeface="Space Grotesk" pitchFamily="34" charset="-120"/>
              </a:rPr>
              <a:t> PRs opened with the default GITHUB_TOKEN do not trigger your other workflows. Use a GitHub App token if CI must run on the release PR.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81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F6F3EC"/>
                </a:solidFill>
                <a:latin typeface="Space Grotesk" pitchFamily="34" charset="0"/>
                <a:ea typeface="Space Grotesk" pitchFamily="34" charset="-122"/>
                <a:cs typeface="Space Grotesk" pitchFamily="34" charset="-120"/>
              </a:rPr>
              <a:t>Remember three things</a:t>
            </a:r>
            <a:endParaRPr lang="en-US" sz="3600" dirty="0"/>
          </a:p>
        </p:txBody>
      </p:sp>
      <p:sp>
        <p:nvSpPr>
          <p:cNvPr id="3" name="Text 1"/>
          <p:cNvSpPr/>
          <p:nvPr/>
        </p:nvSpPr>
        <p:spPr>
          <a:xfrm>
            <a:off x="812800" y="2201447"/>
            <a:ext cx="378596" cy="761471"/>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FF8A5C"/>
                </a:solidFill>
                <a:latin typeface="JetBrains Mono" pitchFamily="49" charset="0"/>
                <a:ea typeface="JetBrains Mono" pitchFamily="49" charset="-122"/>
                <a:cs typeface="JetBrains Mono" pitchFamily="49" charset="-120"/>
              </a:rPr>
              <a:t>1</a:t>
            </a:r>
            <a:endParaRPr lang="en-US" sz="3600" dirty="0"/>
          </a:p>
        </p:txBody>
      </p:sp>
      <p:sp>
        <p:nvSpPr>
          <p:cNvPr id="4" name="Text 2"/>
          <p:cNvSpPr/>
          <p:nvPr/>
        </p:nvSpPr>
        <p:spPr>
          <a:xfrm>
            <a:off x="1382297" y="2334344"/>
            <a:ext cx="7531463" cy="495640"/>
          </a:xfrm>
          <a:prstGeom prst="rect">
            <a:avLst/>
          </a:prstGeom>
          <a:noFill/>
          <a:ln/>
        </p:spPr>
        <p:txBody>
          <a:bodyPr wrap="square" lIns="0" tIns="0" rIns="0" bIns="0" rtlCol="0" anchor="t">
            <a:normAutofit/>
          </a:bodyPr>
          <a:lstStyle/>
          <a:p>
            <a:pPr algn="l" indent="0" marL="0">
              <a:lnSpc>
                <a:spcPts val="3220"/>
              </a:lnSpc>
              <a:buNone/>
            </a:pPr>
            <a:r>
              <a:rPr lang="en-US" sz="2800" b="1" dirty="0">
                <a:solidFill>
                  <a:srgbClr val="F6F3EC"/>
                </a:solidFill>
                <a:latin typeface="Space Grotesk" pitchFamily="34" charset="0"/>
                <a:ea typeface="Space Grotesk" pitchFamily="34" charset="-122"/>
                <a:cs typeface="Space Grotesk" pitchFamily="34" charset="-120"/>
              </a:rPr>
              <a:t>Start every commit with a type.</a:t>
            </a:r>
            <a:endParaRPr lang="en-US" sz="2800" dirty="0"/>
          </a:p>
        </p:txBody>
      </p:sp>
      <p:sp>
        <p:nvSpPr>
          <p:cNvPr id="5" name="Text 3"/>
          <p:cNvSpPr/>
          <p:nvPr/>
        </p:nvSpPr>
        <p:spPr>
          <a:xfrm>
            <a:off x="812800" y="3166120"/>
            <a:ext cx="378596" cy="761471"/>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FF8A5C"/>
                </a:solidFill>
                <a:latin typeface="JetBrains Mono" pitchFamily="49" charset="0"/>
                <a:ea typeface="JetBrains Mono" pitchFamily="49" charset="-122"/>
                <a:cs typeface="JetBrains Mono" pitchFamily="49" charset="-120"/>
              </a:rPr>
              <a:t>2</a:t>
            </a:r>
            <a:endParaRPr lang="en-US" sz="3600" dirty="0"/>
          </a:p>
        </p:txBody>
      </p:sp>
      <p:sp>
        <p:nvSpPr>
          <p:cNvPr id="6" name="Text 4"/>
          <p:cNvSpPr/>
          <p:nvPr/>
        </p:nvSpPr>
        <p:spPr>
          <a:xfrm>
            <a:off x="1382297" y="3299017"/>
            <a:ext cx="7987348" cy="495640"/>
          </a:xfrm>
          <a:prstGeom prst="rect">
            <a:avLst/>
          </a:prstGeom>
          <a:noFill/>
          <a:ln/>
        </p:spPr>
        <p:txBody>
          <a:bodyPr wrap="square" lIns="0" tIns="0" rIns="0" bIns="0" rtlCol="0" anchor="t">
            <a:normAutofit/>
          </a:bodyPr>
          <a:lstStyle/>
          <a:p>
            <a:pPr algn="l" indent="0" marL="0">
              <a:lnSpc>
                <a:spcPts val="3220"/>
              </a:lnSpc>
              <a:buNone/>
            </a:pPr>
            <a:r>
              <a:rPr lang="en-US" sz="2800" b="1" dirty="0">
                <a:solidFill>
                  <a:srgbClr val="F6F3EC"/>
                </a:solidFill>
                <a:latin typeface="Space Grotesk" pitchFamily="34" charset="0"/>
                <a:ea typeface="Space Grotesk" pitchFamily="34" charset="-122"/>
                <a:cs typeface="Space Grotesk" pitchFamily="34" charset="-120"/>
              </a:rPr>
              <a:t>Merge to main like you always do.</a:t>
            </a:r>
            <a:endParaRPr lang="en-US" sz="2800" dirty="0"/>
          </a:p>
        </p:txBody>
      </p:sp>
      <p:sp>
        <p:nvSpPr>
          <p:cNvPr id="7" name="Text 5"/>
          <p:cNvSpPr/>
          <p:nvPr/>
        </p:nvSpPr>
        <p:spPr>
          <a:xfrm>
            <a:off x="812800" y="4130793"/>
            <a:ext cx="378596" cy="761471"/>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FF8A5C"/>
                </a:solidFill>
                <a:latin typeface="JetBrains Mono" pitchFamily="49" charset="0"/>
                <a:ea typeface="JetBrains Mono" pitchFamily="49" charset="-122"/>
                <a:cs typeface="JetBrains Mono" pitchFamily="49" charset="-120"/>
              </a:rPr>
              <a:t>3</a:t>
            </a:r>
            <a:endParaRPr lang="en-US" sz="3600" dirty="0"/>
          </a:p>
        </p:txBody>
      </p:sp>
      <p:sp>
        <p:nvSpPr>
          <p:cNvPr id="8" name="Text 6"/>
          <p:cNvSpPr/>
          <p:nvPr/>
        </p:nvSpPr>
        <p:spPr>
          <a:xfrm>
            <a:off x="1382297" y="4263684"/>
            <a:ext cx="10644006" cy="495640"/>
          </a:xfrm>
          <a:prstGeom prst="rect">
            <a:avLst/>
          </a:prstGeom>
          <a:noFill/>
          <a:ln/>
        </p:spPr>
        <p:txBody>
          <a:bodyPr wrap="square" lIns="0" tIns="0" rIns="0" bIns="0" rtlCol="0" anchor="t">
            <a:normAutofit/>
          </a:bodyPr>
          <a:lstStyle/>
          <a:p>
            <a:pPr algn="l" indent="0" marL="0">
              <a:lnSpc>
                <a:spcPts val="3220"/>
              </a:lnSpc>
              <a:buNone/>
            </a:pPr>
            <a:r>
              <a:rPr lang="en-US" sz="2800" b="1" dirty="0">
                <a:solidFill>
                  <a:srgbClr val="F6F3EC"/>
                </a:solidFill>
                <a:latin typeface="Space Grotesk" pitchFamily="34" charset="0"/>
                <a:ea typeface="Space Grotesk" pitchFamily="34" charset="-122"/>
                <a:cs typeface="Space Grotesk" pitchFamily="34" charset="-120"/>
              </a:rPr>
              <a:t>Merge the release PR when you want to ship.</a:t>
            </a:r>
            <a:endParaRPr lang="en-US" sz="2800" dirty="0"/>
          </a:p>
        </p:txBody>
      </p:sp>
      <p:sp>
        <p:nvSpPr>
          <p:cNvPr id="9" name="Text 7"/>
          <p:cNvSpPr/>
          <p:nvPr/>
        </p:nvSpPr>
        <p:spPr>
          <a:xfrm>
            <a:off x="812800" y="5677167"/>
            <a:ext cx="10883392"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A3A9B6"/>
                </a:solidFill>
                <a:latin typeface="Space Grotesk" pitchFamily="34" charset="0"/>
                <a:ea typeface="Space Grotesk" pitchFamily="34" charset="-122"/>
                <a:cs typeface="Space Grotesk" pitchFamily="34" charset="-120"/>
              </a:rPr>
              <a:t>Versions, changelogs, tags, and release notes: handled.</a:t>
            </a:r>
            <a:endParaRPr lang="en-US" sz="1800" dirty="0"/>
          </a:p>
        </p:txBody>
      </p:sp>
    </p:spTree>
  </p:cSld>
  <p:clrMapOvr>
    <a:masterClrMapping/>
  </p:clrMapOvr>
</p:sld>
</file>

<file path=ppt/theme/theme1.xml><?xml version="1.0" encoding="utf-8"?>
<a:theme xmlns:a="http://schemas.openxmlformats.org/drawingml/2006/main" name="Conventional Commits and Release Please">
  <a:themeElements>
    <a:clrScheme name="Conventional Commits and Release Please">
      <a:dk1>
        <a:srgbClr val="1B1E26"/>
      </a:dk1>
      <a:lt1>
        <a:srgbClr val="F6F3EC"/>
      </a:lt1>
      <a:dk2>
        <a:srgbClr val="525358"/>
      </a:dk2>
      <a:lt2>
        <a:srgbClr val="E0DED8"/>
      </a:lt2>
      <a:accent1>
        <a:srgbClr val="FF8A5C"/>
      </a:accent1>
      <a:accent2>
        <a:srgbClr val="B8441B"/>
      </a:accent2>
      <a:accent3>
        <a:srgbClr val="2F62B0"/>
      </a:accent3>
      <a:accent4>
        <a:srgbClr val="8A6400"/>
      </a:accent4>
      <a:accent5>
        <a:srgbClr val="E8592A"/>
      </a:accent5>
      <a:accent6>
        <a:srgbClr val="5D6270"/>
      </a:accent6>
      <a:hlink>
        <a:srgbClr val="0563C1"/>
      </a:hlink>
      <a:folHlink>
        <a:srgbClr val="954F72"/>
      </a:folHlink>
    </a:clrScheme>
    <a:fontScheme name="Conventional Commits and Release Pleas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pace Grotes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Conventional Commits and Release Please</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2026-10-29T15:32:18Z</dcterms:created>
  <dcterms:modified xsi:type="dcterms:W3CDTF">2026-10-29T15:32:18Z</dcterms:modified>
</cp:coreProperties>
</file>