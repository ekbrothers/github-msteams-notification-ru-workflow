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embeddedFontLst>
    <p:embeddedFont>
      <p:font typeface="Space Grotesk" pitchFamily="34" charset="0"/>
      <p:regular r:id="rId22"/>
      <p:bold r:id="rId23"/>
    </p:embeddedFont>
    <p:embeddedFont>
      <p:font typeface="JetBrains Mono" panose="02000009000000000000" pitchFamily="49" charset="0"/>
      <p:regular r:id="rId24"/>
      <p:bold r:id="rId2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font" Target="fonts/font1.fntdata"/><Relationship Id="rId23" Type="http://schemas.openxmlformats.org/officeDocument/2006/relationships/font" Target="fonts/font2.fntdata"/><Relationship Id="rId24" Type="http://schemas.openxmlformats.org/officeDocument/2006/relationships/font" Target="fonts/font3.fntdata"/><Relationship Id="rId25"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is about two small habits that remove almost all of the manual work from versioning and release notes. The first is a naming convention for commit messages. The second is a bot that reads those messages and does the release paperwork for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if you had to write release notes from this log, could you? Could you say whether this release is safe to install? This is the gap we are closing. The information exists in our heads at commit time, we just do not write it down in a way tools can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pitch in one sentence. Humans add a tiny bit of structure when they commit. Machines take it from there. Everything after this slide is just the details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first line is required: type, colon, space, description. The scope in parentheses and the exclamation mark are optional. The body and the BREAKING CHANGE footer are optional too, but the footer is a second way to mark a breaking change and a good place to explain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commit left to right like diagramming a sentence. The type is the verb: it says what kind of action happened. The scope is the adjective: it narrows down which part of the system. The exclamation point works just like in English: it raises the volume and warns the reader. The description is the object: the specific thing that changed. Each part has a job for humans and a job for the robot. The colon is just punctuation separating the label from the details. The analogy is loose on purpose; the point is that every piece has one clear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semantic versioning, MAJOR.MINOR.PATCH, driven automatically by commit types. A release looks at every commit since the last one and picks the biggest bump. One feat plus ten fixes is a minor release. One breaking change anywhere makes it a major release. Edge case: before version 1.0.0, Release Please by default treats breaking changes as a minor bump.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Chore is the catch-all for maintenance: dependency bumps, config tweaks, renaming files, cleaning up scripts. It is still recorded in git history, so nothing is lost, but it does not trigger a release and Release Please leaves it out of the changelog by default. Fun detail: Release Please's own release PR uses a chore commit, chore(main): release 2.5.0, because cutting a release is housekeeping too. One judgment call: if a dependency upgrade fixes a bug users would notice, write it as fix(deps) so it ships and shows up in the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the "after" column reads like release notes already. That is the point: the changelog is written one commit at a time, by the person who knows the change best, at the moment they know it best.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our commits carry meaning, we need something to read them. Release Please is an open source GitHub Action maintained by Google. It never pushes a release on its own. It proposes one, and a human approves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mental model: Release Please keeps one open pull request that always represents "the next release." Every time something merges to main, it recalculates the version and rewrites the changelog in that PR. Nothing is published until a person merges it. After merging, it creates the tag and the GitHub Release, and the workflow can trigger follow-up steps like publishing a package or deploying.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that the changelog on the left is the same text as our commit messages from the before and after slide. Nobody wrote release notes by hand. If a message is wrong, you can fix it before merging the release PR.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minimal setup for a single-package repo. Swap release-type for your language: simple just uses a version.txt file and works for anything. For repos with multiple packages, Release Please supports a release-please-config.json and a .release-please-manifest.json. Check the action's README for current inputs and outputs before adopting, since the action evolves.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Release Please only ever reads commits on the main branch. It never looks at PR titles directly. Squash merging is what connects the two: GitHub turns the whole PR into one commit, and with the right setting that commit's message is the PR title. That is why we lint PR titles instead of every commit. With merge commits or rebase merges, every branch commit lands on main as-is, so every single one has to follow the convention, and anything that does not is silently skipped. The setting to change is under the repo's Settings, General, Pull Requests: allow squash merging, and set the default commit message to Pull request title. Without it, GitHub's default uses the commit message when a PR has only one commit, which bypasses the title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convention only works if it is followed, so automate the enforcement. Squash merging is the biggest win: contributors can commit however they like on their branch, and only the PR title has to follow the format. The gotcha at the bottom trips up almost every team the first time: GitHub deliberately does not trigger workflows from events created by the default token, so your tests will not run on the release PR unless you use a separate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repeating the three habits. Then open it up for questions. Good follow-ups: which repo should pilot this first, and who will add the PR title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78341"/>
          </a:xfrm>
          <a:prstGeom prst="rect">
            <a:avLst/>
          </a:prstGeom>
          <a:noFill/>
          <a:ln/>
        </p:spPr>
        <p:txBody>
          <a:bodyPr wrap="square" lIns="0" tIns="0" rIns="0" bIns="0" rtlCol="0" anchor="t"/>
          <a:lstStyle>
            <a:lvl1pPr algn="l" indent="0" marL="0">
              <a:lnSpc>
                <a:spcPct val="115000"/>
              </a:lnSpc>
              <a:buNone/>
              <a:defRPr lang="en-US" sz="3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95941"/>
            <a:ext cx="10566400" cy="4349259"/>
          </a:xfrm>
          <a:prstGeom prst="rect">
            <a:avLst/>
          </a:prstGeom>
          <a:noFill/>
          <a:ln/>
        </p:spPr>
        <p:txBody>
          <a:bodyPr wrap="square" lIns="0" tIns="0" rIns="0" bIns="0" rtlCol="0" anchor="t"/>
          <a:lstStyle>
            <a:lvl1pPr algn="l" indent="0" marL="0">
              <a:lnSpc>
                <a:spcPct val="140000"/>
              </a:lnSpc>
              <a:buNone/>
              <a:defRPr lang="en-US" sz="1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3EC"/>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12800"/>
            <a:ext cx="10566400" cy="578341"/>
          </a:xfrm>
          <a:prstGeom prst="rect">
            <a:avLst/>
          </a:prstGeom>
          <a:noFill/>
          <a:ln/>
        </p:spPr>
        <p:txBody>
          <a:bodyPr wrap="square" lIns="0" tIns="0" rIns="0" bIns="0" rtlCol="0" anchor="t"/>
          <a:lstStyle>
            <a:lvl1pPr algn="l" indent="0" marL="0">
              <a:lnSpc>
                <a:spcPct val="115000"/>
              </a:lnSpc>
              <a:buNone/>
              <a:defRPr lang="en-US" sz="3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15000"/>
              </a:lnSpc>
              <a:buNone/>
            </a:pPr>
            <a:endParaRPr lang="en-US" sz="3600" dirty="0"/>
          </a:p>
        </p:txBody>
      </p:sp>
      <p:sp>
        <p:nvSpPr>
          <p:cNvPr id="3" name="Text Placeholder 2"/>
          <p:cNvSpPr/>
          <p:nvPr>
            <p:ph idx="101" type="body"/>
          </p:nvPr>
        </p:nvSpPr>
        <p:spPr>
          <a:xfrm>
            <a:off x="812800" y="1695941"/>
            <a:ext cx="10566400" cy="4349259"/>
          </a:xfrm>
          <a:prstGeom prst="rect">
            <a:avLst/>
          </a:prstGeom>
          <a:noFill/>
          <a:ln/>
        </p:spPr>
        <p:txBody>
          <a:bodyPr wrap="square" lIns="0" tIns="0" rIns="0" bIns="0" rtlCol="0" anchor="t"/>
          <a:lstStyle>
            <a:lvl1pPr algn="l" indent="0" marL="0">
              <a:lnSpc>
                <a:spcPct val="140000"/>
              </a:lnSpc>
              <a:buNone/>
              <a:defRPr lang="en-US" sz="1600" dirty="0">
                <a:solidFill>
                  <a:srgbClr val="1B1E26"/>
                </a:solidFill>
                <a:latin typeface="Space Grotesk" pitchFamily="34" charset="0"/>
                <a:ea typeface="Space Grotesk" pitchFamily="34" charset="-122"/>
                <a:cs typeface="Space Grotesk"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812800" y="812800"/>
            <a:ext cx="10883392"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8A5C"/>
                </a:solidFill>
                <a:latin typeface="JetBrains Mono" pitchFamily="49" charset="0"/>
                <a:ea typeface="JetBrains Mono" pitchFamily="49" charset="-122"/>
                <a:cs typeface="JetBrains Mono" pitchFamily="49" charset="-120"/>
              </a:rPr>
              <a:t>feat: ship releases on autopilot</a:t>
            </a:r>
            <a:endParaRPr lang="en-US" sz="1600" dirty="0"/>
          </a:p>
        </p:txBody>
      </p:sp>
      <p:sp>
        <p:nvSpPr>
          <p:cNvPr id="3" name="Text 1"/>
          <p:cNvSpPr/>
          <p:nvPr>
            <p:ph type="title"/>
          </p:nvPr>
        </p:nvSpPr>
        <p:spPr>
          <a:xfrm>
            <a:off x="812800" y="2159454"/>
            <a:ext cx="10883392" cy="1988306"/>
          </a:xfrm>
          <a:prstGeom prst="rect">
            <a:avLst/>
          </a:prstGeom>
          <a:noFill/>
          <a:ln/>
        </p:spPr>
        <p:txBody>
          <a:bodyPr wrap="square" lIns="0" tIns="0" rIns="0" bIns="0" rtlCol="0" anchor="t">
            <a:normAutofit/>
          </a:bodyPr>
          <a:lstStyle/>
          <a:p>
            <a:pPr algn="l" indent="0" marL="0">
              <a:lnSpc>
                <a:spcPts val="6720"/>
              </a:lnSpc>
              <a:buNone/>
            </a:pPr>
            <a:r>
              <a:rPr lang="en-US" sz="6400" b="1" i="0" spc="-100" kern="0" dirty="0">
                <a:solidFill>
                  <a:srgbClr val="F6F3EC"/>
                </a:solidFill>
                <a:latin typeface="Space Grotesk" pitchFamily="34" charset="0"/>
                <a:ea typeface="Space Grotesk" pitchFamily="34" charset="-122"/>
                <a:cs typeface="Space Grotesk" pitchFamily="34" charset="-120"/>
              </a:rPr>
              <a:t>Commits that</a:t>
            </a:r>
            <a:endParaRPr lang="en-US" sz="6400" dirty="0"/>
          </a:p>
          <a:p>
            <a:pPr algn="l" indent="0" marL="0">
              <a:lnSpc>
                <a:spcPts val="6720"/>
              </a:lnSpc>
              <a:buNone/>
            </a:pPr>
            <a:r>
              <a:rPr lang="en-US" sz="6400" b="1" i="0" spc="-100" kern="0" dirty="0">
                <a:solidFill>
                  <a:srgbClr val="F6F3EC"/>
                </a:solidFill>
                <a:latin typeface="Space Grotesk" pitchFamily="34" charset="0"/>
                <a:ea typeface="Space Grotesk" pitchFamily="34" charset="-122"/>
                <a:cs typeface="Space Grotesk" pitchFamily="34" charset="-120"/>
              </a:rPr>
              <a:t>release themselves</a:t>
            </a:r>
            <a:endParaRPr lang="en-US" sz="6400" dirty="0"/>
          </a:p>
        </p:txBody>
      </p:sp>
      <p:sp>
        <p:nvSpPr>
          <p:cNvPr id="4" name="Text 2"/>
          <p:cNvSpPr/>
          <p:nvPr/>
        </p:nvSpPr>
        <p:spPr>
          <a:xfrm>
            <a:off x="812800" y="4350960"/>
            <a:ext cx="10883392" cy="434332"/>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A3A9B6"/>
                </a:solidFill>
                <a:latin typeface="Space Grotesk" pitchFamily="34" charset="0"/>
                <a:ea typeface="Space Grotesk" pitchFamily="34" charset="-122"/>
                <a:cs typeface="Space Grotesk" pitchFamily="34" charset="-120"/>
              </a:rPr>
              <a:t>Conventional Commits + Release Please, explained simply</a:t>
            </a:r>
            <a:endParaRPr lang="en-US" sz="2000" dirty="0"/>
          </a:p>
        </p:txBody>
      </p:sp>
      <p:sp>
        <p:nvSpPr>
          <p:cNvPr id="5" name="Text 3"/>
          <p:cNvSpPr/>
          <p:nvPr/>
        </p:nvSpPr>
        <p:spPr>
          <a:xfrm>
            <a:off x="812800" y="5779407"/>
            <a:ext cx="10883392" cy="291193"/>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3A9B6"/>
                </a:solidFill>
                <a:latin typeface="Space Grotesk" pitchFamily="34" charset="0"/>
                <a:ea typeface="Space Grotesk" pitchFamily="34" charset="-122"/>
                <a:cs typeface="Space Grotesk" pitchFamily="34" charset="-120"/>
              </a:rPr>
              <a:t>[Presenter name] · [Team] · [Date]</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The problem: our history tells us nothing</a:t>
            </a:r>
            <a:endParaRPr lang="en-US" sz="3600" dirty="0"/>
          </a:p>
        </p:txBody>
      </p:sp>
      <p:sp>
        <p:nvSpPr>
          <p:cNvPr id="3" name="Shape 1"/>
          <p:cNvSpPr/>
          <p:nvPr/>
        </p:nvSpPr>
        <p:spPr>
          <a:xfrm>
            <a:off x="812800" y="1797541"/>
            <a:ext cx="5384800" cy="3350570"/>
          </a:xfrm>
          <a:prstGeom prst="roundRect">
            <a:avLst>
              <a:gd name="adj" fmla="val 3790"/>
            </a:avLst>
          </a:prstGeom>
          <a:solidFill>
            <a:srgbClr val="15181F"/>
          </a:solidFill>
          <a:ln/>
        </p:spPr>
      </p:sp>
      <p:sp>
        <p:nvSpPr>
          <p:cNvPr id="4" name="Text 2"/>
          <p:cNvSpPr/>
          <p:nvPr/>
        </p:nvSpPr>
        <p:spPr>
          <a:xfrm>
            <a:off x="1117600" y="2102341"/>
            <a:ext cx="4918456" cy="291193"/>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A3A9B6"/>
                </a:solidFill>
                <a:latin typeface="JetBrains Mono" pitchFamily="49" charset="0"/>
                <a:ea typeface="JetBrains Mono" pitchFamily="49" charset="-122"/>
                <a:cs typeface="JetBrains Mono" pitchFamily="49" charset="-120"/>
              </a:rPr>
              <a:t>$ git log --oneline</a:t>
            </a:r>
            <a:endParaRPr lang="en-US" sz="1300" dirty="0"/>
          </a:p>
        </p:txBody>
      </p:sp>
      <p:sp>
        <p:nvSpPr>
          <p:cNvPr id="5" name="Text 3"/>
          <p:cNvSpPr/>
          <p:nvPr/>
        </p:nvSpPr>
        <p:spPr>
          <a:xfrm>
            <a:off x="1117600" y="2495135"/>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a1f3c9e</a:t>
            </a:r>
            <a:r>
              <a:rPr lang="en-US" sz="1800" dirty="0">
                <a:solidFill>
                  <a:srgbClr val="F6F3EC"/>
                </a:solidFill>
                <a:latin typeface="JetBrains Mono" pitchFamily="49" charset="0"/>
                <a:ea typeface="JetBrains Mono" pitchFamily="49" charset="-122"/>
                <a:cs typeface="JetBrains Mono" pitchFamily="49" charset="-120"/>
              </a:rPr>
              <a:t> fixed stuff</a:t>
            </a:r>
            <a:endParaRPr lang="en-US" sz="1800" dirty="0"/>
          </a:p>
        </p:txBody>
      </p:sp>
      <p:sp>
        <p:nvSpPr>
          <p:cNvPr id="6" name="Text 4"/>
          <p:cNvSpPr/>
          <p:nvPr/>
        </p:nvSpPr>
        <p:spPr>
          <a:xfrm>
            <a:off x="1117600" y="2990170"/>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7be2d10</a:t>
            </a:r>
            <a:r>
              <a:rPr lang="en-US" sz="1800" dirty="0">
                <a:solidFill>
                  <a:srgbClr val="F6F3EC"/>
                </a:solidFill>
                <a:latin typeface="JetBrains Mono" pitchFamily="49" charset="0"/>
                <a:ea typeface="JetBrains Mono" pitchFamily="49" charset="-122"/>
                <a:cs typeface="JetBrains Mono" pitchFamily="49" charset="-120"/>
              </a:rPr>
              <a:t> wip</a:t>
            </a:r>
            <a:endParaRPr lang="en-US" sz="1800" dirty="0"/>
          </a:p>
        </p:txBody>
      </p:sp>
      <p:sp>
        <p:nvSpPr>
          <p:cNvPr id="7" name="Text 5"/>
          <p:cNvSpPr/>
          <p:nvPr/>
        </p:nvSpPr>
        <p:spPr>
          <a:xfrm>
            <a:off x="1117600" y="3485205"/>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c09e4a1</a:t>
            </a:r>
            <a:r>
              <a:rPr lang="en-US" sz="1800" dirty="0">
                <a:solidFill>
                  <a:srgbClr val="F6F3EC"/>
                </a:solidFill>
                <a:latin typeface="JetBrains Mono" pitchFamily="49" charset="0"/>
                <a:ea typeface="JetBrains Mono" pitchFamily="49" charset="-122"/>
                <a:cs typeface="JetBrains Mono" pitchFamily="49" charset="-120"/>
              </a:rPr>
              <a:t> updates</a:t>
            </a:r>
            <a:endParaRPr lang="en-US" sz="1800" dirty="0"/>
          </a:p>
        </p:txBody>
      </p:sp>
      <p:sp>
        <p:nvSpPr>
          <p:cNvPr id="8" name="Text 6"/>
          <p:cNvSpPr/>
          <p:nvPr/>
        </p:nvSpPr>
        <p:spPr>
          <a:xfrm>
            <a:off x="1117600" y="3980241"/>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e44b8f2</a:t>
            </a:r>
            <a:r>
              <a:rPr lang="en-US" sz="1800" dirty="0">
                <a:solidFill>
                  <a:srgbClr val="F6F3EC"/>
                </a:solidFill>
                <a:latin typeface="JetBrains Mono" pitchFamily="49" charset="0"/>
                <a:ea typeface="JetBrains Mono" pitchFamily="49" charset="-122"/>
                <a:cs typeface="JetBrains Mono" pitchFamily="49" charset="-120"/>
              </a:rPr>
              <a:t> final final v2</a:t>
            </a:r>
            <a:endParaRPr lang="en-US" sz="1800" dirty="0"/>
          </a:p>
        </p:txBody>
      </p:sp>
      <p:sp>
        <p:nvSpPr>
          <p:cNvPr id="9" name="Text 7"/>
          <p:cNvSpPr/>
          <p:nvPr/>
        </p:nvSpPr>
        <p:spPr>
          <a:xfrm>
            <a:off x="1117600" y="4475276"/>
            <a:ext cx="491845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F8A5C"/>
                </a:solidFill>
                <a:latin typeface="JetBrains Mono" pitchFamily="49" charset="0"/>
                <a:ea typeface="JetBrains Mono" pitchFamily="49" charset="-122"/>
                <a:cs typeface="JetBrains Mono" pitchFamily="49" charset="-120"/>
              </a:rPr>
              <a:t>91ad3c7</a:t>
            </a:r>
            <a:r>
              <a:rPr lang="en-US" sz="1800" dirty="0">
                <a:solidFill>
                  <a:srgbClr val="F6F3EC"/>
                </a:solidFill>
                <a:latin typeface="JetBrains Mono" pitchFamily="49" charset="0"/>
                <a:ea typeface="JetBrains Mono" pitchFamily="49" charset="-122"/>
                <a:cs typeface="JetBrains Mono" pitchFamily="49" charset="-120"/>
              </a:rPr>
              <a:t> pls work</a:t>
            </a:r>
            <a:endParaRPr lang="en-US" sz="1800" dirty="0"/>
          </a:p>
        </p:txBody>
      </p:sp>
      <p:sp>
        <p:nvSpPr>
          <p:cNvPr id="10" name="Text 8"/>
          <p:cNvSpPr/>
          <p:nvPr/>
        </p:nvSpPr>
        <p:spPr>
          <a:xfrm>
            <a:off x="6604000" y="2171889"/>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What changed?</a:t>
            </a:r>
            <a:endParaRPr lang="en-US" sz="2400" dirty="0"/>
          </a:p>
        </p:txBody>
      </p:sp>
      <p:sp>
        <p:nvSpPr>
          <p:cNvPr id="11" name="Text 9"/>
          <p:cNvSpPr/>
          <p:nvPr/>
        </p:nvSpPr>
        <p:spPr>
          <a:xfrm>
            <a:off x="6604000" y="2821101"/>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Will anything break?</a:t>
            </a:r>
            <a:endParaRPr lang="en-US" sz="2400" dirty="0"/>
          </a:p>
        </p:txBody>
      </p:sp>
      <p:sp>
        <p:nvSpPr>
          <p:cNvPr id="12" name="Text 10"/>
          <p:cNvSpPr/>
          <p:nvPr/>
        </p:nvSpPr>
        <p:spPr>
          <a:xfrm>
            <a:off x="6604000" y="3470313"/>
            <a:ext cx="4918456" cy="446012"/>
          </a:xfrm>
          <a:prstGeom prst="rect">
            <a:avLst/>
          </a:prstGeom>
          <a:noFill/>
          <a:ln/>
        </p:spPr>
        <p:txBody>
          <a:bodyPr wrap="square" lIns="0" tIns="0" rIns="0" bIns="0" rtlCol="0" anchor="t">
            <a:normAutofit/>
          </a:bodyPr>
          <a:lstStyle/>
          <a:p>
            <a:pPr algn="l" indent="0" marL="0">
              <a:lnSpc>
                <a:spcPts val="2880"/>
              </a:lnSpc>
              <a:buNone/>
            </a:pPr>
            <a:r>
              <a:rPr lang="en-US" sz="2400" b="1" dirty="0">
                <a:solidFill>
                  <a:srgbClr val="1B1E26"/>
                </a:solidFill>
                <a:latin typeface="Space Grotesk" pitchFamily="34" charset="0"/>
                <a:ea typeface="Space Grotesk" pitchFamily="34" charset="-122"/>
                <a:cs typeface="Space Grotesk" pitchFamily="34" charset="-120"/>
              </a:rPr>
              <a:t>What is the next version?</a:t>
            </a:r>
            <a:endParaRPr lang="en-US" sz="2400" dirty="0"/>
          </a:p>
        </p:txBody>
      </p:sp>
      <p:sp>
        <p:nvSpPr>
          <p:cNvPr id="13" name="Text 11"/>
          <p:cNvSpPr/>
          <p:nvPr/>
        </p:nvSpPr>
        <p:spPr>
          <a:xfrm>
            <a:off x="6604000" y="4119525"/>
            <a:ext cx="4918456" cy="6796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5D6270"/>
                </a:solidFill>
                <a:latin typeface="Space Grotesk" pitchFamily="34" charset="0"/>
                <a:ea typeface="Space Grotesk" pitchFamily="34" charset="-122"/>
                <a:cs typeface="Space Grotesk" pitchFamily="34" charset="-120"/>
              </a:rPr>
              <a:t>Today, answering these means reading code, asking around, and guessing.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8592A"/>
        </a:solidFill>
      </p:bgPr>
    </p:bg>
    <p:spTree>
      <p:nvGrpSpPr>
        <p:cNvPr id="1" name=""/>
        <p:cNvGrpSpPr/>
        <p:nvPr/>
      </p:nvGrpSpPr>
      <p:grpSpPr>
        <a:xfrm>
          <a:off x="0" y="0"/>
          <a:ext cx="0" cy="0"/>
          <a:chOff x="0" y="0"/>
          <a:chExt cx="0" cy="0"/>
        </a:xfrm>
      </p:grpSpPr>
      <p:sp>
        <p:nvSpPr>
          <p:cNvPr id="2" name="Text 0"/>
          <p:cNvSpPr/>
          <p:nvPr/>
        </p:nvSpPr>
        <p:spPr>
          <a:xfrm>
            <a:off x="812800" y="1178871"/>
            <a:ext cx="10883392" cy="352501"/>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5181F"/>
                </a:solidFill>
                <a:latin typeface="JetBrains Mono" pitchFamily="49" charset="0"/>
                <a:ea typeface="JetBrains Mono" pitchFamily="49" charset="-122"/>
                <a:cs typeface="JetBrains Mono" pitchFamily="49" charset="-120"/>
              </a:rPr>
              <a:t>the big idea</a:t>
            </a:r>
            <a:endParaRPr lang="en-US" sz="1600" dirty="0"/>
          </a:p>
        </p:txBody>
      </p:sp>
      <p:sp>
        <p:nvSpPr>
          <p:cNvPr id="3" name="Text 1"/>
          <p:cNvSpPr/>
          <p:nvPr>
            <p:ph type="title"/>
          </p:nvPr>
        </p:nvSpPr>
        <p:spPr>
          <a:xfrm>
            <a:off x="812800" y="1810770"/>
            <a:ext cx="10883392" cy="3179989"/>
          </a:xfrm>
          <a:prstGeom prst="rect">
            <a:avLst/>
          </a:prstGeom>
          <a:noFill/>
          <a:ln/>
        </p:spPr>
        <p:txBody>
          <a:bodyPr wrap="square" lIns="0" tIns="0" rIns="0" bIns="0" rtlCol="0" anchor="t">
            <a:normAutofit/>
          </a:bodyPr>
          <a:lstStyle/>
          <a:p>
            <a:pPr algn="l" indent="0" marL="0">
              <a:lnSpc>
                <a:spcPts val="5400"/>
              </a:lnSpc>
              <a:buNone/>
            </a:pPr>
            <a:r>
              <a:rPr lang="en-US" sz="5000" b="1" i="0" spc="-100" kern="0" dirty="0">
                <a:solidFill>
                  <a:srgbClr val="15181F"/>
                </a:solidFill>
                <a:latin typeface="Space Grotesk" pitchFamily="34" charset="0"/>
                <a:ea typeface="Space Grotesk" pitchFamily="34" charset="-122"/>
                <a:cs typeface="Space Grotesk" pitchFamily="34" charset="-120"/>
              </a:rPr>
              <a:t>Add one word to every commit. Get versions, changelogs, and releases for free.</a:t>
            </a:r>
            <a:endParaRPr lang="en-US" sz="5000" dirty="0"/>
          </a:p>
        </p:txBody>
      </p:sp>
      <p:sp>
        <p:nvSpPr>
          <p:cNvPr id="4" name="Text 2"/>
          <p:cNvSpPr/>
          <p:nvPr/>
        </p:nvSpPr>
        <p:spPr>
          <a:xfrm>
            <a:off x="812800" y="5270160"/>
            <a:ext cx="10883392" cy="434332"/>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5181F"/>
                </a:solidFill>
                <a:latin typeface="Space Grotesk" pitchFamily="34" charset="0"/>
                <a:ea typeface="Space Grotesk" pitchFamily="34" charset="-122"/>
                <a:cs typeface="Space Grotesk" pitchFamily="34" charset="-120"/>
              </a:rPr>
              <a:t>That one word is called the </a:t>
            </a:r>
            <a:r>
              <a:rPr lang="en-US" sz="2000" b="1" dirty="0">
                <a:solidFill>
                  <a:srgbClr val="15181F"/>
                </a:solidFill>
                <a:latin typeface="Space Grotesk" pitchFamily="34" charset="0"/>
                <a:ea typeface="Space Grotesk" pitchFamily="34" charset="-122"/>
                <a:cs typeface="Space Grotesk" pitchFamily="34" charset="-120"/>
              </a:rPr>
              <a:t>type</a:t>
            </a:r>
            <a:r>
              <a:rPr lang="en-US" sz="2000" dirty="0">
                <a:solidFill>
                  <a:srgbClr val="15181F"/>
                </a:solidFill>
                <a:latin typeface="Space Grotesk" pitchFamily="34" charset="0"/>
                <a:ea typeface="Space Grotesk" pitchFamily="34" charset="-122"/>
                <a:cs typeface="Space Grotesk" pitchFamily="34" charset="-120"/>
              </a:rPr>
              <a:t>.</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Anatomy of a conventional commit</a:t>
            </a:r>
            <a:endParaRPr lang="en-US" sz="3600" dirty="0"/>
          </a:p>
        </p:txBody>
      </p:sp>
      <p:sp>
        <p:nvSpPr>
          <p:cNvPr id="3" name="Shape 1"/>
          <p:cNvSpPr/>
          <p:nvPr/>
        </p:nvSpPr>
        <p:spPr>
          <a:xfrm>
            <a:off x="812800" y="1695941"/>
            <a:ext cx="10566400" cy="1957728"/>
          </a:xfrm>
          <a:prstGeom prst="roundRect">
            <a:avLst>
              <a:gd name="adj" fmla="val 6487"/>
            </a:avLst>
          </a:prstGeom>
          <a:solidFill>
            <a:srgbClr val="15181F"/>
          </a:solidFill>
          <a:ln/>
        </p:spPr>
      </p:sp>
      <p:sp>
        <p:nvSpPr>
          <p:cNvPr id="4" name="Text 2"/>
          <p:cNvSpPr/>
          <p:nvPr/>
        </p:nvSpPr>
        <p:spPr>
          <a:xfrm>
            <a:off x="1168400" y="2000741"/>
            <a:ext cx="1015085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8A5C"/>
                </a:solidFill>
                <a:latin typeface="JetBrains Mono" pitchFamily="49" charset="0"/>
                <a:ea typeface="JetBrains Mono" pitchFamily="49" charset="-122"/>
                <a:cs typeface="JetBrains Mono" pitchFamily="49" charset="-120"/>
              </a:rPr>
              <a:t>feat</a:t>
            </a:r>
            <a:r>
              <a:rPr lang="en-US" sz="2400" b="1" dirty="0">
                <a:solidFill>
                  <a:srgbClr val="7FB0FF"/>
                </a:solidFill>
                <a:latin typeface="JetBrains Mono" pitchFamily="49" charset="0"/>
                <a:ea typeface="JetBrains Mono" pitchFamily="49" charset="-122"/>
                <a:cs typeface="JetBrains Mono" pitchFamily="49" charset="-120"/>
              </a:rPr>
              <a:t>(auth)</a:t>
            </a:r>
            <a:r>
              <a:rPr lang="en-US" sz="2400" b="1" dirty="0">
                <a:solidFill>
                  <a:srgbClr val="FFD166"/>
                </a:solidFill>
                <a:latin typeface="JetBrains Mono" pitchFamily="49" charset="0"/>
                <a:ea typeface="JetBrains Mono" pitchFamily="49" charset="-122"/>
                <a:cs typeface="JetBrains Mono" pitchFamily="49" charset="-120"/>
              </a:rPr>
              <a:t>!</a:t>
            </a:r>
            <a:r>
              <a:rPr lang="en-US" sz="2400" b="1" dirty="0">
                <a:solidFill>
                  <a:srgbClr val="F6F3EC"/>
                </a:solidFill>
                <a:latin typeface="JetBrains Mono" pitchFamily="49" charset="0"/>
                <a:ea typeface="JetBrains Mono" pitchFamily="49" charset="-122"/>
                <a:cs typeface="JetBrains Mono" pitchFamily="49" charset="-120"/>
              </a:rPr>
              <a:t>: add SSO login</a:t>
            </a:r>
            <a:endParaRPr lang="en-US" sz="2400" dirty="0"/>
          </a:p>
        </p:txBody>
      </p:sp>
      <p:sp>
        <p:nvSpPr>
          <p:cNvPr id="5" name="Text 3"/>
          <p:cNvSpPr/>
          <p:nvPr/>
        </p:nvSpPr>
        <p:spPr>
          <a:xfrm>
            <a:off x="1168400" y="2593068"/>
            <a:ext cx="10150856"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3A9B6"/>
                </a:solidFill>
                <a:latin typeface="JetBrains Mono" pitchFamily="49" charset="0"/>
                <a:ea typeface="JetBrains Mono" pitchFamily="49" charset="-122"/>
                <a:cs typeface="JetBrains Mono" pitchFamily="49" charset="-120"/>
              </a:rPr>
              <a:t>Users can now sign in with company SSO.</a:t>
            </a:r>
            <a:endParaRPr lang="en-US" sz="1600" dirty="0"/>
          </a:p>
        </p:txBody>
      </p:sp>
      <p:sp>
        <p:nvSpPr>
          <p:cNvPr id="6" name="Text 4"/>
          <p:cNvSpPr/>
          <p:nvPr/>
        </p:nvSpPr>
        <p:spPr>
          <a:xfrm>
            <a:off x="1168400" y="3021769"/>
            <a:ext cx="10150856"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A3A9B6"/>
                </a:solidFill>
                <a:latin typeface="JetBrains Mono" pitchFamily="49" charset="0"/>
                <a:ea typeface="JetBrains Mono" pitchFamily="49" charset="-122"/>
                <a:cs typeface="JetBrains Mono" pitchFamily="49" charset="-120"/>
              </a:rPr>
              <a:t>BREAKING CHANGE: /login now requires a tenant ID</a:t>
            </a:r>
            <a:endParaRPr lang="en-US" sz="1600" dirty="0"/>
          </a:p>
        </p:txBody>
      </p:sp>
      <p:sp>
        <p:nvSpPr>
          <p:cNvPr id="7" name="Shape 5"/>
          <p:cNvSpPr/>
          <p:nvPr/>
        </p:nvSpPr>
        <p:spPr>
          <a:xfrm>
            <a:off x="819150" y="3964820"/>
            <a:ext cx="2514600" cy="1637657"/>
          </a:xfrm>
          <a:prstGeom prst="roundRect">
            <a:avLst>
              <a:gd name="adj" fmla="val 5816"/>
            </a:avLst>
          </a:prstGeom>
          <a:solidFill>
            <a:srgbClr val="FFFDF8"/>
          </a:solidFill>
          <a:ln w="12700">
            <a:solidFill>
              <a:srgbClr val="E2DDD2"/>
            </a:solidFill>
            <a:prstDash val="solid"/>
          </a:ln>
        </p:spPr>
      </p:sp>
      <p:sp>
        <p:nvSpPr>
          <p:cNvPr id="8" name="Text 6"/>
          <p:cNvSpPr/>
          <p:nvPr/>
        </p:nvSpPr>
        <p:spPr>
          <a:xfrm>
            <a:off x="10280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B8441B"/>
                </a:solidFill>
                <a:latin typeface="JetBrains Mono" pitchFamily="49" charset="0"/>
                <a:ea typeface="JetBrains Mono" pitchFamily="49" charset="-122"/>
                <a:cs typeface="JetBrains Mono" pitchFamily="49" charset="-120"/>
              </a:rPr>
              <a:t>feat</a:t>
            </a:r>
            <a:endParaRPr lang="en-US" sz="1800" dirty="0"/>
          </a:p>
        </p:txBody>
      </p:sp>
      <p:sp>
        <p:nvSpPr>
          <p:cNvPr id="9" name="Text 7"/>
          <p:cNvSpPr/>
          <p:nvPr/>
        </p:nvSpPr>
        <p:spPr>
          <a:xfrm>
            <a:off x="1028095" y="4565424"/>
            <a:ext cx="2159611"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The type. What kind of change is this?</a:t>
            </a:r>
            <a:endParaRPr lang="en-US" sz="1400" dirty="0"/>
          </a:p>
        </p:txBody>
      </p:sp>
      <p:sp>
        <p:nvSpPr>
          <p:cNvPr id="10" name="Shape 8"/>
          <p:cNvSpPr/>
          <p:nvPr/>
        </p:nvSpPr>
        <p:spPr>
          <a:xfrm>
            <a:off x="3498850" y="3964820"/>
            <a:ext cx="2514600" cy="1637657"/>
          </a:xfrm>
          <a:prstGeom prst="roundRect">
            <a:avLst>
              <a:gd name="adj" fmla="val 5816"/>
            </a:avLst>
          </a:prstGeom>
          <a:solidFill>
            <a:srgbClr val="FFFDF8"/>
          </a:solidFill>
          <a:ln w="12700">
            <a:solidFill>
              <a:srgbClr val="E2DDD2"/>
            </a:solidFill>
            <a:prstDash val="solid"/>
          </a:ln>
        </p:spPr>
      </p:sp>
      <p:sp>
        <p:nvSpPr>
          <p:cNvPr id="11" name="Text 9"/>
          <p:cNvSpPr/>
          <p:nvPr/>
        </p:nvSpPr>
        <p:spPr>
          <a:xfrm>
            <a:off x="37077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2F62B0"/>
                </a:solidFill>
                <a:latin typeface="JetBrains Mono" pitchFamily="49" charset="0"/>
                <a:ea typeface="JetBrains Mono" pitchFamily="49" charset="-122"/>
                <a:cs typeface="JetBrains Mono" pitchFamily="49" charset="-120"/>
              </a:rPr>
              <a:t>(auth)</a:t>
            </a:r>
            <a:endParaRPr lang="en-US" sz="1800" dirty="0"/>
          </a:p>
        </p:txBody>
      </p:sp>
      <p:sp>
        <p:nvSpPr>
          <p:cNvPr id="12" name="Text 10"/>
          <p:cNvSpPr/>
          <p:nvPr/>
        </p:nvSpPr>
        <p:spPr>
          <a:xfrm>
            <a:off x="37077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Scope. Optional. Which part of the app?</a:t>
            </a:r>
            <a:endParaRPr lang="en-US" sz="1400" dirty="0"/>
          </a:p>
        </p:txBody>
      </p:sp>
      <p:sp>
        <p:nvSpPr>
          <p:cNvPr id="13" name="Shape 11"/>
          <p:cNvSpPr/>
          <p:nvPr/>
        </p:nvSpPr>
        <p:spPr>
          <a:xfrm>
            <a:off x="6178550" y="3964820"/>
            <a:ext cx="2514600" cy="1637657"/>
          </a:xfrm>
          <a:prstGeom prst="roundRect">
            <a:avLst>
              <a:gd name="adj" fmla="val 5816"/>
            </a:avLst>
          </a:prstGeom>
          <a:solidFill>
            <a:srgbClr val="FFFDF8"/>
          </a:solidFill>
          <a:ln w="12700">
            <a:solidFill>
              <a:srgbClr val="E2DDD2"/>
            </a:solidFill>
            <a:prstDash val="solid"/>
          </a:ln>
        </p:spPr>
      </p:sp>
      <p:sp>
        <p:nvSpPr>
          <p:cNvPr id="14" name="Text 12"/>
          <p:cNvSpPr/>
          <p:nvPr/>
        </p:nvSpPr>
        <p:spPr>
          <a:xfrm>
            <a:off x="63874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8A6400"/>
                </a:solidFill>
                <a:latin typeface="JetBrains Mono" pitchFamily="49" charset="0"/>
                <a:ea typeface="JetBrains Mono" pitchFamily="49" charset="-122"/>
                <a:cs typeface="JetBrains Mono" pitchFamily="49" charset="-120"/>
              </a:rPr>
              <a:t>!</a:t>
            </a:r>
            <a:endParaRPr lang="en-US" sz="1800" dirty="0"/>
          </a:p>
        </p:txBody>
      </p:sp>
      <p:sp>
        <p:nvSpPr>
          <p:cNvPr id="15" name="Text 13"/>
          <p:cNvSpPr/>
          <p:nvPr/>
        </p:nvSpPr>
        <p:spPr>
          <a:xfrm>
            <a:off x="63874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Optional. Warns that this breaks something.</a:t>
            </a:r>
            <a:endParaRPr lang="en-US" sz="1400" dirty="0"/>
          </a:p>
        </p:txBody>
      </p:sp>
      <p:sp>
        <p:nvSpPr>
          <p:cNvPr id="16" name="Shape 14"/>
          <p:cNvSpPr/>
          <p:nvPr/>
        </p:nvSpPr>
        <p:spPr>
          <a:xfrm>
            <a:off x="8858250" y="3964820"/>
            <a:ext cx="2514600" cy="1637657"/>
          </a:xfrm>
          <a:prstGeom prst="roundRect">
            <a:avLst>
              <a:gd name="adj" fmla="val 5816"/>
            </a:avLst>
          </a:prstGeom>
          <a:solidFill>
            <a:srgbClr val="FFFDF8"/>
          </a:solidFill>
          <a:ln w="12700">
            <a:solidFill>
              <a:srgbClr val="E2DDD2"/>
            </a:solidFill>
            <a:prstDash val="solid"/>
          </a:ln>
        </p:spPr>
      </p:sp>
      <p:sp>
        <p:nvSpPr>
          <p:cNvPr id="17" name="Text 15"/>
          <p:cNvSpPr/>
          <p:nvPr/>
        </p:nvSpPr>
        <p:spPr>
          <a:xfrm>
            <a:off x="9067195" y="4173765"/>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JetBrains Mono" pitchFamily="49" charset="0"/>
                <a:ea typeface="JetBrains Mono" pitchFamily="49" charset="-122"/>
                <a:cs typeface="JetBrains Mono" pitchFamily="49" charset="-120"/>
              </a:rPr>
              <a:t>: add SSO</a:t>
            </a:r>
            <a:endParaRPr lang="en-US" sz="1800" dirty="0"/>
          </a:p>
        </p:txBody>
      </p:sp>
      <p:sp>
        <p:nvSpPr>
          <p:cNvPr id="18" name="Text 16"/>
          <p:cNvSpPr/>
          <p:nvPr/>
        </p:nvSpPr>
        <p:spPr>
          <a:xfrm>
            <a:off x="9067195" y="4565424"/>
            <a:ext cx="2159611"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1B1E26"/>
                </a:solidFill>
                <a:latin typeface="Space Grotesk" pitchFamily="34" charset="0"/>
                <a:ea typeface="Space Grotesk" pitchFamily="34" charset="-122"/>
                <a:cs typeface="Space Grotesk" pitchFamily="34" charset="-120"/>
              </a:rPr>
              <a:t>A short summary, written like a command.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Read a commit like a sentence</a:t>
            </a:r>
            <a:endParaRPr lang="en-US" sz="3600" dirty="0"/>
          </a:p>
        </p:txBody>
      </p:sp>
      <p:sp>
        <p:nvSpPr>
          <p:cNvPr id="3" name="Shape 1"/>
          <p:cNvSpPr/>
          <p:nvPr/>
        </p:nvSpPr>
        <p:spPr>
          <a:xfrm>
            <a:off x="812800" y="1645143"/>
            <a:ext cx="10566400" cy="1329720"/>
          </a:xfrm>
          <a:prstGeom prst="roundRect">
            <a:avLst>
              <a:gd name="adj" fmla="val 9551"/>
            </a:avLst>
          </a:prstGeom>
          <a:solidFill>
            <a:srgbClr val="15181F"/>
          </a:solidFill>
          <a:ln/>
        </p:spPr>
      </p:sp>
      <p:sp>
        <p:nvSpPr>
          <p:cNvPr id="4" name="Text 2"/>
          <p:cNvSpPr/>
          <p:nvPr/>
        </p:nvSpPr>
        <p:spPr>
          <a:xfrm>
            <a:off x="1117600" y="1848343"/>
            <a:ext cx="10255504" cy="586241"/>
          </a:xfrm>
          <a:prstGeom prst="rect">
            <a:avLst/>
          </a:prstGeom>
          <a:noFill/>
          <a:ln/>
        </p:spPr>
        <p:txBody>
          <a:bodyPr wrap="square" lIns="0" tIns="0" rIns="0" bIns="0" rtlCol="0" anchor="t">
            <a:normAutofit/>
          </a:bodyPr>
          <a:lstStyle/>
          <a:p>
            <a:pPr algn="l" indent="0" marL="0">
              <a:lnSpc>
                <a:spcPts val="3840"/>
              </a:lnSpc>
              <a:buNone/>
            </a:pPr>
            <a:r>
              <a:rPr lang="en-US" sz="3200" b="1" dirty="0">
                <a:solidFill>
                  <a:srgbClr val="FF8A5C"/>
                </a:solidFill>
                <a:latin typeface="JetBrains Mono" pitchFamily="49" charset="0"/>
                <a:ea typeface="JetBrains Mono" pitchFamily="49" charset="-122"/>
                <a:cs typeface="JetBrains Mono" pitchFamily="49" charset="-120"/>
              </a:rPr>
              <a:t>feat</a:t>
            </a:r>
            <a:r>
              <a:rPr lang="en-US" sz="3200" b="1" dirty="0">
                <a:solidFill>
                  <a:srgbClr val="7FB0FF"/>
                </a:solidFill>
                <a:latin typeface="JetBrains Mono" pitchFamily="49" charset="0"/>
                <a:ea typeface="JetBrains Mono" pitchFamily="49" charset="-122"/>
                <a:cs typeface="JetBrains Mono" pitchFamily="49" charset="-120"/>
              </a:rPr>
              <a:t>(api)</a:t>
            </a:r>
            <a:r>
              <a:rPr lang="en-US" sz="3200" b="1" dirty="0">
                <a:solidFill>
                  <a:srgbClr val="FFD166"/>
                </a:solidFill>
                <a:latin typeface="JetBrains Mono" pitchFamily="49" charset="0"/>
                <a:ea typeface="JetBrains Mono" pitchFamily="49" charset="-122"/>
                <a:cs typeface="JetBrains Mono" pitchFamily="49" charset="-120"/>
              </a:rPr>
              <a:t>!</a:t>
            </a:r>
            <a:r>
              <a:rPr lang="en-US" sz="3200" b="1" dirty="0">
                <a:solidFill>
                  <a:srgbClr val="F6F3EC"/>
                </a:solidFill>
                <a:latin typeface="JetBrains Mono" pitchFamily="49" charset="0"/>
                <a:ea typeface="JetBrains Mono" pitchFamily="49" charset="-122"/>
                <a:cs typeface="JetBrains Mono" pitchFamily="49" charset="-120"/>
              </a:rPr>
              <a:t>: remove v1 endpoints</a:t>
            </a:r>
            <a:endParaRPr lang="en-US" sz="3200" dirty="0"/>
          </a:p>
        </p:txBody>
      </p:sp>
      <p:sp>
        <p:nvSpPr>
          <p:cNvPr id="5" name="Text 3"/>
          <p:cNvSpPr/>
          <p:nvPr/>
        </p:nvSpPr>
        <p:spPr>
          <a:xfrm>
            <a:off x="1117600" y="2485383"/>
            <a:ext cx="10255504"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A3A9B6"/>
                </a:solidFill>
                <a:latin typeface="Space Grotesk" pitchFamily="34" charset="0"/>
                <a:ea typeface="Space Grotesk" pitchFamily="34" charset="-122"/>
                <a:cs typeface="Space Grotesk" pitchFamily="34" charset="-120"/>
              </a:rPr>
              <a:t>Say it out loud: "A new API feature, and heads up, it breaks things: we removed the v1 endpoints."</a:t>
            </a:r>
            <a:endParaRPr lang="en-US" sz="1400" dirty="0"/>
          </a:p>
        </p:txBody>
      </p:sp>
      <p:sp>
        <p:nvSpPr>
          <p:cNvPr id="6" name="Shape 4"/>
          <p:cNvSpPr/>
          <p:nvPr/>
        </p:nvSpPr>
        <p:spPr>
          <a:xfrm>
            <a:off x="819150" y="3235213"/>
            <a:ext cx="2514600" cy="2765576"/>
          </a:xfrm>
          <a:prstGeom prst="roundRect">
            <a:avLst>
              <a:gd name="adj" fmla="val 3788"/>
            </a:avLst>
          </a:prstGeom>
          <a:solidFill>
            <a:srgbClr val="FFFDF8"/>
          </a:solidFill>
          <a:ln w="12700">
            <a:solidFill>
              <a:srgbClr val="E2DDD2"/>
            </a:solidFill>
            <a:prstDash val="solid"/>
          </a:ln>
        </p:spPr>
      </p:sp>
      <p:sp>
        <p:nvSpPr>
          <p:cNvPr id="7" name="Text 5"/>
          <p:cNvSpPr/>
          <p:nvPr/>
        </p:nvSpPr>
        <p:spPr>
          <a:xfrm>
            <a:off x="10280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feat</a:t>
            </a:r>
            <a:endParaRPr lang="en-US" sz="2000" dirty="0"/>
          </a:p>
        </p:txBody>
      </p:sp>
      <p:sp>
        <p:nvSpPr>
          <p:cNvPr id="8" name="Text 6"/>
          <p:cNvSpPr/>
          <p:nvPr/>
        </p:nvSpPr>
        <p:spPr>
          <a:xfrm>
            <a:off x="10280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Verb</a:t>
            </a:r>
            <a:endParaRPr lang="en-US" sz="1800" dirty="0"/>
          </a:p>
        </p:txBody>
      </p:sp>
      <p:sp>
        <p:nvSpPr>
          <p:cNvPr id="9" name="Text 7"/>
          <p:cNvSpPr/>
          <p:nvPr/>
        </p:nvSpPr>
        <p:spPr>
          <a:xfrm>
            <a:off x="1028095" y="4320949"/>
            <a:ext cx="2159611" cy="53801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The action. What kind of change is this?</a:t>
            </a:r>
            <a:endParaRPr lang="en-US" sz="1300" dirty="0"/>
          </a:p>
        </p:txBody>
      </p:sp>
      <p:sp>
        <p:nvSpPr>
          <p:cNvPr id="10" name="Text 8"/>
          <p:cNvSpPr/>
          <p:nvPr/>
        </p:nvSpPr>
        <p:spPr>
          <a:xfrm>
            <a:off x="1028095" y="4909759"/>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picks the version bump.</a:t>
            </a:r>
            <a:endParaRPr lang="en-US" sz="1200" dirty="0"/>
          </a:p>
        </p:txBody>
      </p:sp>
      <p:sp>
        <p:nvSpPr>
          <p:cNvPr id="11" name="Shape 9"/>
          <p:cNvSpPr/>
          <p:nvPr/>
        </p:nvSpPr>
        <p:spPr>
          <a:xfrm>
            <a:off x="3498850" y="3235213"/>
            <a:ext cx="2514600" cy="2765576"/>
          </a:xfrm>
          <a:prstGeom prst="roundRect">
            <a:avLst>
              <a:gd name="adj" fmla="val 3788"/>
            </a:avLst>
          </a:prstGeom>
          <a:solidFill>
            <a:srgbClr val="FFFDF8"/>
          </a:solidFill>
          <a:ln w="12700">
            <a:solidFill>
              <a:srgbClr val="E2DDD2"/>
            </a:solidFill>
            <a:prstDash val="solid"/>
          </a:ln>
        </p:spPr>
      </p:sp>
      <p:sp>
        <p:nvSpPr>
          <p:cNvPr id="12" name="Text 10"/>
          <p:cNvSpPr/>
          <p:nvPr/>
        </p:nvSpPr>
        <p:spPr>
          <a:xfrm>
            <a:off x="37077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2F62B0"/>
                </a:solidFill>
                <a:latin typeface="JetBrains Mono" pitchFamily="49" charset="0"/>
                <a:ea typeface="JetBrains Mono" pitchFamily="49" charset="-122"/>
                <a:cs typeface="JetBrains Mono" pitchFamily="49" charset="-120"/>
              </a:rPr>
              <a:t>(api)</a:t>
            </a:r>
            <a:endParaRPr lang="en-US" sz="2000" dirty="0"/>
          </a:p>
        </p:txBody>
      </p:sp>
      <p:sp>
        <p:nvSpPr>
          <p:cNvPr id="13" name="Text 11"/>
          <p:cNvSpPr/>
          <p:nvPr/>
        </p:nvSpPr>
        <p:spPr>
          <a:xfrm>
            <a:off x="37077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Adjective</a:t>
            </a:r>
            <a:endParaRPr lang="en-US" sz="1800" dirty="0"/>
          </a:p>
        </p:txBody>
      </p:sp>
      <p:sp>
        <p:nvSpPr>
          <p:cNvPr id="14" name="Text 12"/>
          <p:cNvSpPr/>
          <p:nvPr/>
        </p:nvSpPr>
        <p:spPr>
          <a:xfrm>
            <a:off x="3707795" y="4320949"/>
            <a:ext cx="2159611" cy="79431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Describes which part. Not just a feature, an API feature.</a:t>
            </a:r>
            <a:endParaRPr lang="en-US" sz="1300" dirty="0"/>
          </a:p>
        </p:txBody>
      </p:sp>
      <p:sp>
        <p:nvSpPr>
          <p:cNvPr id="15" name="Text 13"/>
          <p:cNvSpPr/>
          <p:nvPr/>
        </p:nvSpPr>
        <p:spPr>
          <a:xfrm>
            <a:off x="3707795" y="5166066"/>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labels the changelog entry.</a:t>
            </a:r>
            <a:endParaRPr lang="en-US" sz="1200" dirty="0"/>
          </a:p>
        </p:txBody>
      </p:sp>
      <p:sp>
        <p:nvSpPr>
          <p:cNvPr id="16" name="Shape 14"/>
          <p:cNvSpPr/>
          <p:nvPr/>
        </p:nvSpPr>
        <p:spPr>
          <a:xfrm>
            <a:off x="6178550" y="3235213"/>
            <a:ext cx="2514600" cy="2765576"/>
          </a:xfrm>
          <a:prstGeom prst="roundRect">
            <a:avLst>
              <a:gd name="adj" fmla="val 3788"/>
            </a:avLst>
          </a:prstGeom>
          <a:solidFill>
            <a:srgbClr val="FFFDF8"/>
          </a:solidFill>
          <a:ln w="12700">
            <a:solidFill>
              <a:srgbClr val="E2DDD2"/>
            </a:solidFill>
            <a:prstDash val="solid"/>
          </a:ln>
        </p:spPr>
      </p:sp>
      <p:sp>
        <p:nvSpPr>
          <p:cNvPr id="17" name="Text 15"/>
          <p:cNvSpPr/>
          <p:nvPr/>
        </p:nvSpPr>
        <p:spPr>
          <a:xfrm>
            <a:off x="6387495" y="3444159"/>
            <a:ext cx="2159611"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8A6400"/>
                </a:solidFill>
                <a:latin typeface="JetBrains Mono" pitchFamily="49" charset="0"/>
                <a:ea typeface="JetBrains Mono" pitchFamily="49" charset="-122"/>
                <a:cs typeface="JetBrains Mono" pitchFamily="49" charset="-120"/>
              </a:rPr>
              <a:t>!</a:t>
            </a:r>
            <a:endParaRPr lang="en-US" sz="2000" dirty="0"/>
          </a:p>
        </p:txBody>
      </p:sp>
      <p:sp>
        <p:nvSpPr>
          <p:cNvPr id="18" name="Text 16"/>
          <p:cNvSpPr/>
          <p:nvPr/>
        </p:nvSpPr>
        <p:spPr>
          <a:xfrm>
            <a:off x="6387495" y="3929289"/>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Exclamation</a:t>
            </a:r>
            <a:endParaRPr lang="en-US" sz="1800" dirty="0"/>
          </a:p>
        </p:txBody>
      </p:sp>
      <p:sp>
        <p:nvSpPr>
          <p:cNvPr id="19" name="Text 17"/>
          <p:cNvSpPr/>
          <p:nvPr/>
        </p:nvSpPr>
        <p:spPr>
          <a:xfrm>
            <a:off x="6387495" y="4320949"/>
            <a:ext cx="2159611" cy="794317"/>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Raises its voice. Careful, this breaks things.</a:t>
            </a:r>
            <a:endParaRPr lang="en-US" sz="1300" dirty="0"/>
          </a:p>
        </p:txBody>
      </p:sp>
      <p:sp>
        <p:nvSpPr>
          <p:cNvPr id="20" name="Text 18"/>
          <p:cNvSpPr/>
          <p:nvPr/>
        </p:nvSpPr>
        <p:spPr>
          <a:xfrm>
            <a:off x="6387495" y="5166066"/>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forces a major version.</a:t>
            </a:r>
            <a:endParaRPr lang="en-US" sz="1200" dirty="0"/>
          </a:p>
        </p:txBody>
      </p:sp>
      <p:sp>
        <p:nvSpPr>
          <p:cNvPr id="21" name="Shape 19"/>
          <p:cNvSpPr/>
          <p:nvPr/>
        </p:nvSpPr>
        <p:spPr>
          <a:xfrm>
            <a:off x="8858250" y="3235213"/>
            <a:ext cx="2514600" cy="2765576"/>
          </a:xfrm>
          <a:prstGeom prst="roundRect">
            <a:avLst>
              <a:gd name="adj" fmla="val 3788"/>
            </a:avLst>
          </a:prstGeom>
          <a:solidFill>
            <a:srgbClr val="FFFDF8"/>
          </a:solidFill>
          <a:ln w="12700">
            <a:solidFill>
              <a:srgbClr val="E2DDD2"/>
            </a:solidFill>
            <a:prstDash val="solid"/>
          </a:ln>
        </p:spPr>
      </p:sp>
      <p:sp>
        <p:nvSpPr>
          <p:cNvPr id="22" name="Text 20"/>
          <p:cNvSpPr/>
          <p:nvPr/>
        </p:nvSpPr>
        <p:spPr>
          <a:xfrm>
            <a:off x="9067195" y="3444159"/>
            <a:ext cx="2159611" cy="843265"/>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B1E26"/>
                </a:solidFill>
                <a:latin typeface="JetBrains Mono" pitchFamily="49" charset="0"/>
                <a:ea typeface="JetBrains Mono" pitchFamily="49" charset="-122"/>
                <a:cs typeface="JetBrains Mono" pitchFamily="49" charset="-120"/>
              </a:rPr>
              <a:t>remove v1 endpoints</a:t>
            </a:r>
            <a:endParaRPr lang="en-US" sz="2000" dirty="0"/>
          </a:p>
        </p:txBody>
      </p:sp>
      <p:sp>
        <p:nvSpPr>
          <p:cNvPr id="23" name="Text 21"/>
          <p:cNvSpPr/>
          <p:nvPr/>
        </p:nvSpPr>
        <p:spPr>
          <a:xfrm>
            <a:off x="9067195" y="4338222"/>
            <a:ext cx="2159611"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B1E26"/>
                </a:solidFill>
                <a:latin typeface="Space Grotesk" pitchFamily="34" charset="0"/>
                <a:ea typeface="Space Grotesk" pitchFamily="34" charset="-122"/>
                <a:cs typeface="Space Grotesk" pitchFamily="34" charset="-120"/>
              </a:rPr>
              <a:t>Object</a:t>
            </a:r>
            <a:endParaRPr lang="en-US" sz="1800" dirty="0"/>
          </a:p>
        </p:txBody>
      </p:sp>
      <p:sp>
        <p:nvSpPr>
          <p:cNvPr id="24" name="Text 22"/>
          <p:cNvSpPr/>
          <p:nvPr/>
        </p:nvSpPr>
        <p:spPr>
          <a:xfrm>
            <a:off x="9067195" y="4729882"/>
            <a:ext cx="2159611" cy="538011"/>
          </a:xfrm>
          <a:prstGeom prst="rect">
            <a:avLst/>
          </a:prstGeom>
          <a:noFill/>
          <a:ln/>
        </p:spPr>
        <p:txBody>
          <a:bodyPr wrap="square" lIns="0" tIns="0" rIns="0" bIns="0" rtlCol="0" anchor="t">
            <a:normAutofit/>
          </a:bodyPr>
          <a:lstStyle/>
          <a:p>
            <a:pPr algn="l" indent="0" marL="0">
              <a:lnSpc>
                <a:spcPts val="1755"/>
              </a:lnSpc>
              <a:buNone/>
            </a:pPr>
            <a:r>
              <a:rPr lang="en-US" sz="1300" dirty="0">
                <a:solidFill>
                  <a:srgbClr val="1B1E26"/>
                </a:solidFill>
                <a:latin typeface="Space Grotesk" pitchFamily="34" charset="0"/>
                <a:ea typeface="Space Grotesk" pitchFamily="34" charset="-122"/>
                <a:cs typeface="Space Grotesk" pitchFamily="34" charset="-120"/>
              </a:rPr>
              <a:t>The details. What actually changed.</a:t>
            </a:r>
            <a:endParaRPr lang="en-US" sz="1300" dirty="0"/>
          </a:p>
        </p:txBody>
      </p:sp>
      <p:sp>
        <p:nvSpPr>
          <p:cNvPr id="25" name="Text 23"/>
          <p:cNvSpPr/>
          <p:nvPr/>
        </p:nvSpPr>
        <p:spPr>
          <a:xfrm>
            <a:off x="9067195" y="5318692"/>
            <a:ext cx="2159611" cy="498551"/>
          </a:xfrm>
          <a:prstGeom prst="rect">
            <a:avLst/>
          </a:prstGeom>
          <a:noFill/>
          <a:ln/>
        </p:spPr>
        <p:txBody>
          <a:bodyPr wrap="square" lIns="0" tIns="0" rIns="0" bIns="0" rtlCol="0" anchor="t">
            <a:normAutofit/>
          </a:bodyPr>
          <a:lstStyle/>
          <a:p>
            <a:pPr algn="l" indent="0" marL="0">
              <a:lnSpc>
                <a:spcPts val="1620"/>
              </a:lnSpc>
              <a:buNone/>
            </a:pPr>
            <a:r>
              <a:rPr lang="en-US" sz="1200" b="1" dirty="0">
                <a:solidFill>
                  <a:srgbClr val="5D6270"/>
                </a:solidFill>
                <a:latin typeface="Space Grotesk" pitchFamily="34" charset="0"/>
                <a:ea typeface="Space Grotesk" pitchFamily="34" charset="-122"/>
                <a:cs typeface="Space Grotesk" pitchFamily="34" charset="-120"/>
              </a:rPr>
              <a:t>Robot reads:</a:t>
            </a:r>
            <a:r>
              <a:rPr lang="en-US" sz="1200" dirty="0">
                <a:solidFill>
                  <a:srgbClr val="5D6270"/>
                </a:solidFill>
                <a:latin typeface="Space Grotesk" pitchFamily="34" charset="0"/>
                <a:ea typeface="Space Grotesk" pitchFamily="34" charset="-122"/>
                <a:cs typeface="Space Grotesk" pitchFamily="34" charset="-120"/>
              </a:rPr>
              <a:t> becomes the changelog line.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The type decides the version number</a:t>
            </a:r>
            <a:endParaRPr lang="en-US" sz="3600" dirty="0"/>
          </a:p>
        </p:txBody>
      </p:sp>
      <p:sp>
        <p:nvSpPr>
          <p:cNvPr id="3" name="Shape 1"/>
          <p:cNvSpPr/>
          <p:nvPr/>
        </p:nvSpPr>
        <p:spPr>
          <a:xfrm>
            <a:off x="819150" y="1702293"/>
            <a:ext cx="3415884" cy="2837467"/>
          </a:xfrm>
          <a:prstGeom prst="roundRect">
            <a:avLst>
              <a:gd name="adj" fmla="val 4252"/>
            </a:avLst>
          </a:prstGeom>
          <a:solidFill>
            <a:srgbClr val="FFFDF8"/>
          </a:solidFill>
          <a:ln w="12700">
            <a:solidFill>
              <a:srgbClr val="E2DDD2"/>
            </a:solidFill>
            <a:prstDash val="solid"/>
          </a:ln>
        </p:spPr>
      </p:sp>
      <p:sp>
        <p:nvSpPr>
          <p:cNvPr id="4" name="Text 2"/>
          <p:cNvSpPr/>
          <p:nvPr/>
        </p:nvSpPr>
        <p:spPr>
          <a:xfrm>
            <a:off x="1078895" y="1962038"/>
            <a:ext cx="298328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1B1E26"/>
                </a:solidFill>
                <a:latin typeface="JetBrains Mono" pitchFamily="49" charset="0"/>
                <a:ea typeface="JetBrains Mono" pitchFamily="49" charset="-122"/>
                <a:cs typeface="JetBrains Mono" pitchFamily="49" charset="-120"/>
              </a:rPr>
              <a:t>fix:</a:t>
            </a:r>
            <a:endParaRPr lang="en-US" sz="2400" dirty="0"/>
          </a:p>
        </p:txBody>
      </p:sp>
      <p:sp>
        <p:nvSpPr>
          <p:cNvPr id="5" name="Text 3"/>
          <p:cNvSpPr/>
          <p:nvPr/>
        </p:nvSpPr>
        <p:spPr>
          <a:xfrm>
            <a:off x="1078895" y="2554365"/>
            <a:ext cx="2983286"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2F62B0"/>
                </a:solidFill>
                <a:latin typeface="Space Grotesk" pitchFamily="34" charset="0"/>
                <a:ea typeface="Space Grotesk" pitchFamily="34" charset="-122"/>
                <a:cs typeface="Space Grotesk" pitchFamily="34" charset="-120"/>
              </a:rPr>
              <a:t>PATCH</a:t>
            </a:r>
            <a:endParaRPr lang="en-US" sz="2000" dirty="0"/>
          </a:p>
        </p:txBody>
      </p:sp>
      <p:sp>
        <p:nvSpPr>
          <p:cNvPr id="6" name="Text 4"/>
          <p:cNvSpPr/>
          <p:nvPr/>
        </p:nvSpPr>
        <p:spPr>
          <a:xfrm>
            <a:off x="1078895" y="3006461"/>
            <a:ext cx="298328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1E26"/>
                </a:solidFill>
                <a:latin typeface="JetBrains Mono" pitchFamily="49" charset="0"/>
                <a:ea typeface="JetBrains Mono" pitchFamily="49" charset="-122"/>
                <a:cs typeface="JetBrains Mono" pitchFamily="49" charset="-120"/>
              </a:rPr>
              <a:t>2.4.1 → 2.4.</a:t>
            </a:r>
            <a:r>
              <a:rPr lang="en-US" sz="1800" b="1" dirty="0">
                <a:solidFill>
                  <a:srgbClr val="1B1E26"/>
                </a:solidFill>
                <a:latin typeface="JetBrains Mono" pitchFamily="49" charset="0"/>
                <a:ea typeface="JetBrains Mono" pitchFamily="49" charset="-122"/>
                <a:cs typeface="JetBrains Mono" pitchFamily="49" charset="-120"/>
              </a:rPr>
              <a:t>2</a:t>
            </a:r>
            <a:endParaRPr lang="en-US" sz="1800" dirty="0"/>
          </a:p>
        </p:txBody>
      </p:sp>
      <p:sp>
        <p:nvSpPr>
          <p:cNvPr id="7" name="Text 5"/>
          <p:cNvSpPr/>
          <p:nvPr/>
        </p:nvSpPr>
        <p:spPr>
          <a:xfrm>
            <a:off x="1078895" y="3476098"/>
            <a:ext cx="2983286"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A bug fix. Nothing new to learn.</a:t>
            </a:r>
            <a:endParaRPr lang="en-US" sz="1400" dirty="0"/>
          </a:p>
        </p:txBody>
      </p:sp>
      <p:sp>
        <p:nvSpPr>
          <p:cNvPr id="8" name="Shape 6"/>
          <p:cNvSpPr/>
          <p:nvPr/>
        </p:nvSpPr>
        <p:spPr>
          <a:xfrm>
            <a:off x="4400134" y="1702293"/>
            <a:ext cx="3415922" cy="2837467"/>
          </a:xfrm>
          <a:prstGeom prst="roundRect">
            <a:avLst>
              <a:gd name="adj" fmla="val 4252"/>
            </a:avLst>
          </a:prstGeom>
          <a:solidFill>
            <a:srgbClr val="FFFDF8"/>
          </a:solidFill>
          <a:ln w="12700">
            <a:solidFill>
              <a:srgbClr val="E2DDD2"/>
            </a:solidFill>
            <a:prstDash val="solid"/>
          </a:ln>
        </p:spPr>
      </p:sp>
      <p:sp>
        <p:nvSpPr>
          <p:cNvPr id="9" name="Text 7"/>
          <p:cNvSpPr/>
          <p:nvPr/>
        </p:nvSpPr>
        <p:spPr>
          <a:xfrm>
            <a:off x="4659880" y="1962038"/>
            <a:ext cx="2983324"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1B1E26"/>
                </a:solidFill>
                <a:latin typeface="JetBrains Mono" pitchFamily="49" charset="0"/>
                <a:ea typeface="JetBrains Mono" pitchFamily="49" charset="-122"/>
                <a:cs typeface="JetBrains Mono" pitchFamily="49" charset="-120"/>
              </a:rPr>
              <a:t>feat:</a:t>
            </a:r>
            <a:endParaRPr lang="en-US" sz="2400" dirty="0"/>
          </a:p>
        </p:txBody>
      </p:sp>
      <p:sp>
        <p:nvSpPr>
          <p:cNvPr id="10" name="Text 8"/>
          <p:cNvSpPr/>
          <p:nvPr/>
        </p:nvSpPr>
        <p:spPr>
          <a:xfrm>
            <a:off x="4659880" y="2554365"/>
            <a:ext cx="2983324"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2F62B0"/>
                </a:solidFill>
                <a:latin typeface="Space Grotesk" pitchFamily="34" charset="0"/>
                <a:ea typeface="Space Grotesk" pitchFamily="34" charset="-122"/>
                <a:cs typeface="Space Grotesk" pitchFamily="34" charset="-120"/>
              </a:rPr>
              <a:t>MINOR</a:t>
            </a:r>
            <a:endParaRPr lang="en-US" sz="2000" dirty="0"/>
          </a:p>
        </p:txBody>
      </p:sp>
      <p:sp>
        <p:nvSpPr>
          <p:cNvPr id="11" name="Text 9"/>
          <p:cNvSpPr/>
          <p:nvPr/>
        </p:nvSpPr>
        <p:spPr>
          <a:xfrm>
            <a:off x="4659880" y="3006461"/>
            <a:ext cx="2983324"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1B1E26"/>
                </a:solidFill>
                <a:latin typeface="JetBrains Mono" pitchFamily="49" charset="0"/>
                <a:ea typeface="JetBrains Mono" pitchFamily="49" charset="-122"/>
                <a:cs typeface="JetBrains Mono" pitchFamily="49" charset="-120"/>
              </a:rPr>
              <a:t>2.4.1 → 2.</a:t>
            </a:r>
            <a:r>
              <a:rPr lang="en-US" sz="1800" b="1" dirty="0">
                <a:solidFill>
                  <a:srgbClr val="1B1E26"/>
                </a:solidFill>
                <a:latin typeface="JetBrains Mono" pitchFamily="49" charset="0"/>
                <a:ea typeface="JetBrains Mono" pitchFamily="49" charset="-122"/>
                <a:cs typeface="JetBrains Mono" pitchFamily="49" charset="-120"/>
              </a:rPr>
              <a:t>5</a:t>
            </a:r>
            <a:r>
              <a:rPr lang="en-US" sz="1800" dirty="0">
                <a:solidFill>
                  <a:srgbClr val="1B1E26"/>
                </a:solidFill>
                <a:latin typeface="JetBrains Mono" pitchFamily="49" charset="0"/>
                <a:ea typeface="JetBrains Mono" pitchFamily="49" charset="-122"/>
                <a:cs typeface="JetBrains Mono" pitchFamily="49" charset="-120"/>
              </a:rPr>
              <a:t>.0</a:t>
            </a:r>
            <a:endParaRPr lang="en-US" sz="1800" dirty="0"/>
          </a:p>
        </p:txBody>
      </p:sp>
      <p:sp>
        <p:nvSpPr>
          <p:cNvPr id="12" name="Text 10"/>
          <p:cNvSpPr/>
          <p:nvPr/>
        </p:nvSpPr>
        <p:spPr>
          <a:xfrm>
            <a:off x="4659880" y="3476098"/>
            <a:ext cx="2983324"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A new feature. Everything old still works.</a:t>
            </a:r>
            <a:endParaRPr lang="en-US" sz="1400" dirty="0"/>
          </a:p>
        </p:txBody>
      </p:sp>
      <p:sp>
        <p:nvSpPr>
          <p:cNvPr id="13" name="Shape 11"/>
          <p:cNvSpPr/>
          <p:nvPr/>
        </p:nvSpPr>
        <p:spPr>
          <a:xfrm>
            <a:off x="7974806" y="1695943"/>
            <a:ext cx="3404394" cy="2850167"/>
          </a:xfrm>
          <a:prstGeom prst="roundRect">
            <a:avLst>
              <a:gd name="adj" fmla="val 4456"/>
            </a:avLst>
          </a:prstGeom>
          <a:solidFill>
            <a:srgbClr val="15181F"/>
          </a:solidFill>
          <a:ln/>
        </p:spPr>
      </p:sp>
      <p:sp>
        <p:nvSpPr>
          <p:cNvPr id="14" name="Text 12"/>
          <p:cNvSpPr/>
          <p:nvPr/>
        </p:nvSpPr>
        <p:spPr>
          <a:xfrm>
            <a:off x="8228806" y="1949943"/>
            <a:ext cx="2983286" cy="516126"/>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F8A5C"/>
                </a:solidFill>
                <a:latin typeface="JetBrains Mono" pitchFamily="49" charset="0"/>
                <a:ea typeface="JetBrains Mono" pitchFamily="49" charset="-122"/>
                <a:cs typeface="JetBrains Mono" pitchFamily="49" charset="-120"/>
              </a:rPr>
              <a:t>feat!:</a:t>
            </a:r>
            <a:endParaRPr lang="en-US" sz="2400" dirty="0"/>
          </a:p>
        </p:txBody>
      </p:sp>
      <p:sp>
        <p:nvSpPr>
          <p:cNvPr id="15" name="Text 13"/>
          <p:cNvSpPr/>
          <p:nvPr/>
        </p:nvSpPr>
        <p:spPr>
          <a:xfrm>
            <a:off x="8228806" y="2542270"/>
            <a:ext cx="2983286" cy="375897"/>
          </a:xfrm>
          <a:prstGeom prst="rect">
            <a:avLst/>
          </a:prstGeom>
          <a:noFill/>
          <a:ln/>
        </p:spPr>
        <p:txBody>
          <a:bodyPr wrap="square" lIns="0" tIns="0" rIns="0" bIns="0" rtlCol="0" anchor="t">
            <a:normAutofit/>
          </a:bodyPr>
          <a:lstStyle/>
          <a:p>
            <a:pPr algn="l" indent="0" marL="0">
              <a:lnSpc>
                <a:spcPts val="2400"/>
              </a:lnSpc>
              <a:buNone/>
            </a:pPr>
            <a:r>
              <a:rPr lang="en-US" sz="2000" b="1" spc="100" kern="0" dirty="0">
                <a:solidFill>
                  <a:srgbClr val="FF8A5C"/>
                </a:solidFill>
                <a:latin typeface="Space Grotesk" pitchFamily="34" charset="0"/>
                <a:ea typeface="Space Grotesk" pitchFamily="34" charset="-122"/>
                <a:cs typeface="Space Grotesk" pitchFamily="34" charset="-120"/>
              </a:rPr>
              <a:t>MAJOR</a:t>
            </a:r>
            <a:endParaRPr lang="en-US" sz="2000" dirty="0"/>
          </a:p>
        </p:txBody>
      </p:sp>
      <p:sp>
        <p:nvSpPr>
          <p:cNvPr id="16" name="Text 14"/>
          <p:cNvSpPr/>
          <p:nvPr/>
        </p:nvSpPr>
        <p:spPr>
          <a:xfrm>
            <a:off x="8228806" y="2994366"/>
            <a:ext cx="2983286"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F6F3EC"/>
                </a:solidFill>
                <a:latin typeface="JetBrains Mono" pitchFamily="49" charset="0"/>
                <a:ea typeface="JetBrains Mono" pitchFamily="49" charset="-122"/>
                <a:cs typeface="JetBrains Mono" pitchFamily="49" charset="-120"/>
              </a:rPr>
              <a:t>2.4.1 → </a:t>
            </a:r>
            <a:r>
              <a:rPr lang="en-US" sz="1800" b="1" dirty="0">
                <a:solidFill>
                  <a:srgbClr val="F6F3EC"/>
                </a:solidFill>
                <a:latin typeface="JetBrains Mono" pitchFamily="49" charset="0"/>
                <a:ea typeface="JetBrains Mono" pitchFamily="49" charset="-122"/>
                <a:cs typeface="JetBrains Mono" pitchFamily="49" charset="-120"/>
              </a:rPr>
              <a:t>3</a:t>
            </a:r>
            <a:r>
              <a:rPr lang="en-US" sz="1800" dirty="0">
                <a:solidFill>
                  <a:srgbClr val="F6F3EC"/>
                </a:solidFill>
                <a:latin typeface="JetBrains Mono" pitchFamily="49" charset="0"/>
                <a:ea typeface="JetBrains Mono" pitchFamily="49" charset="-122"/>
                <a:cs typeface="JetBrains Mono" pitchFamily="49" charset="-120"/>
              </a:rPr>
              <a:t>.0.0</a:t>
            </a:r>
            <a:endParaRPr lang="en-US" sz="1800" dirty="0"/>
          </a:p>
        </p:txBody>
      </p:sp>
      <p:sp>
        <p:nvSpPr>
          <p:cNvPr id="17" name="Text 15"/>
          <p:cNvSpPr/>
          <p:nvPr/>
        </p:nvSpPr>
        <p:spPr>
          <a:xfrm>
            <a:off x="8228806" y="3464003"/>
            <a:ext cx="2983286"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A breaking change. Users may need to update their code.</a:t>
            </a:r>
            <a:endParaRPr lang="en-US" sz="1400" dirty="0"/>
          </a:p>
        </p:txBody>
      </p:sp>
      <p:sp>
        <p:nvSpPr>
          <p:cNvPr id="18" name="Text 16"/>
          <p:cNvSpPr/>
          <p:nvPr/>
        </p:nvSpPr>
        <p:spPr>
          <a:xfrm>
            <a:off x="812800" y="4850910"/>
            <a:ext cx="10883392" cy="63878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1E26"/>
                </a:solidFill>
                <a:latin typeface="Space Grotesk" pitchFamily="34" charset="0"/>
                <a:ea typeface="Space Grotesk" pitchFamily="34" charset="-122"/>
                <a:cs typeface="Space Grotesk" pitchFamily="34" charset="-120"/>
              </a:rPr>
              <a:t>No release on their own:</a:t>
            </a:r>
            <a:r>
              <a:rPr lang="en-US" sz="1500" dirty="0">
                <a:solidFill>
                  <a:srgbClr val="5D6270"/>
                </a:solidFill>
                <a:latin typeface="Space Grotesk" pitchFamily="34" charset="0"/>
                <a:ea typeface="Space Grotesk" pitchFamily="34" charset="-122"/>
                <a:cs typeface="Space Grotesk" pitchFamily="34" charset="-120"/>
              </a:rPr>
              <a:t> </a:t>
            </a:r>
            <a:r>
              <a:rPr lang="en-US" sz="1500" dirty="0">
                <a:solidFill>
                  <a:srgbClr val="1B1E26"/>
                </a:solidFill>
                <a:latin typeface="Space Grotesk" pitchFamily="34" charset="0"/>
                <a:ea typeface="Space Grotesk" pitchFamily="34" charset="-122"/>
                <a:cs typeface="Space Grotesk" pitchFamily="34" charset="-120"/>
              </a:rPr>
              <a:t>docs, chore, refactor, test, ci, style.</a:t>
            </a:r>
            <a:r>
              <a:rPr lang="en-US" sz="1500" dirty="0">
                <a:solidFill>
                  <a:srgbClr val="5D6270"/>
                </a:solidFill>
                <a:latin typeface="Space Grotesk" pitchFamily="34" charset="0"/>
                <a:ea typeface="Space Grotesk" pitchFamily="34" charset="-122"/>
                <a:cs typeface="Space Grotesk" pitchFamily="34" charset="-120"/>
              </a:rPr>
              <a:t> Useful labels, but they do not change the version.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CE7D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40052"/>
          </a:xfrm>
          <a:prstGeom prst="rect">
            <a:avLst/>
          </a:prstGeom>
          <a:noFill/>
          <a:ln/>
        </p:spPr>
        <p:txBody>
          <a:bodyPr wrap="square" lIns="0" tIns="0" rIns="0" bIns="0" rtlCol="0" anchor="t">
            <a:normAutofit/>
          </a:bodyPr>
          <a:lstStyle/>
          <a:p>
            <a:pPr algn="l" indent="0" marL="0">
              <a:lnSpc>
                <a:spcPts val="3539"/>
              </a:lnSpc>
              <a:buNone/>
            </a:pPr>
            <a:r>
              <a:rPr lang="en-US" sz="3218" b="1" i="0" spc="-50" kern="0" dirty="0">
                <a:solidFill>
                  <a:srgbClr val="1B1E26"/>
                </a:solidFill>
                <a:latin typeface="Space Grotesk" pitchFamily="34" charset="0"/>
                <a:ea typeface="Space Grotesk" pitchFamily="34" charset="-122"/>
                <a:cs typeface="Space Grotesk" pitchFamily="34" charset="-120"/>
              </a:rPr>
              <a:t>Chores: real work that does not ship</a:t>
            </a:r>
            <a:endParaRPr lang="en-US" sz="3218" dirty="0"/>
          </a:p>
        </p:txBody>
      </p:sp>
      <p:sp>
        <p:nvSpPr>
          <p:cNvPr id="3" name="Shape 1"/>
          <p:cNvSpPr/>
          <p:nvPr/>
        </p:nvSpPr>
        <p:spPr>
          <a:xfrm>
            <a:off x="812800" y="1606854"/>
            <a:ext cx="5179181" cy="3576789"/>
          </a:xfrm>
          <a:prstGeom prst="roundRect">
            <a:avLst>
              <a:gd name="adj" fmla="val 3551"/>
            </a:avLst>
          </a:prstGeom>
          <a:solidFill>
            <a:srgbClr val="15181F"/>
          </a:solidFill>
          <a:ln/>
        </p:spPr>
      </p:sp>
      <p:sp>
        <p:nvSpPr>
          <p:cNvPr id="4" name="Text 2"/>
          <p:cNvSpPr/>
          <p:nvPr/>
        </p:nvSpPr>
        <p:spPr>
          <a:xfrm>
            <a:off x="1092200" y="1886254"/>
            <a:ext cx="4758993" cy="597883"/>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F8A5C"/>
                </a:solidFill>
                <a:latin typeface="JetBrains Mono" pitchFamily="49" charset="0"/>
                <a:ea typeface="JetBrains Mono" pitchFamily="49" charset="-122"/>
                <a:cs typeface="JetBrains Mono" pitchFamily="49" charset="-120"/>
              </a:rPr>
              <a:t>chore:</a:t>
            </a:r>
            <a:endParaRPr lang="en-US" sz="2800" dirty="0"/>
          </a:p>
        </p:txBody>
      </p:sp>
      <p:sp>
        <p:nvSpPr>
          <p:cNvPr id="5" name="Text 3"/>
          <p:cNvSpPr/>
          <p:nvPr/>
        </p:nvSpPr>
        <p:spPr>
          <a:xfrm>
            <a:off x="1092200" y="2573037"/>
            <a:ext cx="4758993" cy="63878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F6F3EC"/>
                </a:solidFill>
                <a:latin typeface="Space Grotesk" pitchFamily="34" charset="0"/>
                <a:ea typeface="Space Grotesk" pitchFamily="34" charset="-122"/>
                <a:cs typeface="Space Grotesk" pitchFamily="34" charset="-120"/>
              </a:rPr>
              <a:t>Housekeeping. Keeps the project healthy, but users get nothing new.</a:t>
            </a:r>
            <a:endParaRPr lang="en-US" sz="1500" dirty="0"/>
          </a:p>
        </p:txBody>
      </p:sp>
      <p:sp>
        <p:nvSpPr>
          <p:cNvPr id="6" name="Text 4"/>
          <p:cNvSpPr/>
          <p:nvPr/>
        </p:nvSpPr>
        <p:spPr>
          <a:xfrm>
            <a:off x="1092200" y="3300716"/>
            <a:ext cx="4758993" cy="879702"/>
          </a:xfrm>
          <a:prstGeom prst="rect">
            <a:avLst/>
          </a:prstGeom>
          <a:noFill/>
          <a:ln/>
        </p:spPr>
        <p:txBody>
          <a:bodyPr wrap="square" lIns="0" tIns="0" rIns="0" bIns="0" rtlCol="0" anchor="t">
            <a:normAutofit/>
          </a:bodyPr>
          <a:lstStyle/>
          <a:p>
            <a:pPr algn="l" indent="0" marL="0">
              <a:lnSpc>
                <a:spcPts val="1950"/>
              </a:lnSpc>
              <a:buNone/>
            </a:pPr>
            <a:r>
              <a:rPr lang="en-US" sz="1300" dirty="0">
                <a:solidFill>
                  <a:srgbClr val="E6E2D8"/>
                </a:solidFill>
                <a:latin typeface="JetBrains Mono" pitchFamily="49" charset="0"/>
                <a:ea typeface="JetBrains Mono" pitchFamily="49" charset="-122"/>
                <a:cs typeface="JetBrains Mono" pitchFamily="49" charset="-120"/>
              </a:rPr>
              <a:t>chore(deps): upgrade axios to 1.7</a:t>
            </a:r>
            <a:endParaRPr lang="en-US" sz="1300" dirty="0"/>
          </a:p>
          <a:p>
            <a:pPr algn="l" indent="0" marL="0">
              <a:lnSpc>
                <a:spcPts val="1950"/>
              </a:lnSpc>
              <a:buNone/>
            </a:pPr>
            <a:r>
              <a:rPr lang="en-US" sz="1300" dirty="0">
                <a:solidFill>
                  <a:srgbClr val="E6E2D8"/>
                </a:solidFill>
                <a:latin typeface="JetBrains Mono" pitchFamily="49" charset="0"/>
                <a:ea typeface="JetBrains Mono" pitchFamily="49" charset="-122"/>
                <a:cs typeface="JetBrains Mono" pitchFamily="49" charset="-120"/>
              </a:rPr>
              <a:t>chore: update .gitignore</a:t>
            </a:r>
            <a:endParaRPr lang="en-US" sz="1300" dirty="0"/>
          </a:p>
          <a:p>
            <a:pPr algn="l" indent="0" marL="0">
              <a:lnSpc>
                <a:spcPts val="1950"/>
              </a:lnSpc>
              <a:buNone/>
            </a:pPr>
            <a:r>
              <a:rPr lang="en-US" sz="1300" dirty="0">
                <a:solidFill>
                  <a:srgbClr val="E6E2D8"/>
                </a:solidFill>
                <a:latin typeface="JetBrains Mono" pitchFamily="49" charset="0"/>
                <a:ea typeface="JetBrains Mono" pitchFamily="49" charset="-122"/>
                <a:cs typeface="JetBrains Mono" pitchFamily="49" charset="-120"/>
              </a:rPr>
              <a:t>chore(main): release 2.5.0</a:t>
            </a:r>
            <a:endParaRPr lang="en-US" sz="1300" dirty="0"/>
          </a:p>
        </p:txBody>
      </p:sp>
      <p:sp>
        <p:nvSpPr>
          <p:cNvPr id="7" name="Text 5"/>
          <p:cNvSpPr/>
          <p:nvPr/>
        </p:nvSpPr>
        <p:spPr>
          <a:xfrm>
            <a:off x="1092200" y="4269318"/>
            <a:ext cx="4758993" cy="556986"/>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F6F3EC"/>
                </a:solidFill>
                <a:latin typeface="Space Grotesk" pitchFamily="34" charset="0"/>
                <a:ea typeface="Space Grotesk" pitchFamily="34" charset="-122"/>
                <a:cs typeface="Space Grotesk" pitchFamily="34" charset="-120"/>
              </a:rPr>
              <a:t>Robot reads:</a:t>
            </a:r>
            <a:r>
              <a:rPr lang="en-US" sz="1300" dirty="0">
                <a:solidFill>
                  <a:srgbClr val="A3A9B6"/>
                </a:solidFill>
                <a:latin typeface="Space Grotesk" pitchFamily="34" charset="0"/>
                <a:ea typeface="Space Grotesk" pitchFamily="34" charset="-122"/>
                <a:cs typeface="Space Grotesk" pitchFamily="34" charset="-120"/>
              </a:rPr>
              <a:t> no version bump, and hidden from the changelog by default.</a:t>
            </a:r>
            <a:endParaRPr lang="en-US" sz="1300" dirty="0"/>
          </a:p>
        </p:txBody>
      </p:sp>
      <p:sp>
        <p:nvSpPr>
          <p:cNvPr id="8" name="Text 6"/>
          <p:cNvSpPr/>
          <p:nvPr/>
        </p:nvSpPr>
        <p:spPr>
          <a:xfrm>
            <a:off x="6296781" y="1606854"/>
            <a:ext cx="5234892" cy="279211"/>
          </a:xfrm>
          <a:prstGeom prst="rect">
            <a:avLst/>
          </a:prstGeom>
          <a:noFill/>
          <a:ln/>
        </p:spPr>
        <p:txBody>
          <a:bodyPr wrap="square" lIns="0" tIns="0" rIns="0" bIns="0" rtlCol="0" anchor="t">
            <a:normAutofit/>
          </a:bodyPr>
          <a:lstStyle/>
          <a:p>
            <a:pPr algn="l" indent="0" marL="0">
              <a:lnSpc>
                <a:spcPts val="1758"/>
              </a:lnSpc>
              <a:buNone/>
            </a:pPr>
            <a:r>
              <a:rPr lang="en-US" sz="1256" b="1" dirty="0">
                <a:solidFill>
                  <a:srgbClr val="5D6270"/>
                </a:solidFill>
                <a:latin typeface="Space Grotesk" pitchFamily="34" charset="0"/>
                <a:ea typeface="Space Grotesk" pitchFamily="34" charset="-122"/>
                <a:cs typeface="Space Grotesk" pitchFamily="34" charset="-120"/>
              </a:rPr>
              <a:t>Its housekeeping cousins</a:t>
            </a:r>
            <a:endParaRPr lang="en-US" sz="1256"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308876" y="1974360"/>
          <a:ext cx="5070324" cy="3209283"/>
        </p:xfrm>
        <a:graphic>
          <a:graphicData uri="http://schemas.openxmlformats.org/drawingml/2006/table">
            <a:tbl>
              <a:tblPr/>
              <a:tblGrid>
                <a:gridCol w="1521097"/>
                <a:gridCol w="3549227"/>
              </a:tblGrid>
              <a:tr h="458447">
                <a:tc>
                  <a:txBody>
                    <a:bodyPr/>
                    <a:lstStyle/>
                    <a:p>
                      <a:pPr indent="0" marL="0">
                        <a:lnSpc>
                          <a:spcPts val="1838"/>
                        </a:lnSpc>
                        <a:buNone/>
                      </a:pPr>
                      <a:r>
                        <a:rPr lang="en-US" sz="1313" b="1" dirty="0">
                          <a:solidFill>
                            <a:srgbClr val="FF8A5C"/>
                          </a:solidFill>
                          <a:latin typeface="Space Grotesk" pitchFamily="34" charset="0"/>
                          <a:ea typeface="Space Grotesk" pitchFamily="34" charset="-122"/>
                          <a:cs typeface="Space Grotesk" pitchFamily="34" charset="-120"/>
                        </a:rPr>
                        <a:t>Type</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c>
                  <a:txBody>
                    <a:bodyPr/>
                    <a:lstStyle/>
                    <a:p>
                      <a:pPr indent="0" marL="0">
                        <a:lnSpc>
                          <a:spcPts val="1838"/>
                        </a:lnSpc>
                        <a:buNone/>
                      </a:pPr>
                      <a:r>
                        <a:rPr lang="en-US" sz="1313" b="1" dirty="0">
                          <a:solidFill>
                            <a:srgbClr val="F6F3EC"/>
                          </a:solidFill>
                          <a:latin typeface="Space Grotesk" pitchFamily="34" charset="0"/>
                          <a:ea typeface="Space Grotesk" pitchFamily="34" charset="-122"/>
                          <a:cs typeface="Space Grotesk" pitchFamily="34" charset="-120"/>
                        </a:rPr>
                        <a:t>Use it for</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15171C"/>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r>
              <a:tr h="458447">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docs</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Documentation only</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458447">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refactor</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Restructure code, same behavior</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r>
              <a:tr h="458485">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test</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Add or fix tests</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458485">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ci</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Pipeline and workflow changes</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r>
              <a:tr h="458485">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build</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Build tools and packaging</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CBCAC6"/>
                      </a:solidFill>
                      <a:prstDash val="solid"/>
                      <a:round/>
                      <a:headEnd type="none" w="med" len="med"/>
                      <a:tailEnd type="none" w="med" len="med"/>
                    </a:lnL>
                    <a:lnR w="12700" cap="flat" cmpd="sng" algn="ctr">
                      <a:solidFill>
                        <a:srgbClr val="CBCAC6"/>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BCAC6"/>
                      </a:solidFill>
                      <a:prstDash val="solid"/>
                      <a:round/>
                      <a:headEnd type="none" w="med" len="med"/>
                      <a:tailEnd type="none" w="med" len="med"/>
                    </a:lnB>
                    <a:solidFill>
                      <a:srgbClr val="FFFDF8"/>
                    </a:solidFill>
                  </a:tcPr>
                </a:tc>
              </a:tr>
              <a:tr h="458485">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style</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c>
                  <a:txBody>
                    <a:bodyPr/>
                    <a:lstStyle/>
                    <a:p>
                      <a:pPr indent="0" marL="0">
                        <a:lnSpc>
                          <a:spcPts val="1838"/>
                        </a:lnSpc>
                        <a:buNone/>
                      </a:pPr>
                      <a:r>
                        <a:rPr lang="en-US" sz="1313" dirty="0">
                          <a:solidFill>
                            <a:srgbClr val="1B1E26"/>
                          </a:solidFill>
                          <a:latin typeface="Space Grotesk" pitchFamily="34" charset="0"/>
                          <a:ea typeface="Space Grotesk" pitchFamily="34" charset="-122"/>
                          <a:cs typeface="Space Grotesk" pitchFamily="34" charset="-120"/>
                        </a:rPr>
                        <a:t>Formatting and whitespace</a:t>
                      </a:r>
                      <a:endParaRPr lang="en-US" sz="1313" dirty="0">
                        <a:latin typeface="Space Grotesk" charset="0"/>
                        <a:ea typeface="Space Grotesk" charset="0"/>
                        <a:cs typeface="Space Grotesk" charset="0"/>
                      </a:endParaRPr>
                    </a:p>
                  </a:txBody>
                  <a:tcPr marL="152400" marR="152400" marT="88900" marB="889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BCAC6"/>
                      </a:solidFill>
                      <a:prstDash val="solid"/>
                      <a:round/>
                      <a:headEnd type="none" w="med" len="med"/>
                      <a:tailEnd type="none" w="med" len="med"/>
                    </a:lnT>
                    <a:lnB w="12700" cap="flat" cmpd="sng" algn="ctr">
                      <a:solidFill>
                        <a:srgbClr val="BCB9B0"/>
                      </a:solidFill>
                      <a:prstDash val="solid"/>
                      <a:round/>
                      <a:headEnd type="none" w="med" len="med"/>
                      <a:tailEnd type="none" w="med" len="med"/>
                    </a:lnB>
                  </a:tcPr>
                </a:tc>
              </a:tr>
            </a:tbl>
          </a:graphicData>
        </a:graphic>
      </p:graphicFrame>
      <p:sp>
        <p:nvSpPr>
          <p:cNvPr id="10" name="Text 7"/>
          <p:cNvSpPr/>
          <p:nvPr/>
        </p:nvSpPr>
        <p:spPr>
          <a:xfrm>
            <a:off x="812800" y="5463043"/>
            <a:ext cx="10883392" cy="607559"/>
          </a:xfrm>
          <a:prstGeom prst="rect">
            <a:avLst/>
          </a:prstGeom>
          <a:noFill/>
          <a:ln/>
        </p:spPr>
        <p:txBody>
          <a:bodyPr wrap="square" lIns="0" tIns="0" rIns="0" bIns="0" rtlCol="0" anchor="t">
            <a:normAutofit/>
          </a:bodyPr>
          <a:lstStyle/>
          <a:p>
            <a:pPr algn="l" indent="0" marL="0">
              <a:lnSpc>
                <a:spcPts val="2009"/>
              </a:lnSpc>
              <a:buNone/>
            </a:pPr>
            <a:r>
              <a:rPr lang="en-US" sz="1435" b="1" dirty="0">
                <a:solidFill>
                  <a:srgbClr val="1B1E26"/>
                </a:solidFill>
                <a:latin typeface="Space Grotesk" pitchFamily="34" charset="0"/>
                <a:ea typeface="Space Grotesk" pitchFamily="34" charset="-122"/>
                <a:cs typeface="Space Grotesk" pitchFamily="34" charset="-120"/>
              </a:rPr>
              <a:t>Rule of thumb:</a:t>
            </a:r>
            <a:r>
              <a:rPr lang="en-US" sz="1435" dirty="0">
                <a:solidFill>
                  <a:srgbClr val="1B1E26"/>
                </a:solidFill>
                <a:latin typeface="Space Grotesk" pitchFamily="34" charset="0"/>
                <a:ea typeface="Space Grotesk" pitchFamily="34" charset="-122"/>
                <a:cs typeface="Space Grotesk" pitchFamily="34" charset="-120"/>
              </a:rPr>
              <a:t> if users would notice, it is </a:t>
            </a:r>
            <a:r>
              <a:rPr lang="en-US" sz="1435" b="1" dirty="0">
                <a:solidFill>
                  <a:srgbClr val="1B1E26"/>
                </a:solidFill>
                <a:latin typeface="Space Grotesk" pitchFamily="34" charset="0"/>
                <a:ea typeface="Space Grotesk" pitchFamily="34" charset="-122"/>
                <a:cs typeface="Space Grotesk" pitchFamily="34" charset="-120"/>
              </a:rPr>
              <a:t>fix</a:t>
            </a:r>
            <a:r>
              <a:rPr lang="en-US" sz="1435" dirty="0">
                <a:solidFill>
                  <a:srgbClr val="1B1E26"/>
                </a:solidFill>
                <a:latin typeface="Space Grotesk" pitchFamily="34" charset="0"/>
                <a:ea typeface="Space Grotesk" pitchFamily="34" charset="-122"/>
                <a:cs typeface="Space Grotesk" pitchFamily="34" charset="-120"/>
              </a:rPr>
              <a:t> or </a:t>
            </a:r>
            <a:r>
              <a:rPr lang="en-US" sz="1435" b="1" dirty="0">
                <a:solidFill>
                  <a:srgbClr val="1B1E26"/>
                </a:solidFill>
                <a:latin typeface="Space Grotesk" pitchFamily="34" charset="0"/>
                <a:ea typeface="Space Grotesk" pitchFamily="34" charset="-122"/>
                <a:cs typeface="Space Grotesk" pitchFamily="34" charset="-120"/>
              </a:rPr>
              <a:t>feat</a:t>
            </a:r>
            <a:r>
              <a:rPr lang="en-US" sz="1435" dirty="0">
                <a:solidFill>
                  <a:srgbClr val="1B1E26"/>
                </a:solidFill>
                <a:latin typeface="Space Grotesk" pitchFamily="34" charset="0"/>
                <a:ea typeface="Space Grotesk" pitchFamily="34" charset="-122"/>
                <a:cs typeface="Space Grotesk" pitchFamily="34" charset="-120"/>
              </a:rPr>
              <a:t>. If only the team would notice, it is a </a:t>
            </a:r>
            <a:r>
              <a:rPr lang="en-US" sz="1435" b="1" dirty="0">
                <a:solidFill>
                  <a:srgbClr val="1B1E26"/>
                </a:solidFill>
                <a:latin typeface="Space Grotesk" pitchFamily="34" charset="0"/>
                <a:ea typeface="Space Grotesk" pitchFamily="34" charset="-122"/>
                <a:cs typeface="Space Grotesk" pitchFamily="34" charset="-120"/>
              </a:rPr>
              <a:t>chore</a:t>
            </a:r>
            <a:r>
              <a:rPr lang="en-US" sz="1435" dirty="0">
                <a:solidFill>
                  <a:srgbClr val="1B1E26"/>
                </a:solidFill>
                <a:latin typeface="Space Grotesk" pitchFamily="34" charset="0"/>
                <a:ea typeface="Space Grotesk" pitchFamily="34" charset="-122"/>
                <a:cs typeface="Space Grotesk" pitchFamily="34" charset="-120"/>
              </a:rPr>
              <a:t> or one of its cousins.</a:t>
            </a:r>
            <a:endParaRPr lang="en-US" sz="1435"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Before and after</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824895" y="1708038"/>
          <a:ext cx="10554305" cy="3559175"/>
        </p:xfrm>
        <a:graphic>
          <a:graphicData uri="http://schemas.openxmlformats.org/drawingml/2006/table">
            <a:tbl>
              <a:tblPr/>
              <a:tblGrid>
                <a:gridCol w="3588464"/>
                <a:gridCol w="6965841"/>
              </a:tblGrid>
              <a:tr h="593196">
                <a:tc>
                  <a:txBody>
                    <a:bodyPr/>
                    <a:lstStyle/>
                    <a:p>
                      <a:pPr indent="0" marL="0">
                        <a:lnSpc>
                          <a:spcPts val="2240"/>
                        </a:lnSpc>
                        <a:buNone/>
                      </a:pPr>
                      <a:r>
                        <a:rPr lang="en-US" sz="1600" b="1" dirty="0">
                          <a:solidFill>
                            <a:srgbClr val="A3A9B6"/>
                          </a:solidFill>
                          <a:latin typeface="JetBrains Mono" pitchFamily="49" charset="0"/>
                          <a:ea typeface="JetBrains Mono" pitchFamily="49" charset="-122"/>
                          <a:cs typeface="JetBrains Mono" pitchFamily="49" charset="-120"/>
                        </a:rPr>
                        <a:t>Instead of</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c>
                  <a:txBody>
                    <a:bodyPr/>
                    <a:lstStyle/>
                    <a:p>
                      <a:pPr indent="0" marL="0">
                        <a:lnSpc>
                          <a:spcPts val="2240"/>
                        </a:lnSpc>
                        <a:buNone/>
                      </a:pPr>
                      <a:r>
                        <a:rPr lang="en-US" sz="1600" b="1" dirty="0">
                          <a:solidFill>
                            <a:srgbClr val="FF8A5C"/>
                          </a:solidFill>
                          <a:latin typeface="JetBrains Mono" pitchFamily="49" charset="0"/>
                          <a:ea typeface="JetBrains Mono" pitchFamily="49" charset="-122"/>
                          <a:cs typeface="JetBrains Mono" pitchFamily="49" charset="-120"/>
                        </a:rPr>
                        <a:t>Write</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15171C"/>
                      </a:solidFill>
                      <a:prstDash val="solid"/>
                      <a:round/>
                      <a:headEnd type="none" w="med" len="med"/>
                      <a:tailEnd type="none" w="med" len="med"/>
                    </a:lnL>
                    <a:lnR w="12700" cap="flat" cmpd="sng" algn="ctr">
                      <a:solidFill>
                        <a:srgbClr val="15171C"/>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15171C"/>
                      </a:solidFill>
                      <a:prstDash val="solid"/>
                      <a:round/>
                      <a:headEnd type="none" w="med" len="med"/>
                      <a:tailEnd type="none" w="med" len="med"/>
                    </a:lnB>
                    <a:solidFill>
                      <a:srgbClr val="15181F"/>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fixed stuff</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fix(cart): stop double charge on retry</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15171C"/>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added export</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feat(reports): export to CSV</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update readme</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docs: add local setup steps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bump deps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chore(deps): upgrade axios to 1.7</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BCB9B0"/>
                      </a:solidFill>
                      <a:prstDash val="solid"/>
                      <a:round/>
                      <a:headEnd type="none" w="med" len="med"/>
                      <a:tailEnd type="none" w="med" len="med"/>
                    </a:lnL>
                    <a:lnR w="12700" cap="flat" cmpd="sng" algn="ctr">
                      <a:solidFill>
                        <a:srgbClr val="BCB9B0"/>
                      </a:solidFill>
                      <a:prstDash val="solid"/>
                      <a:round/>
                      <a:headEnd type="none" w="med" len="med"/>
                      <a:tailEnd type="none" w="med" len="med"/>
                    </a:lnR>
                    <a:lnT w="12700" cap="flat" cmpd="sng" algn="ctr">
                      <a:solidFill>
                        <a:srgbClr val="C4C2BC"/>
                      </a:solidFill>
                      <a:prstDash val="solid"/>
                      <a:round/>
                      <a:headEnd type="none" w="med" len="med"/>
                      <a:tailEnd type="none" w="med" len="med"/>
                    </a:lnT>
                    <a:lnB w="12700" cap="flat" cmpd="sng" algn="ctr">
                      <a:solidFill>
                        <a:srgbClr val="BCB9B0"/>
                      </a:solidFill>
                      <a:prstDash val="solid"/>
                      <a:round/>
                      <a:headEnd type="none" w="med" len="med"/>
                      <a:tailEnd type="none" w="med" len="med"/>
                    </a:lnB>
                    <a:solidFill>
                      <a:srgbClr val="ECE7DC"/>
                    </a:solidFill>
                  </a:tcPr>
                </a:tc>
              </a:tr>
              <a:tr h="593196">
                <a:tc>
                  <a:txBody>
                    <a:bodyPr/>
                    <a:lstStyle/>
                    <a:p>
                      <a:pPr indent="0" marL="0">
                        <a:lnSpc>
                          <a:spcPts val="2240"/>
                        </a:lnSpc>
                        <a:buNone/>
                      </a:pPr>
                      <a:r>
                        <a:rPr lang="en-US" sz="1600" dirty="0">
                          <a:solidFill>
                            <a:srgbClr val="5D6270"/>
                          </a:solidFill>
                          <a:latin typeface="JetBrains Mono" pitchFamily="49" charset="0"/>
                          <a:ea typeface="JetBrains Mono" pitchFamily="49" charset="-122"/>
                          <a:cs typeface="JetBrains Mono" pitchFamily="49" charset="-120"/>
                        </a:rPr>
                        <a:t>new API</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c>
                  <a:txBody>
                    <a:bodyPr/>
                    <a:lstStyle/>
                    <a:p>
                      <a:pPr indent="0" marL="0">
                        <a:lnSpc>
                          <a:spcPts val="2240"/>
                        </a:lnSpc>
                        <a:buNone/>
                      </a:pPr>
                      <a:r>
                        <a:rPr lang="en-US" sz="1600" dirty="0">
                          <a:solidFill>
                            <a:srgbClr val="1B1E26"/>
                          </a:solidFill>
                          <a:latin typeface="JetBrains Mono" pitchFamily="49" charset="0"/>
                          <a:ea typeface="JetBrains Mono" pitchFamily="49" charset="-122"/>
                          <a:cs typeface="JetBrains Mono" pitchFamily="49" charset="-120"/>
                        </a:rPr>
                        <a:t>feat(api)!: remove v1 endpoints</a:t>
                      </a:r>
                      <a:endParaRPr lang="en-US" sz="1600" dirty="0">
                        <a:latin typeface="JetBrains Mono" charset="0"/>
                        <a:ea typeface="JetBrains Mono" charset="0"/>
                        <a:cs typeface="JetBrains Mono" charset="0"/>
                      </a:endParaRPr>
                    </a:p>
                  </a:txBody>
                  <a:tcPr marL="177800" marR="177800" marT="127000" marB="127000" anchor="t">
                    <a:lnL w="12700" cap="flat" cmpd="sng" algn="ctr">
                      <a:solidFill>
                        <a:srgbClr val="C4C2BC"/>
                      </a:solidFill>
                      <a:prstDash val="solid"/>
                      <a:round/>
                      <a:headEnd type="none" w="med" len="med"/>
                      <a:tailEnd type="none" w="med" len="med"/>
                    </a:lnL>
                    <a:lnR w="12700" cap="flat" cmpd="sng" algn="ctr">
                      <a:solidFill>
                        <a:srgbClr val="C4C2BC"/>
                      </a:solidFill>
                      <a:prstDash val="solid"/>
                      <a:round/>
                      <a:headEnd type="none" w="med" len="med"/>
                      <a:tailEnd type="none" w="med" len="med"/>
                    </a:lnR>
                    <a:lnT w="12700" cap="flat" cmpd="sng" algn="ctr">
                      <a:solidFill>
                        <a:srgbClr val="BCB9B0"/>
                      </a:solidFill>
                      <a:prstDash val="solid"/>
                      <a:round/>
                      <a:headEnd type="none" w="med" len="med"/>
                      <a:tailEnd type="none" w="med" len="med"/>
                    </a:lnT>
                    <a:lnB w="12700" cap="flat" cmpd="sng" algn="ctr">
                      <a:solidFill>
                        <a:srgbClr val="C4C2BC"/>
                      </a:solidFill>
                      <a:prstDash val="solid"/>
                      <a:round/>
                      <a:headEnd type="none" w="med" len="med"/>
                      <a:tailEnd type="none" w="med" len="med"/>
                    </a:lnB>
                  </a:tcPr>
                </a:tc>
              </a:tr>
            </a:tbl>
          </a:graphicData>
        </a:graphic>
      </p:graphicFrame>
      <p:sp>
        <p:nvSpPr>
          <p:cNvPr id="4" name="Text 1"/>
          <p:cNvSpPr/>
          <p:nvPr/>
        </p:nvSpPr>
        <p:spPr>
          <a:xfrm>
            <a:off x="812800" y="6165323"/>
            <a:ext cx="10883392"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Tip: finish the sentence "If applied, this commit will..." Lowercase, no period.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5181F"/>
        </a:solidFill>
      </p:bgPr>
    </p:bg>
    <p:spTree>
      <p:nvGrpSpPr>
        <p:cNvPr id="1" name=""/>
        <p:cNvGrpSpPr/>
        <p:nvPr/>
      </p:nvGrpSpPr>
      <p:grpSpPr>
        <a:xfrm>
          <a:off x="0" y="0"/>
          <a:ext cx="0" cy="0"/>
          <a:chOff x="0" y="0"/>
          <a:chExt cx="0" cy="0"/>
        </a:xfrm>
      </p:grpSpPr>
      <p:sp>
        <p:nvSpPr>
          <p:cNvPr id="2" name="Text 0"/>
          <p:cNvSpPr/>
          <p:nvPr/>
        </p:nvSpPr>
        <p:spPr>
          <a:xfrm>
            <a:off x="812800" y="2002594"/>
            <a:ext cx="10883392" cy="352501"/>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FF8A5C"/>
                </a:solidFill>
                <a:latin typeface="JetBrains Mono" pitchFamily="49" charset="0"/>
                <a:ea typeface="JetBrains Mono" pitchFamily="49" charset="-122"/>
                <a:cs typeface="JetBrains Mono" pitchFamily="49" charset="-120"/>
              </a:rPr>
              <a:t>part 2</a:t>
            </a:r>
            <a:endParaRPr lang="en-US" sz="1600" dirty="0"/>
          </a:p>
        </p:txBody>
      </p:sp>
      <p:sp>
        <p:nvSpPr>
          <p:cNvPr id="3" name="Text 1"/>
          <p:cNvSpPr/>
          <p:nvPr>
            <p:ph type="title"/>
          </p:nvPr>
        </p:nvSpPr>
        <p:spPr>
          <a:xfrm>
            <a:off x="812800" y="2583693"/>
            <a:ext cx="10883392" cy="1175544"/>
          </a:xfrm>
          <a:prstGeom prst="rect">
            <a:avLst/>
          </a:prstGeom>
          <a:noFill/>
          <a:ln/>
        </p:spPr>
        <p:txBody>
          <a:bodyPr wrap="square" lIns="0" tIns="0" rIns="0" bIns="0" rtlCol="0" anchor="t">
            <a:normAutofit/>
          </a:bodyPr>
          <a:lstStyle/>
          <a:p>
            <a:pPr algn="l" indent="0" marL="0">
              <a:lnSpc>
                <a:spcPts val="7875"/>
              </a:lnSpc>
              <a:buNone/>
            </a:pPr>
            <a:r>
              <a:rPr lang="en-US" sz="7500" b="1" i="0" spc="-150" kern="0" dirty="0">
                <a:solidFill>
                  <a:srgbClr val="F6F3EC"/>
                </a:solidFill>
                <a:latin typeface="Space Grotesk" pitchFamily="34" charset="0"/>
                <a:ea typeface="Space Grotesk" pitchFamily="34" charset="-122"/>
                <a:cs typeface="Space Grotesk" pitchFamily="34" charset="-120"/>
              </a:rPr>
              <a:t>Release Please</a:t>
            </a:r>
            <a:endParaRPr lang="en-US" sz="7500" dirty="0"/>
          </a:p>
        </p:txBody>
      </p:sp>
      <p:sp>
        <p:nvSpPr>
          <p:cNvPr id="4" name="Text 2"/>
          <p:cNvSpPr/>
          <p:nvPr/>
        </p:nvSpPr>
        <p:spPr>
          <a:xfrm>
            <a:off x="812800" y="3987837"/>
            <a:ext cx="8502650" cy="892931"/>
          </a:xfrm>
          <a:prstGeom prst="rect">
            <a:avLst/>
          </a:prstGeom>
          <a:noFill/>
          <a:ln/>
        </p:spPr>
        <p:txBody>
          <a:bodyPr wrap="square" lIns="0" tIns="0" rIns="0" bIns="0" rtlCol="0" anchor="t">
            <a:normAutofit/>
          </a:bodyPr>
          <a:lstStyle/>
          <a:p>
            <a:pPr algn="l" indent="0" marL="0">
              <a:lnSpc>
                <a:spcPts val="2970"/>
              </a:lnSpc>
              <a:buNone/>
            </a:pPr>
            <a:r>
              <a:rPr lang="en-US" sz="2200" dirty="0">
                <a:solidFill>
                  <a:srgbClr val="A3A9B6"/>
                </a:solidFill>
                <a:latin typeface="Space Grotesk" pitchFamily="34" charset="0"/>
                <a:ea typeface="Space Grotesk" pitchFamily="34" charset="-122"/>
                <a:cs typeface="Space Grotesk" pitchFamily="34" charset="-120"/>
              </a:rPr>
              <a:t>A GitHub Action from Google that reads your commits and does the release paperwork for you.</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1379200"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How it works: one PR that grows with you</a:t>
            </a:r>
            <a:endParaRPr lang="en-US" sz="3600" dirty="0"/>
          </a:p>
        </p:txBody>
      </p:sp>
      <p:sp>
        <p:nvSpPr>
          <p:cNvPr id="3" name="Shape 1"/>
          <p:cNvSpPr/>
          <p:nvPr/>
        </p:nvSpPr>
        <p:spPr>
          <a:xfrm>
            <a:off x="819150" y="2017030"/>
            <a:ext cx="2253948" cy="2453973"/>
          </a:xfrm>
          <a:prstGeom prst="roundRect">
            <a:avLst>
              <a:gd name="adj" fmla="val 5353"/>
            </a:avLst>
          </a:prstGeom>
          <a:solidFill>
            <a:srgbClr val="FFFDF8"/>
          </a:solidFill>
          <a:ln w="12700">
            <a:solidFill>
              <a:srgbClr val="E2DDD2"/>
            </a:solidFill>
            <a:prstDash val="solid"/>
          </a:ln>
        </p:spPr>
      </p:sp>
      <p:sp>
        <p:nvSpPr>
          <p:cNvPr id="4" name="Text 2"/>
          <p:cNvSpPr/>
          <p:nvPr/>
        </p:nvSpPr>
        <p:spPr>
          <a:xfrm>
            <a:off x="1028095" y="2225979"/>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01</a:t>
            </a:r>
            <a:endParaRPr lang="en-US" sz="2000" dirty="0"/>
          </a:p>
        </p:txBody>
      </p:sp>
      <p:sp>
        <p:nvSpPr>
          <p:cNvPr id="5" name="Text 3"/>
          <p:cNvSpPr/>
          <p:nvPr/>
        </p:nvSpPr>
        <p:spPr>
          <a:xfrm>
            <a:off x="1028095" y="2736509"/>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You merge to main</a:t>
            </a:r>
            <a:endParaRPr lang="en-US" sz="1700" dirty="0"/>
          </a:p>
        </p:txBody>
      </p:sp>
      <p:sp>
        <p:nvSpPr>
          <p:cNvPr id="6" name="Text 4"/>
          <p:cNvSpPr/>
          <p:nvPr/>
        </p:nvSpPr>
        <p:spPr>
          <a:xfrm>
            <a:off x="1028095" y="3433955"/>
            <a:ext cx="1891139"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Normal PRs, with conventional commit messages.</a:t>
            </a:r>
            <a:endParaRPr lang="en-US" sz="1400" dirty="0"/>
          </a:p>
        </p:txBody>
      </p:sp>
      <p:pic>
        <p:nvPicPr>
          <p:cNvPr id="7" name="Image 0" descr="arrow-right">    </p:cNvPr>
          <p:cNvPicPr>
            <a:picLocks noChangeAspect="1"/>
          </p:cNvPicPr>
          <p:nvPr/>
        </p:nvPicPr>
        <p:blipFill>
          <a:blip r:embed="rId1"/>
          <a:srcRect l="0" r="0" t="0" b="0"/>
          <a:stretch/>
        </p:blipFill>
        <p:spPr>
          <a:xfrm>
            <a:off x="3181048" y="3155119"/>
            <a:ext cx="304800" cy="177800"/>
          </a:xfrm>
          <a:prstGeom prst="rect">
            <a:avLst/>
          </a:prstGeom>
        </p:spPr>
      </p:pic>
      <p:sp>
        <p:nvSpPr>
          <p:cNvPr id="8" name="Shape 5"/>
          <p:cNvSpPr/>
          <p:nvPr/>
        </p:nvSpPr>
        <p:spPr>
          <a:xfrm>
            <a:off x="3593798" y="1878998"/>
            <a:ext cx="2253948" cy="2730009"/>
          </a:xfrm>
          <a:prstGeom prst="roundRect">
            <a:avLst>
              <a:gd name="adj" fmla="val 5353"/>
            </a:avLst>
          </a:prstGeom>
          <a:solidFill>
            <a:srgbClr val="FFFDF8"/>
          </a:solidFill>
          <a:ln w="12700">
            <a:solidFill>
              <a:srgbClr val="E2DDD2"/>
            </a:solidFill>
            <a:prstDash val="solid"/>
          </a:ln>
        </p:spPr>
      </p:sp>
      <p:sp>
        <p:nvSpPr>
          <p:cNvPr id="9" name="Text 6"/>
          <p:cNvSpPr/>
          <p:nvPr/>
        </p:nvSpPr>
        <p:spPr>
          <a:xfrm>
            <a:off x="3802743" y="2087941"/>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02</a:t>
            </a:r>
            <a:endParaRPr lang="en-US" sz="2000" dirty="0"/>
          </a:p>
        </p:txBody>
      </p:sp>
      <p:sp>
        <p:nvSpPr>
          <p:cNvPr id="10" name="Text 7"/>
          <p:cNvSpPr/>
          <p:nvPr/>
        </p:nvSpPr>
        <p:spPr>
          <a:xfrm>
            <a:off x="3802743" y="2598477"/>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A release PR appears</a:t>
            </a:r>
            <a:endParaRPr lang="en-US" sz="1700" dirty="0"/>
          </a:p>
        </p:txBody>
      </p:sp>
      <p:sp>
        <p:nvSpPr>
          <p:cNvPr id="11" name="Text 8"/>
          <p:cNvSpPr/>
          <p:nvPr/>
        </p:nvSpPr>
        <p:spPr>
          <a:xfrm>
            <a:off x="3802743" y="3295917"/>
            <a:ext cx="1891139" cy="112954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Next version and changelog. It updates on every merge.</a:t>
            </a:r>
            <a:endParaRPr lang="en-US" sz="1400" dirty="0"/>
          </a:p>
        </p:txBody>
      </p:sp>
      <p:pic>
        <p:nvPicPr>
          <p:cNvPr id="12" name="Image 1" descr="arrow-right">    </p:cNvPr>
          <p:cNvPicPr>
            <a:picLocks noChangeAspect="1"/>
          </p:cNvPicPr>
          <p:nvPr/>
        </p:nvPicPr>
        <p:blipFill>
          <a:blip r:embed="rId2"/>
          <a:srcRect l="0" r="0" t="0" b="0"/>
          <a:stretch/>
        </p:blipFill>
        <p:spPr>
          <a:xfrm>
            <a:off x="5955695" y="3155119"/>
            <a:ext cx="304800" cy="177800"/>
          </a:xfrm>
          <a:prstGeom prst="rect">
            <a:avLst/>
          </a:prstGeom>
        </p:spPr>
      </p:pic>
      <p:sp>
        <p:nvSpPr>
          <p:cNvPr id="13" name="Shape 9"/>
          <p:cNvSpPr/>
          <p:nvPr/>
        </p:nvSpPr>
        <p:spPr>
          <a:xfrm>
            <a:off x="6368445" y="1878998"/>
            <a:ext cx="2253948" cy="2730009"/>
          </a:xfrm>
          <a:prstGeom prst="roundRect">
            <a:avLst>
              <a:gd name="adj" fmla="val 5353"/>
            </a:avLst>
          </a:prstGeom>
          <a:solidFill>
            <a:srgbClr val="FFFDF8"/>
          </a:solidFill>
          <a:ln w="12700">
            <a:solidFill>
              <a:srgbClr val="E2DDD2"/>
            </a:solidFill>
            <a:prstDash val="solid"/>
          </a:ln>
        </p:spPr>
      </p:sp>
      <p:sp>
        <p:nvSpPr>
          <p:cNvPr id="14" name="Text 10"/>
          <p:cNvSpPr/>
          <p:nvPr/>
        </p:nvSpPr>
        <p:spPr>
          <a:xfrm>
            <a:off x="6577391" y="2087941"/>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B8441B"/>
                </a:solidFill>
                <a:latin typeface="JetBrains Mono" pitchFamily="49" charset="0"/>
                <a:ea typeface="JetBrains Mono" pitchFamily="49" charset="-122"/>
                <a:cs typeface="JetBrains Mono" pitchFamily="49" charset="-120"/>
              </a:rPr>
              <a:t>03</a:t>
            </a:r>
            <a:endParaRPr lang="en-US" sz="2000" dirty="0"/>
          </a:p>
        </p:txBody>
      </p:sp>
      <p:sp>
        <p:nvSpPr>
          <p:cNvPr id="15" name="Text 11"/>
          <p:cNvSpPr/>
          <p:nvPr/>
        </p:nvSpPr>
        <p:spPr>
          <a:xfrm>
            <a:off x="6577391" y="2598477"/>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1B1E26"/>
                </a:solidFill>
                <a:latin typeface="Space Grotesk" pitchFamily="34" charset="0"/>
                <a:ea typeface="Space Grotesk" pitchFamily="34" charset="-122"/>
                <a:cs typeface="Space Grotesk" pitchFamily="34" charset="-120"/>
              </a:rPr>
              <a:t>You merge the release PR</a:t>
            </a:r>
            <a:endParaRPr lang="en-US" sz="1700" dirty="0"/>
          </a:p>
        </p:txBody>
      </p:sp>
      <p:sp>
        <p:nvSpPr>
          <p:cNvPr id="16" name="Text 12"/>
          <p:cNvSpPr/>
          <p:nvPr/>
        </p:nvSpPr>
        <p:spPr>
          <a:xfrm>
            <a:off x="6577391" y="3295917"/>
            <a:ext cx="1891139" cy="1129544"/>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Whenever you are ready to ship. That is the only button.</a:t>
            </a:r>
            <a:endParaRPr lang="en-US" sz="1400" dirty="0"/>
          </a:p>
        </p:txBody>
      </p:sp>
      <p:pic>
        <p:nvPicPr>
          <p:cNvPr id="17" name="Image 2" descr="arrow-right">    </p:cNvPr>
          <p:cNvPicPr>
            <a:picLocks noChangeAspect="1"/>
          </p:cNvPicPr>
          <p:nvPr/>
        </p:nvPicPr>
        <p:blipFill>
          <a:blip r:embed="rId3"/>
          <a:srcRect l="0" r="0" t="0" b="0"/>
          <a:stretch/>
        </p:blipFill>
        <p:spPr>
          <a:xfrm>
            <a:off x="8730343" y="3155119"/>
            <a:ext cx="304800" cy="177800"/>
          </a:xfrm>
          <a:prstGeom prst="rect">
            <a:avLst/>
          </a:prstGeom>
        </p:spPr>
      </p:pic>
      <p:sp>
        <p:nvSpPr>
          <p:cNvPr id="18" name="Shape 13"/>
          <p:cNvSpPr/>
          <p:nvPr/>
        </p:nvSpPr>
        <p:spPr>
          <a:xfrm>
            <a:off x="9136743" y="1746740"/>
            <a:ext cx="2242457" cy="2994554"/>
          </a:xfrm>
          <a:prstGeom prst="roundRect">
            <a:avLst>
              <a:gd name="adj" fmla="val 5663"/>
            </a:avLst>
          </a:prstGeom>
          <a:solidFill>
            <a:srgbClr val="15181F"/>
          </a:solidFill>
          <a:ln/>
        </p:spPr>
      </p:sp>
      <p:sp>
        <p:nvSpPr>
          <p:cNvPr id="19" name="Text 14"/>
          <p:cNvSpPr/>
          <p:nvPr/>
        </p:nvSpPr>
        <p:spPr>
          <a:xfrm>
            <a:off x="9339943" y="1949940"/>
            <a:ext cx="1891139" cy="434332"/>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F8A5C"/>
                </a:solidFill>
                <a:latin typeface="JetBrains Mono" pitchFamily="49" charset="0"/>
                <a:ea typeface="JetBrains Mono" pitchFamily="49" charset="-122"/>
                <a:cs typeface="JetBrains Mono" pitchFamily="49" charset="-120"/>
              </a:rPr>
              <a:t>04</a:t>
            </a:r>
            <a:endParaRPr lang="en-US" sz="2000" dirty="0"/>
          </a:p>
        </p:txBody>
      </p:sp>
      <p:sp>
        <p:nvSpPr>
          <p:cNvPr id="20" name="Text 15"/>
          <p:cNvSpPr/>
          <p:nvPr/>
        </p:nvSpPr>
        <p:spPr>
          <a:xfrm>
            <a:off x="9339943" y="2460476"/>
            <a:ext cx="1891139" cy="621242"/>
          </a:xfrm>
          <a:prstGeom prst="rect">
            <a:avLst/>
          </a:prstGeom>
          <a:noFill/>
          <a:ln/>
        </p:spPr>
        <p:txBody>
          <a:bodyPr wrap="square" lIns="0" tIns="0" rIns="0" bIns="0" rtlCol="0" anchor="t">
            <a:normAutofit/>
          </a:bodyPr>
          <a:lstStyle/>
          <a:p>
            <a:pPr algn="l" indent="0" marL="0">
              <a:lnSpc>
                <a:spcPts val="2040"/>
              </a:lnSpc>
              <a:buNone/>
            </a:pPr>
            <a:r>
              <a:rPr lang="en-US" sz="1700" b="1" dirty="0">
                <a:solidFill>
                  <a:srgbClr val="F6F3EC"/>
                </a:solidFill>
                <a:latin typeface="Space Grotesk" pitchFamily="34" charset="0"/>
                <a:ea typeface="Space Grotesk" pitchFamily="34" charset="-122"/>
                <a:cs typeface="Space Grotesk" pitchFamily="34" charset="-120"/>
              </a:rPr>
              <a:t>The release is created</a:t>
            </a:r>
            <a:endParaRPr lang="en-US" sz="1700" dirty="0"/>
          </a:p>
        </p:txBody>
      </p:sp>
      <p:sp>
        <p:nvSpPr>
          <p:cNvPr id="21" name="Text 16"/>
          <p:cNvSpPr/>
          <p:nvPr/>
        </p:nvSpPr>
        <p:spPr>
          <a:xfrm>
            <a:off x="9339943" y="3157916"/>
            <a:ext cx="1891139" cy="140558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Git tag plus GitHub Release with notes. Publish jobs can run next.</a:t>
            </a:r>
            <a:endParaRPr lang="en-US" sz="1400" dirty="0"/>
          </a:p>
        </p:txBody>
      </p:sp>
      <p:sp>
        <p:nvSpPr>
          <p:cNvPr id="22" name="Text 17"/>
          <p:cNvSpPr/>
          <p:nvPr/>
        </p:nvSpPr>
        <p:spPr>
          <a:xfrm>
            <a:off x="812800" y="5096898"/>
            <a:ext cx="10883392" cy="380282"/>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1B1E26"/>
                </a:solidFill>
                <a:latin typeface="Space Grotesk" pitchFamily="34" charset="0"/>
                <a:ea typeface="Space Grotesk" pitchFamily="34" charset="-122"/>
                <a:cs typeface="Space Grotesk" pitchFamily="34" charset="-120"/>
              </a:rPr>
              <a:t>You</a:t>
            </a:r>
            <a:r>
              <a:rPr lang="en-US" sz="1800" dirty="0">
                <a:solidFill>
                  <a:srgbClr val="1B1E26"/>
                </a:solidFill>
                <a:latin typeface="Space Grotesk" pitchFamily="34" charset="0"/>
                <a:ea typeface="Space Grotesk" pitchFamily="34" charset="-122"/>
                <a:cs typeface="Space Grotesk" pitchFamily="34" charset="-120"/>
              </a:rPr>
              <a:t> decide </a:t>
            </a:r>
            <a:r>
              <a:rPr lang="en-US" sz="1800" i="1" dirty="0">
                <a:solidFill>
                  <a:srgbClr val="1B1E26"/>
                </a:solidFill>
                <a:latin typeface="Space Grotesk" pitchFamily="34" charset="0"/>
                <a:ea typeface="Space Grotesk" pitchFamily="34" charset="-122"/>
                <a:cs typeface="Space Grotesk" pitchFamily="34" charset="-120"/>
              </a:rPr>
              <a:t>when</a:t>
            </a:r>
            <a:r>
              <a:rPr lang="en-US" sz="1800" dirty="0">
                <a:solidFill>
                  <a:srgbClr val="1B1E26"/>
                </a:solidFill>
                <a:latin typeface="Space Grotesk" pitchFamily="34" charset="0"/>
                <a:ea typeface="Space Grotesk" pitchFamily="34" charset="-122"/>
                <a:cs typeface="Space Grotesk" pitchFamily="34" charset="-120"/>
              </a:rPr>
              <a:t> to release. </a:t>
            </a:r>
            <a:r>
              <a:rPr lang="en-US" sz="1800" b="1" dirty="0">
                <a:solidFill>
                  <a:srgbClr val="1B1E26"/>
                </a:solidFill>
                <a:latin typeface="Space Grotesk" pitchFamily="34" charset="0"/>
                <a:ea typeface="Space Grotesk" pitchFamily="34" charset="-122"/>
                <a:cs typeface="Space Grotesk" pitchFamily="34" charset="-120"/>
              </a:rPr>
              <a:t>Release Please</a:t>
            </a:r>
            <a:r>
              <a:rPr lang="en-US" sz="1800" dirty="0">
                <a:solidFill>
                  <a:srgbClr val="1B1E26"/>
                </a:solidFill>
                <a:latin typeface="Space Grotesk" pitchFamily="34" charset="0"/>
                <a:ea typeface="Space Grotesk" pitchFamily="34" charset="-122"/>
                <a:cs typeface="Space Grotesk" pitchFamily="34" charset="-120"/>
              </a:rPr>
              <a:t> decides </a:t>
            </a:r>
            <a:r>
              <a:rPr lang="en-US" sz="1800" i="1" dirty="0">
                <a:solidFill>
                  <a:srgbClr val="1B1E26"/>
                </a:solidFill>
                <a:latin typeface="Space Grotesk" pitchFamily="34" charset="0"/>
                <a:ea typeface="Space Grotesk" pitchFamily="34" charset="-122"/>
                <a:cs typeface="Space Grotesk" pitchFamily="34" charset="-120"/>
              </a:rPr>
              <a:t>what</a:t>
            </a:r>
            <a:r>
              <a:rPr lang="en-US" sz="1800" dirty="0">
                <a:solidFill>
                  <a:srgbClr val="1B1E26"/>
                </a:solidFill>
                <a:latin typeface="Space Grotesk" pitchFamily="34" charset="0"/>
                <a:ea typeface="Space Grotesk" pitchFamily="34" charset="-122"/>
                <a:cs typeface="Space Grotesk" pitchFamily="34" charset="-120"/>
              </a:rPr>
              <a:t> the version is.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CE7D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What the release PR contains</a:t>
            </a:r>
            <a:endParaRPr lang="en-US" sz="3600" dirty="0"/>
          </a:p>
        </p:txBody>
      </p:sp>
      <p:sp>
        <p:nvSpPr>
          <p:cNvPr id="3" name="Shape 1"/>
          <p:cNvSpPr/>
          <p:nvPr/>
        </p:nvSpPr>
        <p:spPr>
          <a:xfrm>
            <a:off x="819150" y="1812510"/>
            <a:ext cx="5540111" cy="2907998"/>
          </a:xfrm>
          <a:prstGeom prst="roundRect">
            <a:avLst>
              <a:gd name="adj" fmla="val 4149"/>
            </a:avLst>
          </a:prstGeom>
          <a:solidFill>
            <a:srgbClr val="FFFDF8"/>
          </a:solidFill>
          <a:ln w="12700">
            <a:solidFill>
              <a:srgbClr val="D6CFC0"/>
            </a:solidFill>
            <a:prstDash val="solid"/>
          </a:ln>
        </p:spPr>
      </p:sp>
      <p:sp>
        <p:nvSpPr>
          <p:cNvPr id="4" name="Text 2"/>
          <p:cNvSpPr/>
          <p:nvPr/>
        </p:nvSpPr>
        <p:spPr>
          <a:xfrm>
            <a:off x="824895" y="1818258"/>
            <a:ext cx="5528620" cy="611490"/>
          </a:xfrm>
          <a:custGeom>
            <a:avLst/>
            <a:gdLst/>
            <a:ahLst/>
            <a:cxnLst/>
            <a:rect l="l" t="t" r="r" b="b"/>
            <a:pathLst>
              <a:path w="5528620" h="611490">
                <a:moveTo>
                  <a:pt x="0" y="114905"/>
                </a:moveTo>
                <a:arcTo hR="114905" wR="114905" stAng="10800000" swAng="5400000"/>
                <a:lnTo>
                  <a:pt x="5413715" y="0"/>
                </a:lnTo>
                <a:arcTo hR="114905" wR="114905" stAng="16200000" swAng="5400000"/>
                <a:lnTo>
                  <a:pt x="5528620" y="611490"/>
                </a:lnTo>
                <a:lnTo>
                  <a:pt x="0" y="611490"/>
                </a:lnTo>
                <a:close/>
              </a:path>
            </a:pathLst>
          </a:custGeom>
          <a:solidFill>
            <a:srgbClr val="15181F"/>
          </a:solidFill>
          <a:ln/>
        </p:spPr>
        <p:txBody>
          <a:bodyPr wrap="square" lIns="228600" tIns="152400" rIns="228600" bIns="127000" rtlCol="0" anchor="t">
            <a:normAutofit/>
          </a:bodyPr>
          <a:lstStyle/>
          <a:p>
            <a:pPr algn="l" indent="0" marL="0">
              <a:lnSpc>
                <a:spcPts val="2100"/>
              </a:lnSpc>
              <a:buNone/>
            </a:pPr>
            <a:r>
              <a:rPr lang="en-US" sz="1500" dirty="0">
                <a:solidFill>
                  <a:srgbClr val="F6F3EC"/>
                </a:solidFill>
                <a:latin typeface="JetBrains Mono" pitchFamily="49" charset="0"/>
                <a:ea typeface="JetBrains Mono" pitchFamily="49" charset="-122"/>
                <a:cs typeface="JetBrains Mono" pitchFamily="49" charset="-120"/>
              </a:rPr>
              <a:t>chore(main): release </a:t>
            </a:r>
            <a:r>
              <a:rPr lang="en-US" sz="1500" dirty="0">
                <a:solidFill>
                  <a:srgbClr val="FF8A5C"/>
                </a:solidFill>
                <a:latin typeface="JetBrains Mono" pitchFamily="49" charset="0"/>
                <a:ea typeface="JetBrains Mono" pitchFamily="49" charset="-122"/>
                <a:cs typeface="JetBrains Mono" pitchFamily="49" charset="-120"/>
              </a:rPr>
              <a:t>2.5.0</a:t>
            </a:r>
            <a:endParaRPr lang="en-US" sz="1500" dirty="0"/>
          </a:p>
        </p:txBody>
      </p:sp>
      <p:sp>
        <p:nvSpPr>
          <p:cNvPr id="5" name="Text 3"/>
          <p:cNvSpPr/>
          <p:nvPr/>
        </p:nvSpPr>
        <p:spPr>
          <a:xfrm>
            <a:off x="1053495" y="2658343"/>
            <a:ext cx="5223563" cy="352501"/>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B1E26"/>
                </a:solidFill>
                <a:latin typeface="JetBrains Mono" pitchFamily="49" charset="0"/>
                <a:ea typeface="JetBrains Mono" pitchFamily="49" charset="-122"/>
                <a:cs typeface="JetBrains Mono" pitchFamily="49" charset="-120"/>
              </a:rPr>
              <a:t>## 2.5.0 (2026-10-29)</a:t>
            </a:r>
            <a:endParaRPr lang="en-US" sz="1600" dirty="0"/>
          </a:p>
        </p:txBody>
      </p:sp>
      <p:sp>
        <p:nvSpPr>
          <p:cNvPr id="6" name="Text 4"/>
          <p:cNvSpPr/>
          <p:nvPr/>
        </p:nvSpPr>
        <p:spPr>
          <a:xfrm>
            <a:off x="1053495" y="3074349"/>
            <a:ext cx="5223563" cy="31167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B8441B"/>
                </a:solidFill>
                <a:latin typeface="JetBrains Mono" pitchFamily="49" charset="0"/>
                <a:ea typeface="JetBrains Mono" pitchFamily="49" charset="-122"/>
                <a:cs typeface="JetBrains Mono" pitchFamily="49" charset="-120"/>
              </a:rPr>
              <a:t>### Features</a:t>
            </a:r>
            <a:endParaRPr lang="en-US" sz="1400" dirty="0"/>
          </a:p>
        </p:txBody>
      </p:sp>
      <p:sp>
        <p:nvSpPr>
          <p:cNvPr id="7" name="Text 5"/>
          <p:cNvSpPr/>
          <p:nvPr/>
        </p:nvSpPr>
        <p:spPr>
          <a:xfrm>
            <a:off x="1053495" y="3449526"/>
            <a:ext cx="5223563"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1E26"/>
                </a:solidFill>
                <a:latin typeface="JetBrains Mono" pitchFamily="49" charset="0"/>
                <a:ea typeface="JetBrains Mono" pitchFamily="49" charset="-122"/>
                <a:cs typeface="JetBrains Mono" pitchFamily="49" charset="-120"/>
              </a:rPr>
              <a:t>* reports: export to CSV</a:t>
            </a:r>
            <a:endParaRPr lang="en-US" sz="1400" dirty="0"/>
          </a:p>
        </p:txBody>
      </p:sp>
      <p:sp>
        <p:nvSpPr>
          <p:cNvPr id="8" name="Text 6"/>
          <p:cNvSpPr/>
          <p:nvPr/>
        </p:nvSpPr>
        <p:spPr>
          <a:xfrm>
            <a:off x="1053495" y="3824703"/>
            <a:ext cx="5223563" cy="311679"/>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F62B0"/>
                </a:solidFill>
                <a:latin typeface="JetBrains Mono" pitchFamily="49" charset="0"/>
                <a:ea typeface="JetBrains Mono" pitchFamily="49" charset="-122"/>
                <a:cs typeface="JetBrains Mono" pitchFamily="49" charset="-120"/>
              </a:rPr>
              <a:t>### Bug Fixes</a:t>
            </a:r>
            <a:endParaRPr lang="en-US" sz="1400" dirty="0"/>
          </a:p>
        </p:txBody>
      </p:sp>
      <p:sp>
        <p:nvSpPr>
          <p:cNvPr id="9" name="Text 7"/>
          <p:cNvSpPr/>
          <p:nvPr/>
        </p:nvSpPr>
        <p:spPr>
          <a:xfrm>
            <a:off x="1053495" y="4199886"/>
            <a:ext cx="5223563" cy="311679"/>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B1E26"/>
                </a:solidFill>
                <a:latin typeface="JetBrains Mono" pitchFamily="49" charset="0"/>
                <a:ea typeface="JetBrains Mono" pitchFamily="49" charset="-122"/>
                <a:cs typeface="JetBrains Mono" pitchFamily="49" charset="-120"/>
              </a:rPr>
              <a:t>* cart: stop double charge on retry</a:t>
            </a:r>
            <a:endParaRPr lang="en-US" sz="1400" dirty="0"/>
          </a:p>
        </p:txBody>
      </p:sp>
      <p:sp>
        <p:nvSpPr>
          <p:cNvPr id="10" name="Text 8"/>
          <p:cNvSpPr/>
          <p:nvPr/>
        </p:nvSpPr>
        <p:spPr>
          <a:xfrm>
            <a:off x="6772011" y="1746740"/>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A new version number</a:t>
            </a:r>
            <a:endParaRPr lang="en-US" sz="1900" dirty="0"/>
          </a:p>
        </p:txBody>
      </p:sp>
      <p:sp>
        <p:nvSpPr>
          <p:cNvPr id="11" name="Text 9"/>
          <p:cNvSpPr/>
          <p:nvPr/>
        </p:nvSpPr>
        <p:spPr>
          <a:xfrm>
            <a:off x="6772011" y="2130537"/>
            <a:ext cx="4745405"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Bumped in your files, like package.json or version.txt.</a:t>
            </a:r>
            <a:endParaRPr lang="en-US" sz="1400" dirty="0"/>
          </a:p>
        </p:txBody>
      </p:sp>
      <p:sp>
        <p:nvSpPr>
          <p:cNvPr id="12" name="Text 10"/>
          <p:cNvSpPr/>
          <p:nvPr/>
        </p:nvSpPr>
        <p:spPr>
          <a:xfrm>
            <a:off x="6772011" y="2936615"/>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An updated CHANGELOG.md</a:t>
            </a:r>
            <a:endParaRPr lang="en-US" sz="1900" dirty="0"/>
          </a:p>
        </p:txBody>
      </p:sp>
      <p:sp>
        <p:nvSpPr>
          <p:cNvPr id="13" name="Text 11"/>
          <p:cNvSpPr/>
          <p:nvPr/>
        </p:nvSpPr>
        <p:spPr>
          <a:xfrm>
            <a:off x="6772011" y="3320411"/>
            <a:ext cx="4745405"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Grouped by type, built straight from commit messages.</a:t>
            </a:r>
            <a:endParaRPr lang="en-US" sz="1400" dirty="0"/>
          </a:p>
        </p:txBody>
      </p:sp>
      <p:sp>
        <p:nvSpPr>
          <p:cNvPr id="14" name="Text 12"/>
          <p:cNvSpPr/>
          <p:nvPr/>
        </p:nvSpPr>
        <p:spPr>
          <a:xfrm>
            <a:off x="6772011" y="4126483"/>
            <a:ext cx="4745405"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Nothing ships yet</a:t>
            </a:r>
            <a:endParaRPr lang="en-US" sz="1900" dirty="0"/>
          </a:p>
        </p:txBody>
      </p:sp>
      <p:sp>
        <p:nvSpPr>
          <p:cNvPr id="15" name="Text 13"/>
          <p:cNvSpPr/>
          <p:nvPr/>
        </p:nvSpPr>
        <p:spPr>
          <a:xfrm>
            <a:off x="6772011" y="4510280"/>
            <a:ext cx="4745405" cy="301436"/>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5D6270"/>
                </a:solidFill>
                <a:latin typeface="Space Grotesk" pitchFamily="34" charset="0"/>
                <a:ea typeface="Space Grotesk" pitchFamily="34" charset="-122"/>
                <a:cs typeface="Space Grotesk" pitchFamily="34" charset="-120"/>
              </a:rPr>
              <a:t>It is just a PR. Review it, wait, or merge it.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5181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38163"/>
          </a:xfrm>
          <a:prstGeom prst="rect">
            <a:avLst/>
          </a:prstGeom>
          <a:noFill/>
          <a:ln/>
        </p:spPr>
        <p:txBody>
          <a:bodyPr wrap="square" lIns="0" tIns="0" rIns="0" bIns="0" rtlCol="0" anchor="t">
            <a:normAutofit/>
          </a:bodyPr>
          <a:lstStyle/>
          <a:p>
            <a:pPr algn="l" indent="0" marL="0">
              <a:lnSpc>
                <a:spcPts val="3539"/>
              </a:lnSpc>
              <a:buNone/>
            </a:pPr>
            <a:r>
              <a:rPr lang="en-US" sz="3218" b="1" i="0" spc="-50" kern="0" dirty="0">
                <a:solidFill>
                  <a:srgbClr val="F6F3EC"/>
                </a:solidFill>
                <a:latin typeface="Space Grotesk" pitchFamily="34" charset="0"/>
                <a:ea typeface="Space Grotesk" pitchFamily="34" charset="-122"/>
                <a:cs typeface="Space Grotesk" pitchFamily="34" charset="-120"/>
              </a:rPr>
              <a:t>Setup: one workflow file</a:t>
            </a:r>
            <a:endParaRPr lang="en-US" sz="3218" dirty="0"/>
          </a:p>
        </p:txBody>
      </p:sp>
      <p:sp>
        <p:nvSpPr>
          <p:cNvPr id="3" name="Text 1"/>
          <p:cNvSpPr/>
          <p:nvPr/>
        </p:nvSpPr>
        <p:spPr>
          <a:xfrm>
            <a:off x="819150" y="1354404"/>
            <a:ext cx="6178059" cy="4966758"/>
          </a:xfrm>
          <a:prstGeom prst="roundRect">
            <a:avLst>
              <a:gd name="adj" fmla="val 2429"/>
            </a:avLst>
          </a:prstGeom>
          <a:solidFill>
            <a:srgbClr val="0D0F14"/>
          </a:solidFill>
          <a:ln w="12700">
            <a:solidFill>
              <a:srgbClr val="2A2F3A"/>
            </a:solidFill>
            <a:prstDash val="solid"/>
          </a:ln>
        </p:spPr>
        <p:txBody>
          <a:bodyPr wrap="square" lIns="275208" tIns="224408" rIns="108499" bIns="199008" rtlCol="0" anchor="t">
            <a:normAutofit/>
          </a:bodyPr>
          <a:lstStyle/>
          <a:p>
            <a:pPr algn="l" indent="0" marL="0">
              <a:lnSpc>
                <a:spcPts val="2030"/>
              </a:lnSpc>
              <a:buNone/>
            </a:pPr>
            <a:r>
              <a:rPr lang="en-US" sz="1400" dirty="0">
                <a:solidFill>
                  <a:srgbClr val="A3A9B6"/>
                </a:solidFill>
                <a:latin typeface="JetBrains Mono" pitchFamily="49" charset="0"/>
                <a:ea typeface="JetBrains Mono" pitchFamily="49" charset="-122"/>
                <a:cs typeface="JetBrains Mono" pitchFamily="49" charset="-120"/>
              </a:rPr>
              <a:t># .github/workflows/release-please.yml</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on</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push</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branches</a:t>
            </a:r>
            <a:r>
              <a:rPr lang="en-US" sz="1400" dirty="0">
                <a:solidFill>
                  <a:srgbClr val="E6E2D8"/>
                </a:solidFill>
                <a:latin typeface="JetBrains Mono" pitchFamily="49" charset="0"/>
                <a:ea typeface="JetBrains Mono" pitchFamily="49" charset="-122"/>
                <a:cs typeface="JetBrains Mono" pitchFamily="49" charset="-120"/>
              </a:rPr>
              <a:t>: [main]</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permissions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contents</a:t>
            </a:r>
            <a:r>
              <a:rPr lang="en-US" sz="1400" dirty="0">
                <a:solidFill>
                  <a:srgbClr val="E6E2D8"/>
                </a:solidFill>
                <a:latin typeface="JetBrains Mono" pitchFamily="49" charset="0"/>
                <a:ea typeface="JetBrains Mono" pitchFamily="49" charset="-122"/>
                <a:cs typeface="JetBrains Mono" pitchFamily="49" charset="-120"/>
              </a:rPr>
              <a:t>: write</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pull-requests</a:t>
            </a:r>
            <a:r>
              <a:rPr lang="en-US" sz="1400" dirty="0">
                <a:solidFill>
                  <a:srgbClr val="E6E2D8"/>
                </a:solidFill>
                <a:latin typeface="JetBrains Mono" pitchFamily="49" charset="0"/>
                <a:ea typeface="JetBrains Mono" pitchFamily="49" charset="-122"/>
                <a:cs typeface="JetBrains Mono" pitchFamily="49" charset="-120"/>
              </a:rPr>
              <a:t>: write</a:t>
            </a:r>
            <a:endParaRPr lang="en-US" sz="1400" dirty="0"/>
          </a:p>
          <a:p>
            <a:pPr algn="l" indent="0" marL="0">
              <a:lnSpc>
                <a:spcPts val="2030"/>
              </a:lnSpc>
              <a:buNone/>
            </a:pPr>
            <a:r>
              <a:rPr lang="en-US" sz="1400" dirty="0">
                <a:solidFill>
                  <a:srgbClr val="7FB0FF"/>
                </a:solidFill>
                <a:latin typeface="JetBrains Mono" pitchFamily="49" charset="0"/>
                <a:ea typeface="JetBrains Mono" pitchFamily="49" charset="-122"/>
                <a:cs typeface="JetBrains Mono" pitchFamily="49" charset="-120"/>
              </a:rPr>
              <a:t>jobs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release-please</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runs-on</a:t>
            </a:r>
            <a:r>
              <a:rPr lang="en-US" sz="1400" dirty="0">
                <a:solidFill>
                  <a:srgbClr val="E6E2D8"/>
                </a:solidFill>
                <a:latin typeface="JetBrains Mono" pitchFamily="49" charset="0"/>
                <a:ea typeface="JetBrains Mono" pitchFamily="49" charset="-122"/>
                <a:cs typeface="JetBrains Mono" pitchFamily="49" charset="-120"/>
              </a:rPr>
              <a:t>: ubuntu-latest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steps</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 </a:t>
            </a:r>
            <a:r>
              <a:rPr lang="en-US" sz="1400" dirty="0">
                <a:solidFill>
                  <a:srgbClr val="7FB0FF"/>
                </a:solidFill>
                <a:latin typeface="JetBrains Mono" pitchFamily="49" charset="0"/>
                <a:ea typeface="JetBrains Mono" pitchFamily="49" charset="-122"/>
                <a:cs typeface="JetBrains Mono" pitchFamily="49" charset="-120"/>
              </a:rPr>
              <a:t>uses</a:t>
            </a: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FF8A5C"/>
                </a:solidFill>
                <a:latin typeface="JetBrains Mono" pitchFamily="49" charset="0"/>
                <a:ea typeface="JetBrains Mono" pitchFamily="49" charset="-122"/>
                <a:cs typeface="JetBrains Mono" pitchFamily="49" charset="-120"/>
              </a:rPr>
              <a:t>googleapis/release-please-action@v4</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with</a:t>
            </a:r>
            <a:r>
              <a:rPr lang="en-US" sz="1400" dirty="0">
                <a:solidFill>
                  <a:srgbClr val="E6E2D8"/>
                </a:solidFill>
                <a:latin typeface="JetBrains Mono" pitchFamily="49" charset="0"/>
                <a:ea typeface="JetBrains Mono" pitchFamily="49" charset="-122"/>
                <a:cs typeface="JetBrains Mono" pitchFamily="49" charset="-120"/>
              </a:rPr>
              <a:t>:</a:t>
            </a:r>
            <a:endParaRPr lang="en-US" sz="1400" dirty="0"/>
          </a:p>
          <a:p>
            <a:pPr algn="l" indent="0" marL="0">
              <a:lnSpc>
                <a:spcPts val="2030"/>
              </a:lnSpc>
              <a:buNone/>
            </a:pPr>
            <a:r>
              <a:rPr lang="en-US" sz="1400" dirty="0">
                <a:solidFill>
                  <a:srgbClr val="E6E2D8"/>
                </a:solidFill>
                <a:latin typeface="JetBrains Mono" pitchFamily="49" charset="0"/>
                <a:ea typeface="JetBrains Mono" pitchFamily="49" charset="-122"/>
                <a:cs typeface="JetBrains Mono" pitchFamily="49" charset="-120"/>
              </a:rPr>
              <a:t>          </a:t>
            </a:r>
            <a:r>
              <a:rPr lang="en-US" sz="1400" dirty="0">
                <a:solidFill>
                  <a:srgbClr val="7FB0FF"/>
                </a:solidFill>
                <a:latin typeface="JetBrains Mono" pitchFamily="49" charset="0"/>
                <a:ea typeface="JetBrains Mono" pitchFamily="49" charset="-122"/>
                <a:cs typeface="JetBrains Mono" pitchFamily="49" charset="-120"/>
              </a:rPr>
              <a:t>release-type</a:t>
            </a:r>
            <a:r>
              <a:rPr lang="en-US" sz="1400" dirty="0">
                <a:solidFill>
                  <a:srgbClr val="E6E2D8"/>
                </a:solidFill>
                <a:latin typeface="JetBrains Mono" pitchFamily="49" charset="0"/>
                <a:ea typeface="JetBrains Mono" pitchFamily="49" charset="-122"/>
                <a:cs typeface="JetBrains Mono" pitchFamily="49" charset="-120"/>
              </a:rPr>
              <a:t>: node</a:t>
            </a:r>
            <a:endParaRPr lang="en-US" sz="1400" dirty="0"/>
          </a:p>
        </p:txBody>
      </p:sp>
      <p:sp>
        <p:nvSpPr>
          <p:cNvPr id="4" name="Text 2"/>
          <p:cNvSpPr/>
          <p:nvPr/>
        </p:nvSpPr>
        <p:spPr>
          <a:xfrm>
            <a:off x="7409959" y="2068252"/>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Pick a release type</a:t>
            </a:r>
            <a:endParaRPr lang="en-US" sz="1800" dirty="0"/>
          </a:p>
        </p:txBody>
      </p:sp>
      <p:sp>
        <p:nvSpPr>
          <p:cNvPr id="5" name="Text 3"/>
          <p:cNvSpPr/>
          <p:nvPr/>
        </p:nvSpPr>
        <p:spPr>
          <a:xfrm>
            <a:off x="7409959" y="2434506"/>
            <a:ext cx="4088319" cy="853508"/>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node, python, go, java, simple, and more. It tells the bot which files hold the version.</a:t>
            </a:r>
            <a:endParaRPr lang="en-US" sz="1400" dirty="0"/>
          </a:p>
        </p:txBody>
      </p:sp>
      <p:sp>
        <p:nvSpPr>
          <p:cNvPr id="6" name="Text 4"/>
          <p:cNvSpPr/>
          <p:nvPr/>
        </p:nvSpPr>
        <p:spPr>
          <a:xfrm>
            <a:off x="7409959" y="3516616"/>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Grant two permissions</a:t>
            </a:r>
            <a:endParaRPr lang="en-US" sz="1800" dirty="0"/>
          </a:p>
        </p:txBody>
      </p:sp>
      <p:sp>
        <p:nvSpPr>
          <p:cNvPr id="7" name="Text 5"/>
          <p:cNvSpPr/>
          <p:nvPr/>
        </p:nvSpPr>
        <p:spPr>
          <a:xfrm>
            <a:off x="7409959" y="3882876"/>
            <a:ext cx="4088319"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Write access to contents and pull requests.</a:t>
            </a:r>
            <a:endParaRPr lang="en-US" sz="1400" dirty="0"/>
          </a:p>
        </p:txBody>
      </p:sp>
      <p:sp>
        <p:nvSpPr>
          <p:cNvPr id="8" name="Text 6"/>
          <p:cNvSpPr/>
          <p:nvPr/>
        </p:nvSpPr>
        <p:spPr>
          <a:xfrm>
            <a:off x="7409959" y="4688948"/>
            <a:ext cx="4088319" cy="340859"/>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F8A5C"/>
                </a:solidFill>
                <a:latin typeface="Space Grotesk" pitchFamily="34" charset="0"/>
                <a:ea typeface="Space Grotesk" pitchFamily="34" charset="-122"/>
                <a:cs typeface="Space Grotesk" pitchFamily="34" charset="-120"/>
              </a:rPr>
              <a:t>Monorepo?</a:t>
            </a:r>
            <a:endParaRPr lang="en-US" sz="1800" dirty="0"/>
          </a:p>
        </p:txBody>
      </p:sp>
      <p:sp>
        <p:nvSpPr>
          <p:cNvPr id="9" name="Text 7"/>
          <p:cNvSpPr/>
          <p:nvPr/>
        </p:nvSpPr>
        <p:spPr>
          <a:xfrm>
            <a:off x="7409959" y="5055208"/>
            <a:ext cx="4088319" cy="577472"/>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3A9B6"/>
                </a:solidFill>
                <a:latin typeface="Space Grotesk" pitchFamily="34" charset="0"/>
                <a:ea typeface="Space Grotesk" pitchFamily="34" charset="-122"/>
                <a:cs typeface="Space Grotesk" pitchFamily="34" charset="-120"/>
              </a:rPr>
              <a:t>Add a config file and a manifest to version each package separately.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521985"/>
          </a:xfrm>
          <a:prstGeom prst="rect">
            <a:avLst/>
          </a:prstGeom>
          <a:noFill/>
          <a:ln/>
        </p:spPr>
        <p:txBody>
          <a:bodyPr wrap="square" lIns="0" tIns="0" rIns="0" bIns="0" rtlCol="0" anchor="t">
            <a:normAutofit/>
          </a:bodyPr>
          <a:lstStyle/>
          <a:p>
            <a:pPr algn="l" indent="0" marL="0">
              <a:lnSpc>
                <a:spcPts val="3403"/>
              </a:lnSpc>
              <a:buNone/>
            </a:pPr>
            <a:r>
              <a:rPr lang="en-US" sz="3094" b="1" i="0" spc="-50" kern="0" dirty="0">
                <a:solidFill>
                  <a:srgbClr val="1B1E26"/>
                </a:solidFill>
                <a:latin typeface="Space Grotesk" pitchFamily="34" charset="0"/>
                <a:ea typeface="Space Grotesk" pitchFamily="34" charset="-122"/>
                <a:cs typeface="Space Grotesk" pitchFamily="34" charset="-120"/>
              </a:rPr>
              <a:t>PR titles vs. commits: what lands on main</a:t>
            </a:r>
            <a:endParaRPr lang="en-US" sz="3094" dirty="0"/>
          </a:p>
        </p:txBody>
      </p:sp>
      <p:sp>
        <p:nvSpPr>
          <p:cNvPr id="3" name="Shape 1"/>
          <p:cNvSpPr/>
          <p:nvPr/>
        </p:nvSpPr>
        <p:spPr>
          <a:xfrm>
            <a:off x="819150" y="1569734"/>
            <a:ext cx="5118100" cy="3418719"/>
          </a:xfrm>
          <a:prstGeom prst="roundRect">
            <a:avLst>
              <a:gd name="adj" fmla="val 2786"/>
            </a:avLst>
          </a:prstGeom>
          <a:solidFill>
            <a:srgbClr val="FFFDF8"/>
          </a:solidFill>
          <a:ln w="12700">
            <a:solidFill>
              <a:srgbClr val="E2DDD2"/>
            </a:solidFill>
            <a:prstDash val="solid"/>
          </a:ln>
        </p:spPr>
      </p:sp>
      <p:sp>
        <p:nvSpPr>
          <p:cNvPr id="4" name="Text 2"/>
          <p:cNvSpPr/>
          <p:nvPr/>
        </p:nvSpPr>
        <p:spPr>
          <a:xfrm>
            <a:off x="1028095" y="1778682"/>
            <a:ext cx="4841216" cy="308882"/>
          </a:xfrm>
          <a:prstGeom prst="rect">
            <a:avLst/>
          </a:prstGeom>
          <a:noFill/>
          <a:ln/>
        </p:spPr>
        <p:txBody>
          <a:bodyPr wrap="square" lIns="0" tIns="0" rIns="0" bIns="0" rtlCol="0" anchor="t">
            <a:normAutofit/>
          </a:bodyPr>
          <a:lstStyle/>
          <a:p>
            <a:pPr algn="l" indent="0" marL="0">
              <a:lnSpc>
                <a:spcPts val="1973"/>
              </a:lnSpc>
              <a:buNone/>
            </a:pPr>
            <a:r>
              <a:rPr lang="en-US" sz="1644" b="1" dirty="0">
                <a:solidFill>
                  <a:srgbClr val="1B1E26"/>
                </a:solidFill>
                <a:latin typeface="Space Grotesk" pitchFamily="34" charset="0"/>
                <a:ea typeface="Space Grotesk" pitchFamily="34" charset="-122"/>
                <a:cs typeface="Space Grotesk" pitchFamily="34" charset="-120"/>
              </a:rPr>
              <a:t>Squash merge </a:t>
            </a:r>
            <a:r>
              <a:rPr lang="en-US" sz="1644" b="1" dirty="0">
                <a:solidFill>
                  <a:srgbClr val="B8441B"/>
                </a:solidFill>
                <a:latin typeface="Space Grotesk" pitchFamily="34" charset="0"/>
                <a:ea typeface="Space Grotesk" pitchFamily="34" charset="-122"/>
                <a:cs typeface="Space Grotesk" pitchFamily="34" charset="-120"/>
              </a:rPr>
              <a:t>(recommended)</a:t>
            </a:r>
            <a:endParaRPr lang="en-US" sz="1644" dirty="0"/>
          </a:p>
        </p:txBody>
      </p:sp>
      <p:sp>
        <p:nvSpPr>
          <p:cNvPr id="5" name="Text 3"/>
          <p:cNvSpPr/>
          <p:nvPr/>
        </p:nvSpPr>
        <p:spPr>
          <a:xfrm>
            <a:off x="1028095" y="2163763"/>
            <a:ext cx="4841216" cy="256910"/>
          </a:xfrm>
          <a:prstGeom prst="rect">
            <a:avLst/>
          </a:prstGeom>
          <a:noFill/>
          <a:ln/>
        </p:spPr>
        <p:txBody>
          <a:bodyPr wrap="square" lIns="0" tIns="0" rIns="0" bIns="0" rtlCol="0" anchor="t">
            <a:normAutofit/>
          </a:bodyPr>
          <a:lstStyle/>
          <a:p>
            <a:pPr algn="l" indent="0" marL="0">
              <a:lnSpc>
                <a:spcPts val="1586"/>
              </a:lnSpc>
              <a:buNone/>
            </a:pPr>
            <a:r>
              <a:rPr lang="en-US" sz="1133" b="1" dirty="0">
                <a:solidFill>
                  <a:srgbClr val="5D6270"/>
                </a:solidFill>
                <a:latin typeface="Space Grotesk" pitchFamily="34" charset="0"/>
                <a:ea typeface="Space Grotesk" pitchFamily="34" charset="-122"/>
                <a:cs typeface="Space Grotesk" pitchFamily="34" charset="-120"/>
              </a:rPr>
              <a:t>Only the PR title matters</a:t>
            </a:r>
            <a:endParaRPr lang="en-US" sz="1133" dirty="0"/>
          </a:p>
        </p:txBody>
      </p:sp>
      <p:sp>
        <p:nvSpPr>
          <p:cNvPr id="6" name="Shape 4"/>
          <p:cNvSpPr/>
          <p:nvPr/>
        </p:nvSpPr>
        <p:spPr>
          <a:xfrm>
            <a:off x="1028095" y="2496877"/>
            <a:ext cx="4700210" cy="1486354"/>
          </a:xfrm>
          <a:prstGeom prst="roundRect">
            <a:avLst>
              <a:gd name="adj" fmla="val 5127"/>
            </a:avLst>
          </a:prstGeom>
          <a:solidFill>
            <a:srgbClr val="15181F"/>
          </a:solidFill>
          <a:ln/>
        </p:spPr>
      </p:sp>
      <p:sp>
        <p:nvSpPr>
          <p:cNvPr id="7" name="Text 5"/>
          <p:cNvSpPr/>
          <p:nvPr/>
        </p:nvSpPr>
        <p:spPr>
          <a:xfrm>
            <a:off x="1231295" y="2649277"/>
            <a:ext cx="4422624" cy="234459"/>
          </a:xfrm>
          <a:prstGeom prst="rect">
            <a:avLst/>
          </a:prstGeom>
          <a:noFill/>
          <a:ln/>
        </p:spPr>
        <p:txBody>
          <a:bodyPr wrap="square" lIns="0" tIns="0" rIns="0" bIns="0" rtlCol="0" anchor="t">
            <a:normAutofit/>
          </a:bodyPr>
          <a:lstStyle/>
          <a:p>
            <a:pPr algn="l" indent="0" marL="0">
              <a:lnSpc>
                <a:spcPts val="1456"/>
              </a:lnSpc>
              <a:buNone/>
            </a:pPr>
            <a:r>
              <a:rPr lang="en-US" sz="1040" strike="sngStrike" dirty="0">
                <a:solidFill>
                  <a:srgbClr val="8A909C"/>
                </a:solidFill>
                <a:latin typeface="JetBrains Mono" pitchFamily="49" charset="0"/>
                <a:ea typeface="JetBrains Mono" pitchFamily="49" charset="-122"/>
                <a:cs typeface="JetBrains Mono" pitchFamily="49" charset="-120"/>
              </a:rPr>
              <a:t>wip</a:t>
            </a:r>
            <a:endParaRPr lang="en-US" sz="1040" dirty="0"/>
          </a:p>
        </p:txBody>
      </p:sp>
      <p:sp>
        <p:nvSpPr>
          <p:cNvPr id="8" name="Text 6"/>
          <p:cNvSpPr/>
          <p:nvPr/>
        </p:nvSpPr>
        <p:spPr>
          <a:xfrm>
            <a:off x="1231295" y="2896431"/>
            <a:ext cx="4422624" cy="234421"/>
          </a:xfrm>
          <a:prstGeom prst="rect">
            <a:avLst/>
          </a:prstGeom>
          <a:noFill/>
          <a:ln/>
        </p:spPr>
        <p:txBody>
          <a:bodyPr wrap="square" lIns="0" tIns="0" rIns="0" bIns="0" rtlCol="0" anchor="t">
            <a:normAutofit/>
          </a:bodyPr>
          <a:lstStyle/>
          <a:p>
            <a:pPr algn="l" indent="0" marL="0">
              <a:lnSpc>
                <a:spcPts val="1456"/>
              </a:lnSpc>
              <a:buNone/>
            </a:pPr>
            <a:r>
              <a:rPr lang="en-US" sz="1040" strike="sngStrike" dirty="0">
                <a:solidFill>
                  <a:srgbClr val="8A909C"/>
                </a:solidFill>
                <a:latin typeface="JetBrains Mono" pitchFamily="49" charset="0"/>
                <a:ea typeface="JetBrains Mono" pitchFamily="49" charset="-122"/>
                <a:cs typeface="JetBrains Mono" pitchFamily="49" charset="-120"/>
              </a:rPr>
              <a:t>fix typo</a:t>
            </a:r>
            <a:endParaRPr lang="en-US" sz="1040" dirty="0"/>
          </a:p>
        </p:txBody>
      </p:sp>
      <p:sp>
        <p:nvSpPr>
          <p:cNvPr id="9" name="Text 7"/>
          <p:cNvSpPr/>
          <p:nvPr/>
        </p:nvSpPr>
        <p:spPr>
          <a:xfrm>
            <a:off x="1231295" y="3143554"/>
            <a:ext cx="4422624" cy="234459"/>
          </a:xfrm>
          <a:prstGeom prst="rect">
            <a:avLst/>
          </a:prstGeom>
          <a:noFill/>
          <a:ln/>
        </p:spPr>
        <p:txBody>
          <a:bodyPr wrap="square" lIns="0" tIns="0" rIns="0" bIns="0" rtlCol="0" anchor="t">
            <a:normAutofit/>
          </a:bodyPr>
          <a:lstStyle/>
          <a:p>
            <a:pPr algn="l" indent="0" marL="0">
              <a:lnSpc>
                <a:spcPts val="1456"/>
              </a:lnSpc>
              <a:buNone/>
            </a:pPr>
            <a:r>
              <a:rPr lang="en-US" sz="1040" strike="sngStrike" dirty="0">
                <a:solidFill>
                  <a:srgbClr val="8A909C"/>
                </a:solidFill>
                <a:latin typeface="JetBrains Mono" pitchFamily="49" charset="0"/>
                <a:ea typeface="JetBrains Mono" pitchFamily="49" charset="-122"/>
                <a:cs typeface="JetBrains Mono" pitchFamily="49" charset="-120"/>
              </a:rPr>
              <a:t>try again</a:t>
            </a:r>
            <a:endParaRPr lang="en-US" sz="1040" dirty="0"/>
          </a:p>
        </p:txBody>
      </p:sp>
      <p:sp>
        <p:nvSpPr>
          <p:cNvPr id="10" name="Text 8"/>
          <p:cNvSpPr/>
          <p:nvPr/>
        </p:nvSpPr>
        <p:spPr>
          <a:xfrm>
            <a:off x="1231295" y="3390714"/>
            <a:ext cx="4422624" cy="218357"/>
          </a:xfrm>
          <a:prstGeom prst="rect">
            <a:avLst/>
          </a:prstGeom>
          <a:noFill/>
          <a:ln/>
        </p:spPr>
        <p:txBody>
          <a:bodyPr wrap="square" lIns="0" tIns="0" rIns="0" bIns="0" rtlCol="0" anchor="t">
            <a:normAutofit/>
          </a:bodyPr>
          <a:lstStyle/>
          <a:p>
            <a:pPr algn="l" indent="0" marL="0">
              <a:lnSpc>
                <a:spcPts val="1323"/>
              </a:lnSpc>
              <a:buNone/>
            </a:pPr>
            <a:r>
              <a:rPr lang="en-US" sz="945" dirty="0">
                <a:solidFill>
                  <a:srgbClr val="A3A9B6"/>
                </a:solidFill>
                <a:latin typeface="Space Grotesk" pitchFamily="34" charset="0"/>
                <a:ea typeface="Space Grotesk" pitchFamily="34" charset="-122"/>
                <a:cs typeface="Space Grotesk" pitchFamily="34" charset="-120"/>
              </a:rPr>
              <a:t>squashed into one commit on main:</a:t>
            </a:r>
            <a:endParaRPr lang="en-US" sz="945" dirty="0"/>
          </a:p>
        </p:txBody>
      </p:sp>
      <p:sp>
        <p:nvSpPr>
          <p:cNvPr id="11" name="Text 9"/>
          <p:cNvSpPr/>
          <p:nvPr/>
        </p:nvSpPr>
        <p:spPr>
          <a:xfrm>
            <a:off x="1231295" y="3621770"/>
            <a:ext cx="4422624" cy="234459"/>
          </a:xfrm>
          <a:prstGeom prst="rect">
            <a:avLst/>
          </a:prstGeom>
          <a:noFill/>
          <a:ln/>
        </p:spPr>
        <p:txBody>
          <a:bodyPr wrap="square" lIns="0" tIns="0" rIns="0" bIns="0" rtlCol="0" anchor="t">
            <a:normAutofit/>
          </a:bodyPr>
          <a:lstStyle/>
          <a:p>
            <a:pPr algn="l" indent="0" marL="0">
              <a:lnSpc>
                <a:spcPts val="1456"/>
              </a:lnSpc>
              <a:buNone/>
            </a:pPr>
            <a:r>
              <a:rPr lang="en-US" sz="1040" b="1" dirty="0">
                <a:solidFill>
                  <a:srgbClr val="FF8A5C"/>
                </a:solidFill>
                <a:latin typeface="JetBrains Mono" pitchFamily="49" charset="0"/>
                <a:ea typeface="JetBrains Mono" pitchFamily="49" charset="-122"/>
                <a:cs typeface="JetBrains Mono" pitchFamily="49" charset="-120"/>
              </a:rPr>
              <a:t>feat(reports): export to CSV</a:t>
            </a:r>
            <a:endParaRPr lang="en-US" sz="1040" dirty="0"/>
          </a:p>
        </p:txBody>
      </p:sp>
      <p:sp>
        <p:nvSpPr>
          <p:cNvPr id="12" name="Text 10"/>
          <p:cNvSpPr/>
          <p:nvPr/>
        </p:nvSpPr>
        <p:spPr>
          <a:xfrm>
            <a:off x="1028095" y="4084830"/>
            <a:ext cx="4841216" cy="720082"/>
          </a:xfrm>
          <a:prstGeom prst="rect">
            <a:avLst/>
          </a:prstGeom>
          <a:noFill/>
          <a:ln/>
        </p:spPr>
        <p:txBody>
          <a:bodyPr wrap="square" lIns="0" tIns="0" rIns="0" bIns="0" rtlCol="0" anchor="t">
            <a:normAutofit/>
          </a:bodyPr>
          <a:lstStyle/>
          <a:p>
            <a:pPr algn="l" indent="0" marL="0">
              <a:lnSpc>
                <a:spcPts val="1880"/>
              </a:lnSpc>
              <a:buNone/>
            </a:pPr>
            <a:r>
              <a:rPr lang="en-US" sz="1343" dirty="0">
                <a:solidFill>
                  <a:srgbClr val="1B1E26"/>
                </a:solidFill>
                <a:latin typeface="Space Grotesk" pitchFamily="34" charset="0"/>
                <a:ea typeface="Space Grotesk" pitchFamily="34" charset="-122"/>
                <a:cs typeface="Space Grotesk" pitchFamily="34" charset="-120"/>
              </a:rPr>
              <a:t>Messy branch commits are fine. The </a:t>
            </a:r>
            <a:r>
              <a:rPr lang="en-US" sz="1343" b="1" dirty="0">
                <a:solidFill>
                  <a:srgbClr val="1B1E26"/>
                </a:solidFill>
                <a:latin typeface="Space Grotesk" pitchFamily="34" charset="0"/>
                <a:ea typeface="Space Grotesk" pitchFamily="34" charset="-122"/>
                <a:cs typeface="Space Grotesk" pitchFamily="34" charset="-120"/>
              </a:rPr>
              <a:t>PR title</a:t>
            </a:r>
            <a:r>
              <a:rPr lang="en-US" sz="1343" dirty="0">
                <a:solidFill>
                  <a:srgbClr val="1B1E26"/>
                </a:solidFill>
                <a:latin typeface="Space Grotesk" pitchFamily="34" charset="0"/>
                <a:ea typeface="Space Grotesk" pitchFamily="34" charset="-122"/>
                <a:cs typeface="Space Grotesk" pitchFamily="34" charset="-120"/>
              </a:rPr>
              <a:t> becomes the single commit Release Please reads.</a:t>
            </a:r>
            <a:endParaRPr lang="en-US" sz="1343" dirty="0"/>
          </a:p>
        </p:txBody>
      </p:sp>
      <p:sp>
        <p:nvSpPr>
          <p:cNvPr id="13" name="Shape 11"/>
          <p:cNvSpPr/>
          <p:nvPr/>
        </p:nvSpPr>
        <p:spPr>
          <a:xfrm>
            <a:off x="6254750" y="1569734"/>
            <a:ext cx="5118100" cy="3418719"/>
          </a:xfrm>
          <a:prstGeom prst="roundRect">
            <a:avLst>
              <a:gd name="adj" fmla="val 2786"/>
            </a:avLst>
          </a:prstGeom>
          <a:solidFill>
            <a:srgbClr val="FFFDF8"/>
          </a:solidFill>
          <a:ln w="12700">
            <a:solidFill>
              <a:srgbClr val="E2DDD2"/>
            </a:solidFill>
            <a:prstDash val="solid"/>
          </a:ln>
        </p:spPr>
      </p:sp>
      <p:sp>
        <p:nvSpPr>
          <p:cNvPr id="14" name="Text 12"/>
          <p:cNvSpPr/>
          <p:nvPr/>
        </p:nvSpPr>
        <p:spPr>
          <a:xfrm>
            <a:off x="6463695" y="1778682"/>
            <a:ext cx="4841216" cy="308882"/>
          </a:xfrm>
          <a:prstGeom prst="rect">
            <a:avLst/>
          </a:prstGeom>
          <a:noFill/>
          <a:ln/>
        </p:spPr>
        <p:txBody>
          <a:bodyPr wrap="square" lIns="0" tIns="0" rIns="0" bIns="0" rtlCol="0" anchor="t">
            <a:normAutofit/>
          </a:bodyPr>
          <a:lstStyle/>
          <a:p>
            <a:pPr algn="l" indent="0" marL="0">
              <a:lnSpc>
                <a:spcPts val="1973"/>
              </a:lnSpc>
              <a:buNone/>
            </a:pPr>
            <a:r>
              <a:rPr lang="en-US" sz="1644" b="1" dirty="0">
                <a:solidFill>
                  <a:srgbClr val="1B1E26"/>
                </a:solidFill>
                <a:latin typeface="Space Grotesk" pitchFamily="34" charset="0"/>
                <a:ea typeface="Space Grotesk" pitchFamily="34" charset="-122"/>
                <a:cs typeface="Space Grotesk" pitchFamily="34" charset="-120"/>
              </a:rPr>
              <a:t>Merge commit or rebase</a:t>
            </a:r>
            <a:endParaRPr lang="en-US" sz="1644" dirty="0"/>
          </a:p>
        </p:txBody>
      </p:sp>
      <p:sp>
        <p:nvSpPr>
          <p:cNvPr id="15" name="Text 13"/>
          <p:cNvSpPr/>
          <p:nvPr/>
        </p:nvSpPr>
        <p:spPr>
          <a:xfrm>
            <a:off x="6463695" y="2163763"/>
            <a:ext cx="4841216" cy="256910"/>
          </a:xfrm>
          <a:prstGeom prst="rect">
            <a:avLst/>
          </a:prstGeom>
          <a:noFill/>
          <a:ln/>
        </p:spPr>
        <p:txBody>
          <a:bodyPr wrap="square" lIns="0" tIns="0" rIns="0" bIns="0" rtlCol="0" anchor="t">
            <a:normAutofit/>
          </a:bodyPr>
          <a:lstStyle/>
          <a:p>
            <a:pPr algn="l" indent="0" marL="0">
              <a:lnSpc>
                <a:spcPts val="1586"/>
              </a:lnSpc>
              <a:buNone/>
            </a:pPr>
            <a:r>
              <a:rPr lang="en-US" sz="1133" b="1" dirty="0">
                <a:solidFill>
                  <a:srgbClr val="5D6270"/>
                </a:solidFill>
                <a:latin typeface="Space Grotesk" pitchFamily="34" charset="0"/>
                <a:ea typeface="Space Grotesk" pitchFamily="34" charset="-122"/>
                <a:cs typeface="Space Grotesk" pitchFamily="34" charset="-120"/>
              </a:rPr>
              <a:t>Every commit matters</a:t>
            </a:r>
            <a:endParaRPr lang="en-US" sz="1133" dirty="0"/>
          </a:p>
        </p:txBody>
      </p:sp>
      <p:sp>
        <p:nvSpPr>
          <p:cNvPr id="16" name="Shape 14"/>
          <p:cNvSpPr/>
          <p:nvPr/>
        </p:nvSpPr>
        <p:spPr>
          <a:xfrm>
            <a:off x="6463695" y="2496877"/>
            <a:ext cx="4700210" cy="1486354"/>
          </a:xfrm>
          <a:prstGeom prst="roundRect">
            <a:avLst>
              <a:gd name="adj" fmla="val 5127"/>
            </a:avLst>
          </a:prstGeom>
          <a:solidFill>
            <a:srgbClr val="15181F"/>
          </a:solidFill>
          <a:ln/>
        </p:spPr>
      </p:sp>
      <p:sp>
        <p:nvSpPr>
          <p:cNvPr id="17" name="Text 15"/>
          <p:cNvSpPr/>
          <p:nvPr/>
        </p:nvSpPr>
        <p:spPr>
          <a:xfrm>
            <a:off x="6666895" y="2649277"/>
            <a:ext cx="4422624" cy="218357"/>
          </a:xfrm>
          <a:prstGeom prst="rect">
            <a:avLst/>
          </a:prstGeom>
          <a:noFill/>
          <a:ln/>
        </p:spPr>
        <p:txBody>
          <a:bodyPr wrap="square" lIns="0" tIns="0" rIns="0" bIns="0" rtlCol="0" anchor="t">
            <a:normAutofit/>
          </a:bodyPr>
          <a:lstStyle/>
          <a:p>
            <a:pPr algn="l" indent="0" marL="0">
              <a:lnSpc>
                <a:spcPts val="1323"/>
              </a:lnSpc>
              <a:buNone/>
            </a:pPr>
            <a:r>
              <a:rPr lang="en-US" sz="945" dirty="0">
                <a:solidFill>
                  <a:srgbClr val="A3A9B6"/>
                </a:solidFill>
                <a:latin typeface="Space Grotesk" pitchFamily="34" charset="0"/>
                <a:ea typeface="Space Grotesk" pitchFamily="34" charset="-122"/>
                <a:cs typeface="Space Grotesk" pitchFamily="34" charset="-120"/>
              </a:rPr>
              <a:t>every branch commit lands on main:</a:t>
            </a:r>
            <a:endParaRPr lang="en-US" sz="945" dirty="0"/>
          </a:p>
        </p:txBody>
      </p:sp>
      <p:sp>
        <p:nvSpPr>
          <p:cNvPr id="18" name="Text 16"/>
          <p:cNvSpPr/>
          <p:nvPr/>
        </p:nvSpPr>
        <p:spPr>
          <a:xfrm>
            <a:off x="6666895" y="2880333"/>
            <a:ext cx="4422624" cy="234421"/>
          </a:xfrm>
          <a:prstGeom prst="rect">
            <a:avLst/>
          </a:prstGeom>
          <a:noFill/>
          <a:ln/>
        </p:spPr>
        <p:txBody>
          <a:bodyPr wrap="square" lIns="0" tIns="0" rIns="0" bIns="0" rtlCol="0" anchor="t">
            <a:normAutofit/>
          </a:bodyPr>
          <a:lstStyle/>
          <a:p>
            <a:pPr algn="l" indent="0" marL="0">
              <a:lnSpc>
                <a:spcPts val="1456"/>
              </a:lnSpc>
              <a:buNone/>
            </a:pPr>
            <a:r>
              <a:rPr lang="en-US" sz="1040" b="1" dirty="0">
                <a:solidFill>
                  <a:srgbClr val="7FB0FF"/>
                </a:solidFill>
                <a:latin typeface="JetBrains Mono" pitchFamily="49" charset="0"/>
                <a:ea typeface="JetBrains Mono" pitchFamily="49" charset="-122"/>
                <a:cs typeface="JetBrains Mono" pitchFamily="49" charset="-120"/>
              </a:rPr>
              <a:t>feat(reports): export to CSV</a:t>
            </a:r>
            <a:endParaRPr lang="en-US" sz="1040" dirty="0"/>
          </a:p>
        </p:txBody>
      </p:sp>
      <p:sp>
        <p:nvSpPr>
          <p:cNvPr id="19" name="Text 17"/>
          <p:cNvSpPr/>
          <p:nvPr/>
        </p:nvSpPr>
        <p:spPr>
          <a:xfrm>
            <a:off x="6666895" y="3127449"/>
            <a:ext cx="4422624" cy="234459"/>
          </a:xfrm>
          <a:prstGeom prst="rect">
            <a:avLst/>
          </a:prstGeom>
          <a:noFill/>
          <a:ln/>
        </p:spPr>
        <p:txBody>
          <a:bodyPr wrap="square" lIns="0" tIns="0" rIns="0" bIns="0" rtlCol="0" anchor="t">
            <a:normAutofit/>
          </a:bodyPr>
          <a:lstStyle/>
          <a:p>
            <a:pPr algn="l" indent="0" marL="0">
              <a:lnSpc>
                <a:spcPts val="1456"/>
              </a:lnSpc>
              <a:buNone/>
            </a:pPr>
            <a:r>
              <a:rPr lang="en-US" sz="1040" dirty="0">
                <a:solidFill>
                  <a:srgbClr val="E6E2D8"/>
                </a:solidFill>
                <a:latin typeface="JetBrains Mono" pitchFamily="49" charset="0"/>
                <a:ea typeface="JetBrains Mono" pitchFamily="49" charset="-122"/>
                <a:cs typeface="JetBrains Mono" pitchFamily="49" charset="-120"/>
              </a:rPr>
              <a:t>wip </a:t>
            </a:r>
            <a:r>
              <a:rPr lang="en-US" sz="1040" dirty="0">
                <a:solidFill>
                  <a:srgbClr val="FFD166"/>
                </a:solidFill>
                <a:latin typeface="JetBrains Mono" pitchFamily="49" charset="0"/>
                <a:ea typeface="JetBrains Mono" pitchFamily="49" charset="-122"/>
                <a:cs typeface="JetBrains Mono" pitchFamily="49" charset="-120"/>
              </a:rPr>
              <a:t>(skipped)</a:t>
            </a:r>
            <a:endParaRPr lang="en-US" sz="1040" dirty="0"/>
          </a:p>
        </p:txBody>
      </p:sp>
      <p:sp>
        <p:nvSpPr>
          <p:cNvPr id="20" name="Text 18"/>
          <p:cNvSpPr/>
          <p:nvPr/>
        </p:nvSpPr>
        <p:spPr>
          <a:xfrm>
            <a:off x="6666895" y="3374610"/>
            <a:ext cx="4422624" cy="234459"/>
          </a:xfrm>
          <a:prstGeom prst="rect">
            <a:avLst/>
          </a:prstGeom>
          <a:noFill/>
          <a:ln/>
        </p:spPr>
        <p:txBody>
          <a:bodyPr wrap="square" lIns="0" tIns="0" rIns="0" bIns="0" rtlCol="0" anchor="t">
            <a:normAutofit/>
          </a:bodyPr>
          <a:lstStyle/>
          <a:p>
            <a:pPr algn="l" indent="0" marL="0">
              <a:lnSpc>
                <a:spcPts val="1456"/>
              </a:lnSpc>
              <a:buNone/>
            </a:pPr>
            <a:r>
              <a:rPr lang="en-US" sz="1040" dirty="0">
                <a:solidFill>
                  <a:srgbClr val="E6E2D8"/>
                </a:solidFill>
                <a:latin typeface="JetBrains Mono" pitchFamily="49" charset="0"/>
                <a:ea typeface="JetBrains Mono" pitchFamily="49" charset="-122"/>
                <a:cs typeface="JetBrains Mono" pitchFamily="49" charset="-120"/>
              </a:rPr>
              <a:t>fix typo </a:t>
            </a:r>
            <a:r>
              <a:rPr lang="en-US" sz="1040" dirty="0">
                <a:solidFill>
                  <a:srgbClr val="FFD166"/>
                </a:solidFill>
                <a:latin typeface="JetBrains Mono" pitchFamily="49" charset="0"/>
                <a:ea typeface="JetBrains Mono" pitchFamily="49" charset="-122"/>
                <a:cs typeface="JetBrains Mono" pitchFamily="49" charset="-120"/>
              </a:rPr>
              <a:t>(skipped)</a:t>
            </a:r>
            <a:endParaRPr lang="en-US" sz="1040" dirty="0"/>
          </a:p>
        </p:txBody>
      </p:sp>
      <p:sp>
        <p:nvSpPr>
          <p:cNvPr id="21" name="Text 19"/>
          <p:cNvSpPr/>
          <p:nvPr/>
        </p:nvSpPr>
        <p:spPr>
          <a:xfrm>
            <a:off x="6666895" y="3621770"/>
            <a:ext cx="4422624" cy="234459"/>
          </a:xfrm>
          <a:prstGeom prst="rect">
            <a:avLst/>
          </a:prstGeom>
          <a:noFill/>
          <a:ln/>
        </p:spPr>
        <p:txBody>
          <a:bodyPr wrap="square" lIns="0" tIns="0" rIns="0" bIns="0" rtlCol="0" anchor="t">
            <a:normAutofit/>
          </a:bodyPr>
          <a:lstStyle/>
          <a:p>
            <a:pPr algn="l" indent="0" marL="0">
              <a:lnSpc>
                <a:spcPts val="1456"/>
              </a:lnSpc>
              <a:buNone/>
            </a:pPr>
            <a:r>
              <a:rPr lang="en-US" sz="1040" dirty="0">
                <a:solidFill>
                  <a:srgbClr val="E6E2D8"/>
                </a:solidFill>
                <a:latin typeface="JetBrains Mono" pitchFamily="49" charset="0"/>
                <a:ea typeface="JetBrains Mono" pitchFamily="49" charset="-122"/>
                <a:cs typeface="JetBrains Mono" pitchFamily="49" charset="-120"/>
              </a:rPr>
              <a:t>try again </a:t>
            </a:r>
            <a:r>
              <a:rPr lang="en-US" sz="1040" dirty="0">
                <a:solidFill>
                  <a:srgbClr val="FFD166"/>
                </a:solidFill>
                <a:latin typeface="JetBrains Mono" pitchFamily="49" charset="0"/>
                <a:ea typeface="JetBrains Mono" pitchFamily="49" charset="-122"/>
                <a:cs typeface="JetBrains Mono" pitchFamily="49" charset="-120"/>
              </a:rPr>
              <a:t>(skipped)</a:t>
            </a:r>
            <a:endParaRPr lang="en-US" sz="1040" dirty="0"/>
          </a:p>
        </p:txBody>
      </p:sp>
      <p:sp>
        <p:nvSpPr>
          <p:cNvPr id="22" name="Text 20"/>
          <p:cNvSpPr/>
          <p:nvPr/>
        </p:nvSpPr>
        <p:spPr>
          <a:xfrm>
            <a:off x="6463695" y="4084830"/>
            <a:ext cx="4841216" cy="720082"/>
          </a:xfrm>
          <a:prstGeom prst="rect">
            <a:avLst/>
          </a:prstGeom>
          <a:noFill/>
          <a:ln/>
        </p:spPr>
        <p:txBody>
          <a:bodyPr wrap="square" lIns="0" tIns="0" rIns="0" bIns="0" rtlCol="0" anchor="t">
            <a:normAutofit/>
          </a:bodyPr>
          <a:lstStyle/>
          <a:p>
            <a:pPr algn="l" indent="0" marL="0">
              <a:lnSpc>
                <a:spcPts val="1605"/>
              </a:lnSpc>
              <a:buNone/>
            </a:pPr>
            <a:r>
              <a:rPr lang="en-US" sz="1146" dirty="0">
                <a:solidFill>
                  <a:srgbClr val="1B1E26"/>
                </a:solidFill>
                <a:latin typeface="Space Grotesk" pitchFamily="34" charset="0"/>
                <a:ea typeface="Space Grotesk" pitchFamily="34" charset="-122"/>
                <a:cs typeface="Space Grotesk" pitchFamily="34" charset="-120"/>
              </a:rPr>
              <a:t>Each commit must follow the format. Ones that do not are ignored, so real changes can quietly miss the changelog.</a:t>
            </a:r>
            <a:endParaRPr lang="en-US" sz="1146" dirty="0"/>
          </a:p>
        </p:txBody>
      </p:sp>
      <p:sp>
        <p:nvSpPr>
          <p:cNvPr id="23" name="Shape 21"/>
          <p:cNvSpPr/>
          <p:nvPr/>
        </p:nvSpPr>
        <p:spPr>
          <a:xfrm>
            <a:off x="812800" y="5248808"/>
            <a:ext cx="10566400" cy="796396"/>
          </a:xfrm>
          <a:prstGeom prst="roundRect">
            <a:avLst>
              <a:gd name="adj" fmla="val 12757"/>
            </a:avLst>
          </a:prstGeom>
          <a:solidFill>
            <a:srgbClr val="15181F"/>
          </a:solidFill>
          <a:ln/>
        </p:spPr>
      </p:sp>
      <p:pic>
        <p:nvPicPr>
          <p:cNvPr id="24" name="Image 0" descr="Settings">    </p:cNvPr>
          <p:cNvPicPr>
            <a:picLocks noChangeAspect="1"/>
          </p:cNvPicPr>
          <p:nvPr/>
        </p:nvPicPr>
        <p:blipFill>
          <a:blip r:embed="rId1"/>
          <a:srcRect l="0" r="0" t="-51" b="-51"/>
          <a:stretch/>
        </p:blipFill>
        <p:spPr>
          <a:xfrm>
            <a:off x="1066800" y="5507304"/>
            <a:ext cx="222023" cy="279400"/>
          </a:xfrm>
          <a:prstGeom prst="rect">
            <a:avLst/>
          </a:prstGeom>
        </p:spPr>
      </p:pic>
      <p:sp>
        <p:nvSpPr>
          <p:cNvPr id="25" name="Text 22"/>
          <p:cNvSpPr/>
          <p:nvPr/>
        </p:nvSpPr>
        <p:spPr>
          <a:xfrm>
            <a:off x="1441223" y="5360727"/>
            <a:ext cx="9974496" cy="597958"/>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3EC"/>
                </a:solidFill>
                <a:latin typeface="Space Grotesk" pitchFamily="34" charset="0"/>
                <a:ea typeface="Space Grotesk" pitchFamily="34" charset="-122"/>
                <a:cs typeface="Space Grotesk" pitchFamily="34" charset="-120"/>
              </a:rPr>
              <a:t>Repo setting:</a:t>
            </a:r>
            <a:r>
              <a:rPr lang="en-US" sz="1400" dirty="0">
                <a:solidFill>
                  <a:srgbClr val="F6F3EC"/>
                </a:solidFill>
                <a:latin typeface="Space Grotesk" pitchFamily="34" charset="0"/>
                <a:ea typeface="Space Grotesk" pitchFamily="34" charset="-122"/>
                <a:cs typeface="Space Grotesk" pitchFamily="34" charset="-120"/>
              </a:rPr>
              <a:t> make squash merges default to the PR title. Otherwise a one-commit PR uses that commit's message instead.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3EC"/>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1B1E26"/>
                </a:solidFill>
                <a:latin typeface="Space Grotesk" pitchFamily="34" charset="0"/>
                <a:ea typeface="Space Grotesk" pitchFamily="34" charset="-122"/>
                <a:cs typeface="Space Grotesk" pitchFamily="34" charset="-120"/>
              </a:rPr>
              <a:t>Keep it honest: three guardrails</a:t>
            </a:r>
            <a:endParaRPr lang="en-US" sz="3600" dirty="0"/>
          </a:p>
        </p:txBody>
      </p:sp>
      <p:sp>
        <p:nvSpPr>
          <p:cNvPr id="3" name="Shape 1"/>
          <p:cNvSpPr/>
          <p:nvPr/>
        </p:nvSpPr>
        <p:spPr>
          <a:xfrm>
            <a:off x="819150" y="1702296"/>
            <a:ext cx="3407833" cy="2556404"/>
          </a:xfrm>
          <a:prstGeom prst="roundRect">
            <a:avLst>
              <a:gd name="adj" fmla="val 4720"/>
            </a:avLst>
          </a:prstGeom>
          <a:solidFill>
            <a:srgbClr val="FFFDF8"/>
          </a:solidFill>
          <a:ln w="12700">
            <a:solidFill>
              <a:srgbClr val="E2DDD2"/>
            </a:solidFill>
            <a:prstDash val="solid"/>
          </a:ln>
        </p:spPr>
      </p:sp>
      <p:pic>
        <p:nvPicPr>
          <p:cNvPr id="4" name="Image 0" descr="Check">    </p:cNvPr>
          <p:cNvPicPr>
            <a:picLocks noChangeAspect="1"/>
          </p:cNvPicPr>
          <p:nvPr/>
        </p:nvPicPr>
        <p:blipFill>
          <a:blip r:embed="rId1"/>
          <a:srcRect l="0" r="0" t="0" b="0"/>
          <a:stretch/>
        </p:blipFill>
        <p:spPr>
          <a:xfrm>
            <a:off x="1078895" y="1962038"/>
            <a:ext cx="355600" cy="355600"/>
          </a:xfrm>
          <a:prstGeom prst="rect">
            <a:avLst/>
          </a:prstGeom>
        </p:spPr>
      </p:pic>
      <p:sp>
        <p:nvSpPr>
          <p:cNvPr id="5" name="Text 2"/>
          <p:cNvSpPr/>
          <p:nvPr/>
        </p:nvSpPr>
        <p:spPr>
          <a:xfrm>
            <a:off x="1078895"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Squash merge</a:t>
            </a:r>
            <a:endParaRPr lang="en-US" sz="1900" dirty="0"/>
          </a:p>
        </p:txBody>
      </p:sp>
      <p:sp>
        <p:nvSpPr>
          <p:cNvPr id="6" name="Text 3"/>
          <p:cNvSpPr/>
          <p:nvPr/>
        </p:nvSpPr>
        <p:spPr>
          <a:xfrm>
            <a:off x="1078895" y="2853835"/>
            <a:ext cx="2974993"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Use the PR title as the commit message. One clean commit per PR, so only titles need to be right.</a:t>
            </a:r>
            <a:endParaRPr lang="en-US" sz="1400" dirty="0"/>
          </a:p>
        </p:txBody>
      </p:sp>
      <p:sp>
        <p:nvSpPr>
          <p:cNvPr id="7" name="Shape 4"/>
          <p:cNvSpPr/>
          <p:nvPr/>
        </p:nvSpPr>
        <p:spPr>
          <a:xfrm>
            <a:off x="4392083" y="1702296"/>
            <a:ext cx="3407833" cy="2556404"/>
          </a:xfrm>
          <a:prstGeom prst="roundRect">
            <a:avLst>
              <a:gd name="adj" fmla="val 4720"/>
            </a:avLst>
          </a:prstGeom>
          <a:solidFill>
            <a:srgbClr val="FFFDF8"/>
          </a:solidFill>
          <a:ln w="12700">
            <a:solidFill>
              <a:srgbClr val="E2DDD2"/>
            </a:solidFill>
            <a:prstDash val="solid"/>
          </a:ln>
        </p:spPr>
      </p:sp>
      <p:pic>
        <p:nvPicPr>
          <p:cNvPr id="8" name="Image 1" descr="Verified">    </p:cNvPr>
          <p:cNvPicPr>
            <a:picLocks noChangeAspect="1"/>
          </p:cNvPicPr>
          <p:nvPr/>
        </p:nvPicPr>
        <p:blipFill>
          <a:blip r:embed="rId2"/>
          <a:srcRect l="0" r="0" t="0" b="0"/>
          <a:stretch/>
        </p:blipFill>
        <p:spPr>
          <a:xfrm>
            <a:off x="4651829" y="1962038"/>
            <a:ext cx="355600" cy="355600"/>
          </a:xfrm>
          <a:prstGeom prst="rect">
            <a:avLst/>
          </a:prstGeom>
        </p:spPr>
      </p:pic>
      <p:sp>
        <p:nvSpPr>
          <p:cNvPr id="9" name="Text 5"/>
          <p:cNvSpPr/>
          <p:nvPr/>
        </p:nvSpPr>
        <p:spPr>
          <a:xfrm>
            <a:off x="4651829"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Lint PR titles</a:t>
            </a:r>
            <a:endParaRPr lang="en-US" sz="1900" dirty="0"/>
          </a:p>
        </p:txBody>
      </p:sp>
      <p:sp>
        <p:nvSpPr>
          <p:cNvPr id="10" name="Text 6"/>
          <p:cNvSpPr/>
          <p:nvPr/>
        </p:nvSpPr>
        <p:spPr>
          <a:xfrm>
            <a:off x="4651829" y="2853835"/>
            <a:ext cx="2974993" cy="1170517"/>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A required check, such as action-semantic-pull-request, blocks titles that skip the format.</a:t>
            </a:r>
            <a:endParaRPr lang="en-US" sz="1400" dirty="0"/>
          </a:p>
        </p:txBody>
      </p:sp>
      <p:sp>
        <p:nvSpPr>
          <p:cNvPr id="11" name="Shape 7"/>
          <p:cNvSpPr/>
          <p:nvPr/>
        </p:nvSpPr>
        <p:spPr>
          <a:xfrm>
            <a:off x="7965017" y="1702296"/>
            <a:ext cx="3407833" cy="2556404"/>
          </a:xfrm>
          <a:prstGeom prst="roundRect">
            <a:avLst>
              <a:gd name="adj" fmla="val 4720"/>
            </a:avLst>
          </a:prstGeom>
          <a:solidFill>
            <a:srgbClr val="FFFDF8"/>
          </a:solidFill>
          <a:ln w="12700">
            <a:solidFill>
              <a:srgbClr val="E2DDD2"/>
            </a:solidFill>
            <a:prstDash val="solid"/>
          </a:ln>
        </p:spPr>
      </p:sp>
      <p:pic>
        <p:nvPicPr>
          <p:cNvPr id="12" name="Image 2" descr="Code">    </p:cNvPr>
          <p:cNvPicPr>
            <a:picLocks noChangeAspect="1"/>
          </p:cNvPicPr>
          <p:nvPr/>
        </p:nvPicPr>
        <p:blipFill>
          <a:blip r:embed="rId3"/>
          <a:srcRect l="0" r="0" t="0" b="0"/>
          <a:stretch/>
        </p:blipFill>
        <p:spPr>
          <a:xfrm>
            <a:off x="8224762" y="1962038"/>
            <a:ext cx="355600" cy="355600"/>
          </a:xfrm>
          <a:prstGeom prst="rect">
            <a:avLst/>
          </a:prstGeom>
        </p:spPr>
      </p:pic>
      <p:sp>
        <p:nvSpPr>
          <p:cNvPr id="13" name="Text 8"/>
          <p:cNvSpPr/>
          <p:nvPr/>
        </p:nvSpPr>
        <p:spPr>
          <a:xfrm>
            <a:off x="8224762" y="2419238"/>
            <a:ext cx="2974993" cy="358397"/>
          </a:xfrm>
          <a:prstGeom prst="rect">
            <a:avLst/>
          </a:prstGeom>
          <a:noFill/>
          <a:ln/>
        </p:spPr>
        <p:txBody>
          <a:bodyPr wrap="square" lIns="0" tIns="0" rIns="0" bIns="0" rtlCol="0" anchor="t">
            <a:normAutofit/>
          </a:bodyPr>
          <a:lstStyle/>
          <a:p>
            <a:pPr algn="l" indent="0" marL="0">
              <a:lnSpc>
                <a:spcPts val="2280"/>
              </a:lnSpc>
              <a:buNone/>
            </a:pPr>
            <a:r>
              <a:rPr lang="en-US" sz="1900" b="1" dirty="0">
                <a:solidFill>
                  <a:srgbClr val="1B1E26"/>
                </a:solidFill>
                <a:latin typeface="Space Grotesk" pitchFamily="34" charset="0"/>
                <a:ea typeface="Space Grotesk" pitchFamily="34" charset="-122"/>
                <a:cs typeface="Space Grotesk" pitchFamily="34" charset="-120"/>
              </a:rPr>
              <a:t>Lint locally</a:t>
            </a:r>
            <a:endParaRPr lang="en-US" sz="1900" dirty="0"/>
          </a:p>
        </p:txBody>
      </p:sp>
      <p:sp>
        <p:nvSpPr>
          <p:cNvPr id="14" name="Text 9"/>
          <p:cNvSpPr/>
          <p:nvPr/>
        </p:nvSpPr>
        <p:spPr>
          <a:xfrm>
            <a:off x="8224762" y="2853835"/>
            <a:ext cx="2974993" cy="884238"/>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5D6270"/>
                </a:solidFill>
                <a:latin typeface="Space Grotesk" pitchFamily="34" charset="0"/>
                <a:ea typeface="Space Grotesk" pitchFamily="34" charset="-122"/>
                <a:cs typeface="Space Grotesk" pitchFamily="34" charset="-120"/>
              </a:rPr>
              <a:t>Optional. commitlint in a git hook catches mistakes before you push.</a:t>
            </a:r>
            <a:endParaRPr lang="en-US" sz="1400" dirty="0"/>
          </a:p>
        </p:txBody>
      </p:sp>
      <p:sp>
        <p:nvSpPr>
          <p:cNvPr id="15" name="Shape 10"/>
          <p:cNvSpPr/>
          <p:nvPr/>
        </p:nvSpPr>
        <p:spPr>
          <a:xfrm>
            <a:off x="812800" y="4569848"/>
            <a:ext cx="10566400" cy="928158"/>
          </a:xfrm>
          <a:prstGeom prst="roundRect">
            <a:avLst>
              <a:gd name="adj" fmla="val 10946"/>
            </a:avLst>
          </a:prstGeom>
          <a:solidFill>
            <a:srgbClr val="15181F"/>
          </a:solidFill>
          <a:ln/>
        </p:spPr>
      </p:sp>
      <p:pic>
        <p:nvPicPr>
          <p:cNvPr id="16" name="Image 3" descr="Warning">    </p:cNvPr>
          <p:cNvPicPr>
            <a:picLocks noChangeAspect="1"/>
          </p:cNvPicPr>
          <p:nvPr/>
        </p:nvPicPr>
        <p:blipFill>
          <a:blip r:embed="rId4"/>
          <a:srcRect l="0" r="0" t="-350" b="-350"/>
          <a:stretch/>
        </p:blipFill>
        <p:spPr>
          <a:xfrm>
            <a:off x="1066800" y="4894225"/>
            <a:ext cx="189177" cy="279400"/>
          </a:xfrm>
          <a:prstGeom prst="rect">
            <a:avLst/>
          </a:prstGeom>
        </p:spPr>
      </p:pic>
      <p:sp>
        <p:nvSpPr>
          <p:cNvPr id="17" name="Text 11"/>
          <p:cNvSpPr/>
          <p:nvPr/>
        </p:nvSpPr>
        <p:spPr>
          <a:xfrm>
            <a:off x="1408377" y="4747648"/>
            <a:ext cx="10008328" cy="597958"/>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F6F3EC"/>
                </a:solidFill>
                <a:latin typeface="Space Grotesk" pitchFamily="34" charset="0"/>
                <a:ea typeface="Space Grotesk" pitchFamily="34" charset="-122"/>
                <a:cs typeface="Space Grotesk" pitchFamily="34" charset="-120"/>
              </a:rPr>
              <a:t>Gotcha:</a:t>
            </a:r>
            <a:r>
              <a:rPr lang="en-US" sz="1400" dirty="0">
                <a:solidFill>
                  <a:srgbClr val="F6F3EC"/>
                </a:solidFill>
                <a:latin typeface="Space Grotesk" pitchFamily="34" charset="0"/>
                <a:ea typeface="Space Grotesk" pitchFamily="34" charset="-122"/>
                <a:cs typeface="Space Grotesk" pitchFamily="34" charset="-120"/>
              </a:rPr>
              <a:t> PRs opened with the default GITHUB_TOKEN do not trigger your other workflows. Use a GitHub App token if CI must run on the release PR.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5181F"/>
        </a:solidFill>
      </p:bgPr>
    </p:bg>
    <p:spTree>
      <p:nvGrpSpPr>
        <p:cNvPr id="1" name=""/>
        <p:cNvGrpSpPr/>
        <p:nvPr/>
      </p:nvGrpSpPr>
      <p:grpSpPr>
        <a:xfrm>
          <a:off x="0" y="0"/>
          <a:ext cx="0" cy="0"/>
          <a:chOff x="0" y="0"/>
          <a:chExt cx="0" cy="0"/>
        </a:xfrm>
      </p:grpSpPr>
      <p:sp>
        <p:nvSpPr>
          <p:cNvPr id="2" name="Text 0"/>
          <p:cNvSpPr/>
          <p:nvPr>
            <p:ph type="title"/>
          </p:nvPr>
        </p:nvSpPr>
        <p:spPr>
          <a:xfrm>
            <a:off x="812800" y="812800"/>
            <a:ext cx="10883392" cy="603741"/>
          </a:xfrm>
          <a:prstGeom prst="rect">
            <a:avLst/>
          </a:prstGeom>
          <a:noFill/>
          <a:ln/>
        </p:spPr>
        <p:txBody>
          <a:bodyPr wrap="square" lIns="0" tIns="0" rIns="0" bIns="0" rtlCol="0" anchor="t">
            <a:normAutofit/>
          </a:bodyPr>
          <a:lstStyle/>
          <a:p>
            <a:pPr algn="l" indent="0" marL="0">
              <a:lnSpc>
                <a:spcPts val="3960"/>
              </a:lnSpc>
              <a:buNone/>
            </a:pPr>
            <a:r>
              <a:rPr lang="en-US" sz="3600" b="1" i="0" spc="-50" kern="0" dirty="0">
                <a:solidFill>
                  <a:srgbClr val="F6F3EC"/>
                </a:solidFill>
                <a:latin typeface="Space Grotesk" pitchFamily="34" charset="0"/>
                <a:ea typeface="Space Grotesk" pitchFamily="34" charset="-122"/>
                <a:cs typeface="Space Grotesk" pitchFamily="34" charset="-120"/>
              </a:rPr>
              <a:t>Remember three things</a:t>
            </a:r>
            <a:endParaRPr lang="en-US" sz="3600" dirty="0"/>
          </a:p>
        </p:txBody>
      </p:sp>
      <p:sp>
        <p:nvSpPr>
          <p:cNvPr id="3" name="Text 1"/>
          <p:cNvSpPr/>
          <p:nvPr/>
        </p:nvSpPr>
        <p:spPr>
          <a:xfrm>
            <a:off x="812800" y="2201447"/>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1</a:t>
            </a:r>
            <a:endParaRPr lang="en-US" sz="3600" dirty="0"/>
          </a:p>
        </p:txBody>
      </p:sp>
      <p:sp>
        <p:nvSpPr>
          <p:cNvPr id="4" name="Text 2"/>
          <p:cNvSpPr/>
          <p:nvPr/>
        </p:nvSpPr>
        <p:spPr>
          <a:xfrm>
            <a:off x="1382297" y="2334344"/>
            <a:ext cx="7531463"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Start every commit with a type.</a:t>
            </a:r>
            <a:endParaRPr lang="en-US" sz="2800" dirty="0"/>
          </a:p>
        </p:txBody>
      </p:sp>
      <p:sp>
        <p:nvSpPr>
          <p:cNvPr id="5" name="Text 3"/>
          <p:cNvSpPr/>
          <p:nvPr/>
        </p:nvSpPr>
        <p:spPr>
          <a:xfrm>
            <a:off x="812800" y="3166120"/>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2</a:t>
            </a:r>
            <a:endParaRPr lang="en-US" sz="3600" dirty="0"/>
          </a:p>
        </p:txBody>
      </p:sp>
      <p:sp>
        <p:nvSpPr>
          <p:cNvPr id="6" name="Text 4"/>
          <p:cNvSpPr/>
          <p:nvPr/>
        </p:nvSpPr>
        <p:spPr>
          <a:xfrm>
            <a:off x="1382297" y="3299017"/>
            <a:ext cx="7987348"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Merge to main like you always do.</a:t>
            </a:r>
            <a:endParaRPr lang="en-US" sz="2800" dirty="0"/>
          </a:p>
        </p:txBody>
      </p:sp>
      <p:sp>
        <p:nvSpPr>
          <p:cNvPr id="7" name="Text 5"/>
          <p:cNvSpPr/>
          <p:nvPr/>
        </p:nvSpPr>
        <p:spPr>
          <a:xfrm>
            <a:off x="812800" y="4130793"/>
            <a:ext cx="378596" cy="761471"/>
          </a:xfrm>
          <a:prstGeom prst="rect">
            <a:avLst/>
          </a:prstGeom>
          <a:noFill/>
          <a:ln/>
        </p:spPr>
        <p:txBody>
          <a:bodyPr wrap="square" lIns="0" tIns="0" rIns="0" bIns="0" rtlCol="0" anchor="t">
            <a:normAutofit/>
          </a:bodyPr>
          <a:lstStyle/>
          <a:p>
            <a:pPr algn="l" indent="0" marL="0">
              <a:lnSpc>
                <a:spcPts val="5040"/>
              </a:lnSpc>
              <a:buNone/>
            </a:pPr>
            <a:r>
              <a:rPr lang="en-US" sz="3600" b="1" dirty="0">
                <a:solidFill>
                  <a:srgbClr val="FF8A5C"/>
                </a:solidFill>
                <a:latin typeface="JetBrains Mono" pitchFamily="49" charset="0"/>
                <a:ea typeface="JetBrains Mono" pitchFamily="49" charset="-122"/>
                <a:cs typeface="JetBrains Mono" pitchFamily="49" charset="-120"/>
              </a:rPr>
              <a:t>3</a:t>
            </a:r>
            <a:endParaRPr lang="en-US" sz="3600" dirty="0"/>
          </a:p>
        </p:txBody>
      </p:sp>
      <p:sp>
        <p:nvSpPr>
          <p:cNvPr id="8" name="Text 6"/>
          <p:cNvSpPr/>
          <p:nvPr/>
        </p:nvSpPr>
        <p:spPr>
          <a:xfrm>
            <a:off x="1382297" y="4263684"/>
            <a:ext cx="10644006" cy="495640"/>
          </a:xfrm>
          <a:prstGeom prst="rect">
            <a:avLst/>
          </a:prstGeom>
          <a:noFill/>
          <a:ln/>
        </p:spPr>
        <p:txBody>
          <a:bodyPr wrap="square" lIns="0" tIns="0" rIns="0" bIns="0" rtlCol="0" anchor="t">
            <a:normAutofit/>
          </a:bodyPr>
          <a:lstStyle/>
          <a:p>
            <a:pPr algn="l" indent="0" marL="0">
              <a:lnSpc>
                <a:spcPts val="3220"/>
              </a:lnSpc>
              <a:buNone/>
            </a:pPr>
            <a:r>
              <a:rPr lang="en-US" sz="2800" b="1" dirty="0">
                <a:solidFill>
                  <a:srgbClr val="F6F3EC"/>
                </a:solidFill>
                <a:latin typeface="Space Grotesk" pitchFamily="34" charset="0"/>
                <a:ea typeface="Space Grotesk" pitchFamily="34" charset="-122"/>
                <a:cs typeface="Space Grotesk" pitchFamily="34" charset="-120"/>
              </a:rPr>
              <a:t>Merge the release PR when you want to ship.</a:t>
            </a:r>
            <a:endParaRPr lang="en-US" sz="2800" dirty="0"/>
          </a:p>
        </p:txBody>
      </p:sp>
      <p:sp>
        <p:nvSpPr>
          <p:cNvPr id="9" name="Text 7"/>
          <p:cNvSpPr/>
          <p:nvPr/>
        </p:nvSpPr>
        <p:spPr>
          <a:xfrm>
            <a:off x="812800" y="5677167"/>
            <a:ext cx="10883392" cy="393435"/>
          </a:xfrm>
          <a:prstGeom prst="rect">
            <a:avLst/>
          </a:prstGeom>
          <a:noFill/>
          <a:ln/>
        </p:spPr>
        <p:txBody>
          <a:bodyPr wrap="square" lIns="0" tIns="0" rIns="0" bIns="0" rtlCol="0" anchor="t">
            <a:normAutofit/>
          </a:bodyPr>
          <a:lstStyle/>
          <a:p>
            <a:pPr algn="l" indent="0" marL="0">
              <a:lnSpc>
                <a:spcPts val="2520"/>
              </a:lnSpc>
              <a:buNone/>
            </a:pPr>
            <a:r>
              <a:rPr lang="en-US" sz="1800" dirty="0">
                <a:solidFill>
                  <a:srgbClr val="A3A9B6"/>
                </a:solidFill>
                <a:latin typeface="Space Grotesk" pitchFamily="34" charset="0"/>
                <a:ea typeface="Space Grotesk" pitchFamily="34" charset="-122"/>
                <a:cs typeface="Space Grotesk" pitchFamily="34" charset="-120"/>
              </a:rPr>
              <a:t>Versions, changelogs, tags, and release notes: handled.</a:t>
            </a:r>
            <a:endParaRPr lang="en-US" sz="1800" dirty="0"/>
          </a:p>
        </p:txBody>
      </p:sp>
    </p:spTree>
  </p:cSld>
  <p:clrMapOvr>
    <a:masterClrMapping/>
  </p:clrMapOvr>
</p:sld>
</file>

<file path=ppt/theme/theme1.xml><?xml version="1.0" encoding="utf-8"?>
<a:theme xmlns:a="http://schemas.openxmlformats.org/drawingml/2006/main" name="Conventional Commits and Release Please">
  <a:themeElements>
    <a:clrScheme name="Conventional Commits and Release Please">
      <a:dk1>
        <a:srgbClr val="1B1E26"/>
      </a:dk1>
      <a:lt1>
        <a:srgbClr val="F6F3EC"/>
      </a:lt1>
      <a:dk2>
        <a:srgbClr val="525358"/>
      </a:dk2>
      <a:lt2>
        <a:srgbClr val="E0DED8"/>
      </a:lt2>
      <a:accent1>
        <a:srgbClr val="FF8A5C"/>
      </a:accent1>
      <a:accent2>
        <a:srgbClr val="B8441B"/>
      </a:accent2>
      <a:accent3>
        <a:srgbClr val="2F62B0"/>
      </a:accent3>
      <a:accent4>
        <a:srgbClr val="8A6400"/>
      </a:accent4>
      <a:accent5>
        <a:srgbClr val="7FB0FF"/>
      </a:accent5>
      <a:accent6>
        <a:srgbClr val="E8592A"/>
      </a:accent6>
      <a:hlink>
        <a:srgbClr val="0563C1"/>
      </a:hlink>
      <a:folHlink>
        <a:srgbClr val="954F72"/>
      </a:folHlink>
    </a:clrScheme>
    <a:fontScheme name="Conventional Commits and Release Please">
      <a:majorFont>
        <a:latin typeface="Space Grotes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pace Grotes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Conventional Commits and Release Please</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Space Grotesk
Copyright 2020 The Space Grotesk Project Authors (https://github.com/floriankarsten/space-grotesk)
This Font Software is licensed under the SIL Open Font License, Version 1.1.
This license is copied below, and is also available with a FAQ at:
http://scripts.sil.org/OFL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2026-10-29T15:51:23Z</dcterms:created>
  <dcterms:modified xsi:type="dcterms:W3CDTF">2026-10-29T15:51:23Z</dcterms:modified>
</cp:coreProperties>
</file>