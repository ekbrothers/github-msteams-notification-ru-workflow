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embeddedFontLst>
    <p:embeddedFont>
      <p:font typeface="Space Grotesk" pitchFamily="34" charset="0"/>
      <p:regular r:id="rId26"/>
      <p:bold r:id="rId27"/>
    </p:embeddedFont>
    <p:embeddedFont>
      <p:font typeface="JetBrains Mono" panose="02000009000000000000" pitchFamily="49" charset="0"/>
      <p:regular r:id="rId28"/>
      <p:bold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is about two small habits that remove almost all of the manual work from versioning and release notes. The first is a naming convention for commit messages. The second is a bot that reads those messages and does the release paperwork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if you had to write release notes from this log, could you? Could you say whether this release is safe to install? This is the gap we are closing. The information exists in our heads at commit time, we just do not write it down in a way tools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in one sentence. Humans add a tiny bit of structure when they commit. Machines take it from there. Everything after this slide is just the details of that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first line is required: type, colon, space, description. The scope in parentheses and the exclamation mark are optional. The grey lines are the body: they explain why the change was needed, here the security risk of tokens in URLs. The last lines are the footer: BREAKING CHANGE tells upgraders what broke and how to fix it, and Refs links the issue. Body and footer are optional, but use them whenever a change breaks something. Note how every part agrees: feat because the service has a new rule, jwt as a short lowercase scope, and the exclamation mark because old clients will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commit left to right like diagramming a sentence. The type is the verb: it says what kind of action happened. The scope is the adjective: it narrows down which part of the system. The exclamation point works just like in English: it raises the volume and warns the reader. The description is the object: the specific thing that changed. Each part has a job for humans and a job for the robot. The colon is just punctuation separating the label from the details. The analogy is loose on purpose; the point is that every piece has one clear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semantic versioning, MAJOR.MINOR.PATCH, driven automatically by commit types. A release looks at every commit since the last one and picks the biggest bump. One feat plus ten fixes is a minor release. One breaking change anywhere makes it a major release. Edge case: before version 1.0.0, Release Please by default treats breaking changes as a minor bump.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Chore is the catch-all for maintenance: dependency bumps, config tweaks, renaming files, cleaning up scripts. It is still recorded in git history, so nothing is lost, but it does not trigger a release and Release Please leaves it out of the changelog by default. Fun detail: Release Please's own release PR uses a chore commit, chore(main): release 2.5.0, because cutting a release is housekeeping too. One judgment call: if a dependency upgrade fixes a bug users would notice, write it as fix(deps) so it ships and shows up in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"after" column reads like release notes already. That is the point: the changelog is written one commit at a time, by the person who knows the change best, at the moment they know it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Conventional Commits spec is looser than most people think. It cares about structure: the colon and space, parentheses for the scope, blank lines between sections, dashes in footer tokens, and an uppercase BREAKING CHANGE. Tools must treat everything else as case-insensitive. The style rules people usually associate with conventional commits, like lowercase and no trailing period, come from commitlint's standard config. We adopt them so history reads consistently. Standard types are feat, fix, docs, chore, refactor, test, ci, build, style, perf, and revert.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quiz: show the left column first and ask the room which ones pass. The top row is the only fully correct one. The middle group would technically parse, but our linter rejects them for style. The bottom group breaks the spec itself, so Release Please would skip them or miss a breaking change. A lowercase breaking change footer is the dangerous one: the commit would ship as a minor or patch release even though it breaks users. If we lint PR titles with action-semantic-pull-request, its defaults check the type and overall shape; set its subjectPattern option to also enforce the lowercase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our commits carry meaning, we need something to read them. Release Please is an open source GitHub Action maintained by Google. It never pushes a release on its own. It proposes one, and a human approves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mental model: Release Please keeps one open pull request that always represents "the next release." Every time something merges to main, it recalculates the version and rewrites the changelog in that PR. Nothing is published until a person merges it. After merging, it creates the tag and the GitHub Release, and the workflow can trigger follow-up steps like publishing a package or deploying.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changelog on the left is the same text as our commit messages from the before and after slide. Nobody wrote release notes by hand. If a message is wrong, you can fix it before merging the release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minimal setup for a single-package repo. Swap release-type for your language: simple just uses a version.txt file and works for anything. For repos with multiple packages, Release Please supports a release-please-config.json and a .release-please-manifest.json. Check the action's README for current inputs and outputs before adopting, since the action evolves.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one repo holds more than one releasable thing, Release Please runs in manifest mode. Each folder listed in release-please-config.json becomes its own component with its own version, CHANGELOG.md, tag, and GitHub Release. The python release type updates the version in pyproject.toml; simple uses a version.txt file, which works for anything, like Terraform. Current versions live in .release-please-manifest.json, here ml-pipeline 1.4.0 and infra 0.3.1. The config shown is simplified: in a real setup, also give each package a component name and set include-component-in-tag to true so tags look like ml-pipeline-v1.4.1. Files at the root, like README.md, belong to no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column. Python only: the commit touches files under ml-pipeline, so only that component gets a release PR entry. fix means a patch, 1.4.0 to 1.4.1, with its own changelog line and tag. Not Python: the same thing happens for infra; feat means a minor bump, 0.3.1 to 0.4.0, and ml-pipeline is untouched. Both: one commit that touches both folders counts for both components; each gets the bump, each changelog gets the line, and a single merge of the combined release PR creates two tags and two GitHub Releases. Set separate-pull-requests to true if you want to release them independently. Two gotchas: the scope does not do the routing, the file paths do, so fix(ml-pipeline) that only changes the README releases nothing. And the release PR recalculates after every merge, taking the biggest bump per component: if a fix and then a feat both land in ml-pipeline before you merge the release PR, it ships 1.5.0, not 1.4.1.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Please only ever reads commits on the main branch. It never looks at PR titles directly. Squash merging is what connects the two: GitHub turns the whole PR into one commit, and with the right setting that commit's message is the PR title. That is why we lint PR titles instead of every commit. With merge commits or rebase merges, every branch commit lands on main as-is, so every single one has to follow the convention, and anything that does not is silently skipped. The setting to change is under the repo's Settings, General, Pull Requests: allow squash merging, and set the default commit message to Pull request title. Without it, GitHub's default uses the commit message when a PR has only one commit, which bypasses the title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convention only works if it is followed, so automate the enforcement. Squash merging is the biggest win: contributors can commit however they like on their branch, and only the PR title has to follow the format. The gotcha at the bottom trips up almost every team the first time: GitHub deliberately does not trigger workflows from events created by the default token, so your tests will not run on the release PR unless you use a separate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three habits. Then open it up for questions. Good follow-ups: which repo should pilot this first, and who will add the PR title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78341"/>
          </a:xfrm>
          <a:prstGeom prst="rect">
            <a:avLst/>
          </a:prstGeom>
          <a:noFill/>
          <a:ln/>
        </p:spPr>
        <p:txBody>
          <a:bodyPr wrap="square" lIns="0" tIns="0" rIns="0" bIns="0" rtlCol="0" anchor="t"/>
          <a:lstStyle>
            <a:lvl1pPr algn="l" indent="0" marL="0">
              <a:lnSpc>
                <a:spcPct val="115000"/>
              </a:lnSpc>
              <a:buNone/>
              <a:defRPr lang="en-US" sz="3600" dirty="0">
                <a:solidFill>
                  <a:srgbClr val="1B1E26"/>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95941"/>
            <a:ext cx="10566400" cy="4349259"/>
          </a:xfrm>
          <a:prstGeom prst="rect">
            <a:avLst/>
          </a:prstGeom>
          <a:noFill/>
          <a:ln/>
        </p:spPr>
        <p:txBody>
          <a:bodyPr wrap="square" lIns="0" tIns="0" rIns="0" bIns="0" rtlCol="0" anchor="t"/>
          <a:lstStyle>
            <a:lvl1pPr algn="l" indent="0" marL="0">
              <a:lnSpc>
                <a:spcPct val="140000"/>
              </a:lnSpc>
              <a:buNone/>
              <a:defRPr lang="en-US" sz="1600" dirty="0">
                <a:solidFill>
                  <a:srgbClr val="1B1E26"/>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78341"/>
          </a:xfrm>
          <a:prstGeom prst="rect">
            <a:avLst/>
          </a:prstGeom>
          <a:noFill/>
          <a:ln/>
        </p:spPr>
        <p:txBody>
          <a:bodyPr wrap="square" lIns="0" tIns="0" rIns="0" bIns="0" rtlCol="0" anchor="t"/>
          <a:lstStyle>
            <a:lvl1pPr algn="l" indent="0" marL="0">
              <a:lnSpc>
                <a:spcPct val="115000"/>
              </a:lnSpc>
              <a:buNone/>
              <a:defRPr lang="en-US" sz="3600" dirty="0">
                <a:solidFill>
                  <a:srgbClr val="1B1E26"/>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95941"/>
            <a:ext cx="10566400" cy="4349259"/>
          </a:xfrm>
          <a:prstGeom prst="rect">
            <a:avLst/>
          </a:prstGeom>
          <a:noFill/>
          <a:ln/>
        </p:spPr>
        <p:txBody>
          <a:bodyPr wrap="square" lIns="0" tIns="0" rIns="0" bIns="0" rtlCol="0" anchor="t"/>
          <a:lstStyle>
            <a:lvl1pPr algn="l" indent="0" marL="0">
              <a:lnSpc>
                <a:spcPct val="140000"/>
              </a:lnSpc>
              <a:buNone/>
              <a:defRPr lang="en-US" sz="1600" dirty="0">
                <a:solidFill>
                  <a:srgbClr val="1B1E26"/>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3525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8A5C"/>
                </a:solidFill>
                <a:latin typeface="JetBrains Mono" pitchFamily="49" charset="0"/>
                <a:ea typeface="JetBrains Mono" pitchFamily="49" charset="-122"/>
                <a:cs typeface="JetBrains Mono" pitchFamily="49" charset="-120"/>
              </a:rPr>
              <a:t>feat: ship releases on autopilot</a:t>
            </a:r>
            <a:endParaRPr lang="en-US" sz="1600" dirty="0"/>
          </a:p>
        </p:txBody>
      </p:sp>
      <p:sp>
        <p:nvSpPr>
          <p:cNvPr id="3" name="Text 1"/>
          <p:cNvSpPr/>
          <p:nvPr>
            <p:ph type="title"/>
          </p:nvPr>
        </p:nvSpPr>
        <p:spPr>
          <a:xfrm>
            <a:off x="812800" y="2159454"/>
            <a:ext cx="10883392" cy="1988306"/>
          </a:xfrm>
          <a:prstGeom prst="rect">
            <a:avLst/>
          </a:prstGeom>
          <a:noFill/>
          <a:ln/>
        </p:spPr>
        <p:txBody>
          <a:bodyPr wrap="square" lIns="0" tIns="0" rIns="0" bIns="0" rtlCol="0" anchor="t">
            <a:normAutofit/>
          </a:bodyPr>
          <a:lstStyle/>
          <a:p>
            <a:pPr algn="l" indent="0" marL="0">
              <a:lnSpc>
                <a:spcPts val="6720"/>
              </a:lnSpc>
              <a:buNone/>
            </a:pPr>
            <a:r>
              <a:rPr lang="en-US" sz="6400" b="1" i="0" spc="-100" kern="0" dirty="0">
                <a:solidFill>
                  <a:srgbClr val="F6F3EC"/>
                </a:solidFill>
                <a:latin typeface="Space Grotesk" pitchFamily="34" charset="0"/>
                <a:ea typeface="Space Grotesk" pitchFamily="34" charset="-122"/>
                <a:cs typeface="Space Grotesk" pitchFamily="34" charset="-120"/>
              </a:rPr>
              <a:t>Commits that</a:t>
            </a:r>
            <a:endParaRPr lang="en-US" sz="6400" dirty="0"/>
          </a:p>
          <a:p>
            <a:pPr algn="l" indent="0" marL="0">
              <a:lnSpc>
                <a:spcPts val="6720"/>
              </a:lnSpc>
              <a:buNone/>
            </a:pPr>
            <a:r>
              <a:rPr lang="en-US" sz="6400" b="1" i="0" spc="-100" kern="0" dirty="0">
                <a:solidFill>
                  <a:srgbClr val="F6F3EC"/>
                </a:solidFill>
                <a:latin typeface="Space Grotesk" pitchFamily="34" charset="0"/>
                <a:ea typeface="Space Grotesk" pitchFamily="34" charset="-122"/>
                <a:cs typeface="Space Grotesk" pitchFamily="34" charset="-120"/>
              </a:rPr>
              <a:t>release themselves</a:t>
            </a:r>
            <a:endParaRPr lang="en-US" sz="6400" dirty="0"/>
          </a:p>
        </p:txBody>
      </p:sp>
      <p:sp>
        <p:nvSpPr>
          <p:cNvPr id="4" name="Text 2"/>
          <p:cNvSpPr/>
          <p:nvPr/>
        </p:nvSpPr>
        <p:spPr>
          <a:xfrm>
            <a:off x="812800" y="4350960"/>
            <a:ext cx="10883392" cy="434332"/>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3A9B6"/>
                </a:solidFill>
                <a:latin typeface="Space Grotesk" pitchFamily="34" charset="0"/>
                <a:ea typeface="Space Grotesk" pitchFamily="34" charset="-122"/>
                <a:cs typeface="Space Grotesk" pitchFamily="34" charset="-120"/>
              </a:rPr>
              <a:t>Conventional Commits + Release Please, explained simply</a:t>
            </a:r>
            <a:endParaRPr lang="en-US" sz="2000" dirty="0"/>
          </a:p>
        </p:txBody>
      </p:sp>
      <p:sp>
        <p:nvSpPr>
          <p:cNvPr id="5" name="Text 3"/>
          <p:cNvSpPr/>
          <p:nvPr/>
        </p:nvSpPr>
        <p:spPr>
          <a:xfrm>
            <a:off x="812800" y="5779407"/>
            <a:ext cx="10883392" cy="29119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3A9B6"/>
                </a:solidFill>
                <a:latin typeface="Space Grotesk" pitchFamily="34" charset="0"/>
                <a:ea typeface="Space Grotesk" pitchFamily="34" charset="-122"/>
                <a:cs typeface="Space Grotesk" pitchFamily="34" charset="-120"/>
              </a:rPr>
              <a:t>[Presenter name] · [Team] · [Date]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037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B1E26"/>
                </a:solidFill>
                <a:latin typeface="Space Grotesk" pitchFamily="34" charset="0"/>
                <a:ea typeface="Space Grotesk" pitchFamily="34" charset="-122"/>
                <a:cs typeface="Space Grotesk" pitchFamily="34" charset="-120"/>
              </a:rPr>
              <a:t>The problem: our history tells us nothing</a:t>
            </a:r>
            <a:endParaRPr lang="en-US" sz="3600" dirty="0"/>
          </a:p>
        </p:txBody>
      </p:sp>
      <p:sp>
        <p:nvSpPr>
          <p:cNvPr id="3" name="Shape 1"/>
          <p:cNvSpPr/>
          <p:nvPr/>
        </p:nvSpPr>
        <p:spPr>
          <a:xfrm>
            <a:off x="812800" y="1797541"/>
            <a:ext cx="5384800" cy="3350570"/>
          </a:xfrm>
          <a:prstGeom prst="roundRect">
            <a:avLst>
              <a:gd name="adj" fmla="val 3790"/>
            </a:avLst>
          </a:prstGeom>
          <a:solidFill>
            <a:srgbClr val="15181F"/>
          </a:solidFill>
          <a:ln/>
        </p:spPr>
      </p:sp>
      <p:sp>
        <p:nvSpPr>
          <p:cNvPr id="4" name="Text 2"/>
          <p:cNvSpPr/>
          <p:nvPr/>
        </p:nvSpPr>
        <p:spPr>
          <a:xfrm>
            <a:off x="1117600" y="2102341"/>
            <a:ext cx="4918456" cy="29119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3A9B6"/>
                </a:solidFill>
                <a:latin typeface="JetBrains Mono" pitchFamily="49" charset="0"/>
                <a:ea typeface="JetBrains Mono" pitchFamily="49" charset="-122"/>
                <a:cs typeface="JetBrains Mono" pitchFamily="49" charset="-120"/>
              </a:rPr>
              <a:t>$ git log --oneline</a:t>
            </a:r>
            <a:endParaRPr lang="en-US" sz="1300" dirty="0"/>
          </a:p>
        </p:txBody>
      </p:sp>
      <p:sp>
        <p:nvSpPr>
          <p:cNvPr id="5" name="Text 3"/>
          <p:cNvSpPr/>
          <p:nvPr/>
        </p:nvSpPr>
        <p:spPr>
          <a:xfrm>
            <a:off x="1117600" y="2495135"/>
            <a:ext cx="4918456" cy="39343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8A5C"/>
                </a:solidFill>
                <a:latin typeface="JetBrains Mono" pitchFamily="49" charset="0"/>
                <a:ea typeface="JetBrains Mono" pitchFamily="49" charset="-122"/>
                <a:cs typeface="JetBrains Mono" pitchFamily="49" charset="-120"/>
              </a:rPr>
              <a:t>a1f3c9e</a:t>
            </a:r>
            <a:r>
              <a:rPr lang="en-US" sz="1800" dirty="0">
                <a:solidFill>
                  <a:srgbClr val="F6F3EC"/>
                </a:solidFill>
                <a:latin typeface="JetBrains Mono" pitchFamily="49" charset="0"/>
                <a:ea typeface="JetBrains Mono" pitchFamily="49" charset="-122"/>
                <a:cs typeface="JetBrains Mono" pitchFamily="49" charset="-120"/>
              </a:rPr>
              <a:t> fixed stuff</a:t>
            </a:r>
            <a:endParaRPr lang="en-US" sz="1800" dirty="0"/>
          </a:p>
        </p:txBody>
      </p:sp>
      <p:sp>
        <p:nvSpPr>
          <p:cNvPr id="6" name="Text 4"/>
          <p:cNvSpPr/>
          <p:nvPr/>
        </p:nvSpPr>
        <p:spPr>
          <a:xfrm>
            <a:off x="1117600" y="2990170"/>
            <a:ext cx="4918456" cy="39343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8A5C"/>
                </a:solidFill>
                <a:latin typeface="JetBrains Mono" pitchFamily="49" charset="0"/>
                <a:ea typeface="JetBrains Mono" pitchFamily="49" charset="-122"/>
                <a:cs typeface="JetBrains Mono" pitchFamily="49" charset="-120"/>
              </a:rPr>
              <a:t>7be2d10</a:t>
            </a:r>
            <a:r>
              <a:rPr lang="en-US" sz="1800" dirty="0">
                <a:solidFill>
                  <a:srgbClr val="F6F3EC"/>
                </a:solidFill>
                <a:latin typeface="JetBrains Mono" pitchFamily="49" charset="0"/>
                <a:ea typeface="JetBrains Mono" pitchFamily="49" charset="-122"/>
                <a:cs typeface="JetBrains Mono" pitchFamily="49" charset="-120"/>
              </a:rPr>
              <a:t> wip</a:t>
            </a:r>
            <a:endParaRPr lang="en-US" sz="1800" dirty="0"/>
          </a:p>
        </p:txBody>
      </p:sp>
      <p:sp>
        <p:nvSpPr>
          <p:cNvPr id="7" name="Text 5"/>
          <p:cNvSpPr/>
          <p:nvPr/>
        </p:nvSpPr>
        <p:spPr>
          <a:xfrm>
            <a:off x="1117600" y="3485205"/>
            <a:ext cx="4918456" cy="39343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8A5C"/>
                </a:solidFill>
                <a:latin typeface="JetBrains Mono" pitchFamily="49" charset="0"/>
                <a:ea typeface="JetBrains Mono" pitchFamily="49" charset="-122"/>
                <a:cs typeface="JetBrains Mono" pitchFamily="49" charset="-120"/>
              </a:rPr>
              <a:t>c09e4a1</a:t>
            </a:r>
            <a:r>
              <a:rPr lang="en-US" sz="1800" dirty="0">
                <a:solidFill>
                  <a:srgbClr val="F6F3EC"/>
                </a:solidFill>
                <a:latin typeface="JetBrains Mono" pitchFamily="49" charset="0"/>
                <a:ea typeface="JetBrains Mono" pitchFamily="49" charset="-122"/>
                <a:cs typeface="JetBrains Mono" pitchFamily="49" charset="-120"/>
              </a:rPr>
              <a:t> updates</a:t>
            </a:r>
            <a:endParaRPr lang="en-US" sz="1800" dirty="0"/>
          </a:p>
        </p:txBody>
      </p:sp>
      <p:sp>
        <p:nvSpPr>
          <p:cNvPr id="8" name="Text 6"/>
          <p:cNvSpPr/>
          <p:nvPr/>
        </p:nvSpPr>
        <p:spPr>
          <a:xfrm>
            <a:off x="1117600" y="3980241"/>
            <a:ext cx="4918456" cy="39343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8A5C"/>
                </a:solidFill>
                <a:latin typeface="JetBrains Mono" pitchFamily="49" charset="0"/>
                <a:ea typeface="JetBrains Mono" pitchFamily="49" charset="-122"/>
                <a:cs typeface="JetBrains Mono" pitchFamily="49" charset="-120"/>
              </a:rPr>
              <a:t>e44b8f2</a:t>
            </a:r>
            <a:r>
              <a:rPr lang="en-US" sz="1800" dirty="0">
                <a:solidFill>
                  <a:srgbClr val="F6F3EC"/>
                </a:solidFill>
                <a:latin typeface="JetBrains Mono" pitchFamily="49" charset="0"/>
                <a:ea typeface="JetBrains Mono" pitchFamily="49" charset="-122"/>
                <a:cs typeface="JetBrains Mono" pitchFamily="49" charset="-120"/>
              </a:rPr>
              <a:t> final final v2</a:t>
            </a:r>
            <a:endParaRPr lang="en-US" sz="1800" dirty="0"/>
          </a:p>
        </p:txBody>
      </p:sp>
      <p:sp>
        <p:nvSpPr>
          <p:cNvPr id="9" name="Text 7"/>
          <p:cNvSpPr/>
          <p:nvPr/>
        </p:nvSpPr>
        <p:spPr>
          <a:xfrm>
            <a:off x="1117600" y="4475276"/>
            <a:ext cx="4918456" cy="39343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8A5C"/>
                </a:solidFill>
                <a:latin typeface="JetBrains Mono" pitchFamily="49" charset="0"/>
                <a:ea typeface="JetBrains Mono" pitchFamily="49" charset="-122"/>
                <a:cs typeface="JetBrains Mono" pitchFamily="49" charset="-120"/>
              </a:rPr>
              <a:t>91ad3c7</a:t>
            </a:r>
            <a:r>
              <a:rPr lang="en-US" sz="1800" dirty="0">
                <a:solidFill>
                  <a:srgbClr val="F6F3EC"/>
                </a:solidFill>
                <a:latin typeface="JetBrains Mono" pitchFamily="49" charset="0"/>
                <a:ea typeface="JetBrains Mono" pitchFamily="49" charset="-122"/>
                <a:cs typeface="JetBrains Mono" pitchFamily="49" charset="-120"/>
              </a:rPr>
              <a:t> pls work</a:t>
            </a:r>
            <a:endParaRPr lang="en-US" sz="1800" dirty="0"/>
          </a:p>
        </p:txBody>
      </p:sp>
      <p:sp>
        <p:nvSpPr>
          <p:cNvPr id="10" name="Text 8"/>
          <p:cNvSpPr/>
          <p:nvPr/>
        </p:nvSpPr>
        <p:spPr>
          <a:xfrm>
            <a:off x="6604000" y="2171889"/>
            <a:ext cx="4918456" cy="446012"/>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B1E26"/>
                </a:solidFill>
                <a:latin typeface="Space Grotesk" pitchFamily="34" charset="0"/>
                <a:ea typeface="Space Grotesk" pitchFamily="34" charset="-122"/>
                <a:cs typeface="Space Grotesk" pitchFamily="34" charset="-120"/>
              </a:rPr>
              <a:t>What changed?</a:t>
            </a:r>
            <a:endParaRPr lang="en-US" sz="2400" dirty="0"/>
          </a:p>
        </p:txBody>
      </p:sp>
      <p:sp>
        <p:nvSpPr>
          <p:cNvPr id="11" name="Text 9"/>
          <p:cNvSpPr/>
          <p:nvPr/>
        </p:nvSpPr>
        <p:spPr>
          <a:xfrm>
            <a:off x="6604000" y="2821101"/>
            <a:ext cx="4918456" cy="446012"/>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B1E26"/>
                </a:solidFill>
                <a:latin typeface="Space Grotesk" pitchFamily="34" charset="0"/>
                <a:ea typeface="Space Grotesk" pitchFamily="34" charset="-122"/>
                <a:cs typeface="Space Grotesk" pitchFamily="34" charset="-120"/>
              </a:rPr>
              <a:t>Will anything break?</a:t>
            </a:r>
            <a:endParaRPr lang="en-US" sz="2400" dirty="0"/>
          </a:p>
        </p:txBody>
      </p:sp>
      <p:sp>
        <p:nvSpPr>
          <p:cNvPr id="12" name="Text 10"/>
          <p:cNvSpPr/>
          <p:nvPr/>
        </p:nvSpPr>
        <p:spPr>
          <a:xfrm>
            <a:off x="6604000" y="3470313"/>
            <a:ext cx="4918456" cy="446012"/>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B1E26"/>
                </a:solidFill>
                <a:latin typeface="Space Grotesk" pitchFamily="34" charset="0"/>
                <a:ea typeface="Space Grotesk" pitchFamily="34" charset="-122"/>
                <a:cs typeface="Space Grotesk" pitchFamily="34" charset="-120"/>
              </a:rPr>
              <a:t>What is the next version?</a:t>
            </a:r>
            <a:endParaRPr lang="en-US" sz="2400" dirty="0"/>
          </a:p>
        </p:txBody>
      </p:sp>
      <p:sp>
        <p:nvSpPr>
          <p:cNvPr id="13" name="Text 11"/>
          <p:cNvSpPr/>
          <p:nvPr/>
        </p:nvSpPr>
        <p:spPr>
          <a:xfrm>
            <a:off x="6604000" y="4119525"/>
            <a:ext cx="4918456" cy="6796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D6270"/>
                </a:solidFill>
                <a:latin typeface="Space Grotesk" pitchFamily="34" charset="0"/>
                <a:ea typeface="Space Grotesk" pitchFamily="34" charset="-122"/>
                <a:cs typeface="Space Grotesk" pitchFamily="34" charset="-120"/>
              </a:rPr>
              <a:t>Today, answering these means reading code, asking around, and guessing.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592A"/>
        </a:solidFill>
      </p:bgPr>
    </p:bg>
    <p:spTree>
      <p:nvGrpSpPr>
        <p:cNvPr id="1" name=""/>
        <p:cNvGrpSpPr/>
        <p:nvPr/>
      </p:nvGrpSpPr>
      <p:grpSpPr>
        <a:xfrm>
          <a:off x="0" y="0"/>
          <a:ext cx="0" cy="0"/>
          <a:chOff x="0" y="0"/>
          <a:chExt cx="0" cy="0"/>
        </a:xfrm>
      </p:grpSpPr>
      <p:sp>
        <p:nvSpPr>
          <p:cNvPr id="2" name="Text 0"/>
          <p:cNvSpPr/>
          <p:nvPr/>
        </p:nvSpPr>
        <p:spPr>
          <a:xfrm>
            <a:off x="812800" y="1178871"/>
            <a:ext cx="10883392"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181F"/>
                </a:solidFill>
                <a:latin typeface="JetBrains Mono" pitchFamily="49" charset="0"/>
                <a:ea typeface="JetBrains Mono" pitchFamily="49" charset="-122"/>
                <a:cs typeface="JetBrains Mono" pitchFamily="49" charset="-120"/>
              </a:rPr>
              <a:t>the big idea</a:t>
            </a:r>
            <a:endParaRPr lang="en-US" sz="1600" dirty="0"/>
          </a:p>
        </p:txBody>
      </p:sp>
      <p:sp>
        <p:nvSpPr>
          <p:cNvPr id="3" name="Text 1"/>
          <p:cNvSpPr/>
          <p:nvPr>
            <p:ph type="title"/>
          </p:nvPr>
        </p:nvSpPr>
        <p:spPr>
          <a:xfrm>
            <a:off x="812800" y="1810770"/>
            <a:ext cx="10883392" cy="3179989"/>
          </a:xfrm>
          <a:prstGeom prst="rect">
            <a:avLst/>
          </a:prstGeom>
          <a:noFill/>
          <a:ln/>
        </p:spPr>
        <p:txBody>
          <a:bodyPr wrap="square" lIns="0" tIns="0" rIns="0" bIns="0" rtlCol="0" anchor="t">
            <a:normAutofit/>
          </a:bodyPr>
          <a:lstStyle/>
          <a:p>
            <a:pPr algn="l" indent="0" marL="0">
              <a:lnSpc>
                <a:spcPts val="5400"/>
              </a:lnSpc>
              <a:buNone/>
            </a:pPr>
            <a:r>
              <a:rPr lang="en-US" sz="5000" b="1" i="0" spc="-100" kern="0" dirty="0">
                <a:solidFill>
                  <a:srgbClr val="15181F"/>
                </a:solidFill>
                <a:latin typeface="Space Grotesk" pitchFamily="34" charset="0"/>
                <a:ea typeface="Space Grotesk" pitchFamily="34" charset="-122"/>
                <a:cs typeface="Space Grotesk" pitchFamily="34" charset="-120"/>
              </a:rPr>
              <a:t>Add one word to every commit. Get versions, changelogs, and releases for free.</a:t>
            </a:r>
            <a:endParaRPr lang="en-US" sz="5000" dirty="0"/>
          </a:p>
        </p:txBody>
      </p:sp>
      <p:sp>
        <p:nvSpPr>
          <p:cNvPr id="4" name="Text 2"/>
          <p:cNvSpPr/>
          <p:nvPr/>
        </p:nvSpPr>
        <p:spPr>
          <a:xfrm>
            <a:off x="812800" y="5270160"/>
            <a:ext cx="10883392" cy="434332"/>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5181F"/>
                </a:solidFill>
                <a:latin typeface="Space Grotesk" pitchFamily="34" charset="0"/>
                <a:ea typeface="Space Grotesk" pitchFamily="34" charset="-122"/>
                <a:cs typeface="Space Grotesk" pitchFamily="34" charset="-120"/>
              </a:rPr>
              <a:t>That one word is called the </a:t>
            </a:r>
            <a:r>
              <a:rPr lang="en-US" sz="2000" b="1" dirty="0">
                <a:solidFill>
                  <a:srgbClr val="15181F"/>
                </a:solidFill>
                <a:latin typeface="Space Grotesk" pitchFamily="34" charset="0"/>
                <a:ea typeface="Space Grotesk" pitchFamily="34" charset="-122"/>
                <a:cs typeface="Space Grotesk" pitchFamily="34" charset="-120"/>
              </a:rPr>
              <a:t>type</a:t>
            </a:r>
            <a:r>
              <a:rPr lang="en-US" sz="2000" dirty="0">
                <a:solidFill>
                  <a:srgbClr val="15181F"/>
                </a:solidFill>
                <a:latin typeface="Space Grotesk" pitchFamily="34" charset="0"/>
                <a:ea typeface="Space Grotesk" pitchFamily="34" charset="-122"/>
                <a:cs typeface="Space Grotesk" pitchFamily="34" charset="-120"/>
              </a:rPr>
              <a: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84792"/>
          </a:xfrm>
          <a:prstGeom prst="rect">
            <a:avLst/>
          </a:prstGeom>
          <a:noFill/>
          <a:ln/>
        </p:spPr>
        <p:txBody>
          <a:bodyPr wrap="square" lIns="0" tIns="0" rIns="0" bIns="0" rtlCol="0" anchor="t">
            <a:normAutofit/>
          </a:bodyPr>
          <a:lstStyle/>
          <a:p>
            <a:pPr algn="l" indent="0" marL="0">
              <a:lnSpc>
                <a:spcPts val="3143"/>
              </a:lnSpc>
              <a:buNone/>
            </a:pPr>
            <a:r>
              <a:rPr lang="en-US" sz="2858" b="1" i="0" spc="-50" kern="0" dirty="0">
                <a:solidFill>
                  <a:srgbClr val="1B1E26"/>
                </a:solidFill>
                <a:latin typeface="Space Grotesk" pitchFamily="34" charset="0"/>
                <a:ea typeface="Space Grotesk" pitchFamily="34" charset="-122"/>
                <a:cs typeface="Space Grotesk" pitchFamily="34" charset="-120"/>
              </a:rPr>
              <a:t>Anatomy of a conventional commit</a:t>
            </a:r>
            <a:endParaRPr lang="en-US" sz="2858" dirty="0"/>
          </a:p>
        </p:txBody>
      </p:sp>
      <p:sp>
        <p:nvSpPr>
          <p:cNvPr id="3" name="Shape 1"/>
          <p:cNvSpPr/>
          <p:nvPr/>
        </p:nvSpPr>
        <p:spPr>
          <a:xfrm>
            <a:off x="812800" y="1576992"/>
            <a:ext cx="10566400" cy="2601913"/>
          </a:xfrm>
          <a:prstGeom prst="roundRect">
            <a:avLst>
              <a:gd name="adj" fmla="val 4881"/>
            </a:avLst>
          </a:prstGeom>
          <a:solidFill>
            <a:srgbClr val="15181F"/>
          </a:solidFill>
          <a:ln/>
        </p:spPr>
      </p:sp>
      <p:sp>
        <p:nvSpPr>
          <p:cNvPr id="4" name="Text 2"/>
          <p:cNvSpPr/>
          <p:nvPr/>
        </p:nvSpPr>
        <p:spPr>
          <a:xfrm>
            <a:off x="1168400" y="1830992"/>
            <a:ext cx="10210800" cy="720309"/>
          </a:xfrm>
          <a:prstGeom prst="rect">
            <a:avLst/>
          </a:prstGeom>
          <a:noFill/>
          <a:ln/>
        </p:spPr>
        <p:txBody>
          <a:bodyPr wrap="square" lIns="0" tIns="0" rIns="0" bIns="0" rtlCol="0" anchor="t">
            <a:normAutofit/>
          </a:bodyPr>
          <a:lstStyle/>
          <a:p>
            <a:pPr algn="l" indent="0" marL="0">
              <a:lnSpc>
                <a:spcPts val="2907"/>
              </a:lnSpc>
              <a:buNone/>
            </a:pPr>
            <a:r>
              <a:rPr lang="en-US" sz="2076" b="1" dirty="0">
                <a:solidFill>
                  <a:srgbClr val="FF8A5C"/>
                </a:solidFill>
                <a:latin typeface="JetBrains Mono" pitchFamily="49" charset="0"/>
                <a:ea typeface="JetBrains Mono" pitchFamily="49" charset="-122"/>
                <a:cs typeface="JetBrains Mono" pitchFamily="49" charset="-120"/>
              </a:rPr>
              <a:t>feat</a:t>
            </a:r>
            <a:r>
              <a:rPr lang="en-US" sz="2076" b="1" dirty="0">
                <a:solidFill>
                  <a:srgbClr val="7FB0FF"/>
                </a:solidFill>
                <a:latin typeface="JetBrains Mono" pitchFamily="49" charset="0"/>
                <a:ea typeface="JetBrains Mono" pitchFamily="49" charset="-122"/>
                <a:cs typeface="JetBrains Mono" pitchFamily="49" charset="-120"/>
              </a:rPr>
              <a:t>(jwt)</a:t>
            </a:r>
            <a:r>
              <a:rPr lang="en-US" sz="2076" b="1" dirty="0">
                <a:solidFill>
                  <a:srgbClr val="FFD166"/>
                </a:solidFill>
                <a:latin typeface="JetBrains Mono" pitchFamily="49" charset="0"/>
                <a:ea typeface="JetBrains Mono" pitchFamily="49" charset="-122"/>
                <a:cs typeface="JetBrains Mono" pitchFamily="49" charset="-120"/>
              </a:rPr>
              <a:t>!</a:t>
            </a:r>
            <a:r>
              <a:rPr lang="en-US" sz="2076" b="1" dirty="0">
                <a:solidFill>
                  <a:srgbClr val="F6F3EC"/>
                </a:solidFill>
                <a:latin typeface="JetBrains Mono" pitchFamily="49" charset="0"/>
                <a:ea typeface="JetBrains Mono" pitchFamily="49" charset="-122"/>
                <a:cs typeface="JetBrains Mono" pitchFamily="49" charset="-120"/>
              </a:rPr>
              <a:t>: accept tokens only in authorization header</a:t>
            </a:r>
            <a:endParaRPr lang="en-US" sz="2076" dirty="0"/>
          </a:p>
        </p:txBody>
      </p:sp>
      <p:sp>
        <p:nvSpPr>
          <p:cNvPr id="5" name="Text 3"/>
          <p:cNvSpPr/>
          <p:nvPr/>
        </p:nvSpPr>
        <p:spPr>
          <a:xfrm>
            <a:off x="1168400" y="2652902"/>
            <a:ext cx="10150856" cy="483394"/>
          </a:xfrm>
          <a:prstGeom prst="rect">
            <a:avLst/>
          </a:prstGeom>
          <a:noFill/>
          <a:ln/>
        </p:spPr>
        <p:txBody>
          <a:bodyPr wrap="square" lIns="0" tIns="0" rIns="0" bIns="0" rtlCol="0" anchor="t">
            <a:normAutofit/>
          </a:bodyPr>
          <a:lstStyle/>
          <a:p>
            <a:pPr algn="l" indent="0" marL="0">
              <a:lnSpc>
                <a:spcPts val="1573"/>
              </a:lnSpc>
              <a:buNone/>
            </a:pPr>
            <a:r>
              <a:rPr lang="en-US" sz="1085" dirty="0">
                <a:solidFill>
                  <a:srgbClr val="A3A9B6"/>
                </a:solidFill>
                <a:latin typeface="JetBrains Mono" pitchFamily="49" charset="0"/>
                <a:ea typeface="JetBrains Mono" pitchFamily="49" charset="-122"/>
                <a:cs typeface="JetBrains Mono" pitchFamily="49" charset="-120"/>
              </a:rPr>
              <a:t>Query-string tokens leak into logs and browser history.</a:t>
            </a:r>
            <a:endParaRPr lang="en-US" sz="1085" dirty="0"/>
          </a:p>
          <a:p>
            <a:pPr algn="l" indent="0" marL="0">
              <a:lnSpc>
                <a:spcPts val="1573"/>
              </a:lnSpc>
              <a:buNone/>
            </a:pPr>
            <a:r>
              <a:rPr lang="en-US" sz="1085" dirty="0">
                <a:solidFill>
                  <a:srgbClr val="A3A9B6"/>
                </a:solidFill>
                <a:latin typeface="JetBrains Mono" pitchFamily="49" charset="0"/>
                <a:ea typeface="JetBrains Mono" pitchFamily="49" charset="-122"/>
                <a:cs typeface="JetBrains Mono" pitchFamily="49" charset="-120"/>
              </a:rPr>
              <a:t>Header-only submission keeps them out of URLs.</a:t>
            </a:r>
            <a:endParaRPr lang="en-US" sz="1085" dirty="0"/>
          </a:p>
        </p:txBody>
      </p:sp>
      <p:sp>
        <p:nvSpPr>
          <p:cNvPr id="6" name="Text 4"/>
          <p:cNvSpPr/>
          <p:nvPr/>
        </p:nvSpPr>
        <p:spPr>
          <a:xfrm>
            <a:off x="1168400" y="3237895"/>
            <a:ext cx="10150856" cy="712410"/>
          </a:xfrm>
          <a:prstGeom prst="rect">
            <a:avLst/>
          </a:prstGeom>
          <a:noFill/>
          <a:ln/>
        </p:spPr>
        <p:txBody>
          <a:bodyPr wrap="square" lIns="0" tIns="0" rIns="0" bIns="0" rtlCol="0" anchor="t">
            <a:normAutofit/>
          </a:bodyPr>
          <a:lstStyle/>
          <a:p>
            <a:pPr algn="l" indent="0" marL="0">
              <a:lnSpc>
                <a:spcPts val="1567"/>
              </a:lnSpc>
              <a:buNone/>
            </a:pPr>
            <a:r>
              <a:rPr lang="en-US" sz="1081" dirty="0">
                <a:solidFill>
                  <a:srgbClr val="FFD166"/>
                </a:solidFill>
                <a:latin typeface="JetBrains Mono" pitchFamily="49" charset="0"/>
                <a:ea typeface="JetBrains Mono" pitchFamily="49" charset="-122"/>
                <a:cs typeface="JetBrains Mono" pitchFamily="49" charset="-120"/>
              </a:rPr>
              <a:t>BREAKING CHANGE:</a:t>
            </a:r>
            <a:r>
              <a:rPr lang="en-US" sz="1081" dirty="0">
                <a:solidFill>
                  <a:srgbClr val="E6E2D8"/>
                </a:solidFill>
                <a:latin typeface="JetBrains Mono" pitchFamily="49" charset="0"/>
                <a:ea typeface="JetBrains Mono" pitchFamily="49" charset="-122"/>
                <a:cs typeface="JetBrains Mono" pitchFamily="49" charset="-120"/>
              </a:rPr>
              <a:t> tokens sent as ?access_token= now get a 401.</a:t>
            </a:r>
            <a:endParaRPr lang="en-US" sz="1081" dirty="0"/>
          </a:p>
          <a:p>
            <a:pPr algn="l" indent="0" marL="0">
              <a:lnSpc>
                <a:spcPts val="1567"/>
              </a:lnSpc>
              <a:buNone/>
            </a:pPr>
            <a:r>
              <a:rPr lang="en-US" sz="1081" dirty="0">
                <a:solidFill>
                  <a:srgbClr val="E6E2D8"/>
                </a:solidFill>
                <a:latin typeface="JetBrains Mono" pitchFamily="49" charset="0"/>
                <a:ea typeface="JetBrains Mono" pitchFamily="49" charset="-122"/>
                <a:cs typeface="JetBrains Mono" pitchFamily="49" charset="-120"/>
              </a:rPr>
              <a:t>Clients must send an Authorization: Bearer header.</a:t>
            </a:r>
            <a:endParaRPr lang="en-US" sz="1081" dirty="0"/>
          </a:p>
          <a:p>
            <a:pPr algn="l" indent="0" marL="0">
              <a:lnSpc>
                <a:spcPts val="1567"/>
              </a:lnSpc>
              <a:buNone/>
            </a:pPr>
            <a:r>
              <a:rPr lang="en-US" sz="1081" dirty="0">
                <a:solidFill>
                  <a:srgbClr val="7FB0FF"/>
                </a:solidFill>
                <a:latin typeface="JetBrains Mono" pitchFamily="49" charset="0"/>
                <a:ea typeface="JetBrains Mono" pitchFamily="49" charset="-122"/>
                <a:cs typeface="JetBrains Mono" pitchFamily="49" charset="-120"/>
              </a:rPr>
              <a:t>Refs:</a:t>
            </a:r>
            <a:r>
              <a:rPr lang="en-US" sz="1081" dirty="0">
                <a:solidFill>
                  <a:srgbClr val="E6E2D8"/>
                </a:solidFill>
                <a:latin typeface="JetBrains Mono" pitchFamily="49" charset="0"/>
                <a:ea typeface="JetBrains Mono" pitchFamily="49" charset="-122"/>
                <a:cs typeface="JetBrains Mono" pitchFamily="49" charset="-120"/>
              </a:rPr>
              <a:t> #1482</a:t>
            </a:r>
            <a:endParaRPr lang="en-US" sz="1081" dirty="0"/>
          </a:p>
        </p:txBody>
      </p:sp>
      <p:sp>
        <p:nvSpPr>
          <p:cNvPr id="7" name="Shape 5"/>
          <p:cNvSpPr/>
          <p:nvPr/>
        </p:nvSpPr>
        <p:spPr>
          <a:xfrm>
            <a:off x="819150" y="4490055"/>
            <a:ext cx="2514600" cy="1548795"/>
          </a:xfrm>
          <a:prstGeom prst="roundRect">
            <a:avLst>
              <a:gd name="adj" fmla="val 6150"/>
            </a:avLst>
          </a:prstGeom>
          <a:solidFill>
            <a:srgbClr val="FFFDF8"/>
          </a:solidFill>
          <a:ln w="12700">
            <a:solidFill>
              <a:srgbClr val="E2DDD2"/>
            </a:solidFill>
            <a:prstDash val="solid"/>
          </a:ln>
        </p:spPr>
      </p:sp>
      <p:sp>
        <p:nvSpPr>
          <p:cNvPr id="8" name="Text 6"/>
          <p:cNvSpPr/>
          <p:nvPr/>
        </p:nvSpPr>
        <p:spPr>
          <a:xfrm>
            <a:off x="1028095" y="4699000"/>
            <a:ext cx="2159611"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441B"/>
                </a:solidFill>
                <a:latin typeface="JetBrains Mono" pitchFamily="49" charset="0"/>
                <a:ea typeface="JetBrains Mono" pitchFamily="49" charset="-122"/>
                <a:cs typeface="JetBrains Mono" pitchFamily="49" charset="-120"/>
              </a:rPr>
              <a:t>feat</a:t>
            </a:r>
            <a:endParaRPr lang="en-US" sz="1800" dirty="0"/>
          </a:p>
        </p:txBody>
      </p:sp>
      <p:sp>
        <p:nvSpPr>
          <p:cNvPr id="9" name="Text 7"/>
          <p:cNvSpPr/>
          <p:nvPr/>
        </p:nvSpPr>
        <p:spPr>
          <a:xfrm>
            <a:off x="1028095" y="5090660"/>
            <a:ext cx="2159611"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1E26"/>
                </a:solidFill>
                <a:latin typeface="Space Grotesk" pitchFamily="34" charset="0"/>
                <a:ea typeface="Space Grotesk" pitchFamily="34" charset="-122"/>
                <a:cs typeface="Space Grotesk" pitchFamily="34" charset="-120"/>
              </a:rPr>
              <a:t>The type. What kind of change is this?</a:t>
            </a:r>
            <a:endParaRPr lang="en-US" sz="1400" dirty="0"/>
          </a:p>
        </p:txBody>
      </p:sp>
      <p:sp>
        <p:nvSpPr>
          <p:cNvPr id="10" name="Shape 8"/>
          <p:cNvSpPr/>
          <p:nvPr/>
        </p:nvSpPr>
        <p:spPr>
          <a:xfrm>
            <a:off x="3498850" y="4490055"/>
            <a:ext cx="2514600" cy="1548795"/>
          </a:xfrm>
          <a:prstGeom prst="roundRect">
            <a:avLst>
              <a:gd name="adj" fmla="val 6150"/>
            </a:avLst>
          </a:prstGeom>
          <a:solidFill>
            <a:srgbClr val="FFFDF8"/>
          </a:solidFill>
          <a:ln w="12700">
            <a:solidFill>
              <a:srgbClr val="E2DDD2"/>
            </a:solidFill>
            <a:prstDash val="solid"/>
          </a:ln>
        </p:spPr>
      </p:sp>
      <p:sp>
        <p:nvSpPr>
          <p:cNvPr id="11" name="Text 9"/>
          <p:cNvSpPr/>
          <p:nvPr/>
        </p:nvSpPr>
        <p:spPr>
          <a:xfrm>
            <a:off x="3707795" y="4699000"/>
            <a:ext cx="2159611" cy="316328"/>
          </a:xfrm>
          <a:prstGeom prst="rect">
            <a:avLst/>
          </a:prstGeom>
          <a:noFill/>
          <a:ln/>
        </p:spPr>
        <p:txBody>
          <a:bodyPr wrap="square" lIns="0" tIns="0" rIns="0" bIns="0" rtlCol="0" anchor="t">
            <a:normAutofit/>
          </a:bodyPr>
          <a:lstStyle/>
          <a:p>
            <a:pPr algn="l" indent="0" marL="0">
              <a:lnSpc>
                <a:spcPts val="2018"/>
              </a:lnSpc>
              <a:buNone/>
            </a:pPr>
            <a:r>
              <a:rPr lang="en-US" sz="1682" b="1" dirty="0">
                <a:solidFill>
                  <a:srgbClr val="2F62B0"/>
                </a:solidFill>
                <a:latin typeface="JetBrains Mono" pitchFamily="49" charset="0"/>
                <a:ea typeface="JetBrains Mono" pitchFamily="49" charset="-122"/>
                <a:cs typeface="JetBrains Mono" pitchFamily="49" charset="-120"/>
              </a:rPr>
              <a:t>(jwt)</a:t>
            </a:r>
            <a:endParaRPr lang="en-US" sz="1682" dirty="0"/>
          </a:p>
        </p:txBody>
      </p:sp>
      <p:sp>
        <p:nvSpPr>
          <p:cNvPr id="12" name="Text 10"/>
          <p:cNvSpPr/>
          <p:nvPr/>
        </p:nvSpPr>
        <p:spPr>
          <a:xfrm>
            <a:off x="3707795" y="5066128"/>
            <a:ext cx="2159611" cy="789176"/>
          </a:xfrm>
          <a:prstGeom prst="rect">
            <a:avLst/>
          </a:prstGeom>
          <a:noFill/>
          <a:ln/>
        </p:spPr>
        <p:txBody>
          <a:bodyPr wrap="square" lIns="0" tIns="0" rIns="0" bIns="0" rtlCol="0" anchor="t">
            <a:normAutofit/>
          </a:bodyPr>
          <a:lstStyle/>
          <a:p>
            <a:pPr algn="l" indent="0" marL="0">
              <a:lnSpc>
                <a:spcPts val="1760"/>
              </a:lnSpc>
              <a:buNone/>
            </a:pPr>
            <a:r>
              <a:rPr lang="en-US" sz="1304" dirty="0">
                <a:solidFill>
                  <a:srgbClr val="1B1E26"/>
                </a:solidFill>
                <a:latin typeface="Space Grotesk" pitchFamily="34" charset="0"/>
                <a:ea typeface="Space Grotesk" pitchFamily="34" charset="-122"/>
                <a:cs typeface="Space Grotesk" pitchFamily="34" charset="-120"/>
              </a:rPr>
              <a:t>Scope. Optional. Which part of the app?</a:t>
            </a:r>
            <a:endParaRPr lang="en-US" sz="1304" dirty="0"/>
          </a:p>
        </p:txBody>
      </p:sp>
      <p:sp>
        <p:nvSpPr>
          <p:cNvPr id="13" name="Shape 11"/>
          <p:cNvSpPr/>
          <p:nvPr/>
        </p:nvSpPr>
        <p:spPr>
          <a:xfrm>
            <a:off x="6178550" y="4490055"/>
            <a:ext cx="2514600" cy="1548795"/>
          </a:xfrm>
          <a:prstGeom prst="roundRect">
            <a:avLst>
              <a:gd name="adj" fmla="val 6150"/>
            </a:avLst>
          </a:prstGeom>
          <a:solidFill>
            <a:srgbClr val="FFFDF8"/>
          </a:solidFill>
          <a:ln w="12700">
            <a:solidFill>
              <a:srgbClr val="E2DDD2"/>
            </a:solidFill>
            <a:prstDash val="solid"/>
          </a:ln>
        </p:spPr>
      </p:sp>
      <p:sp>
        <p:nvSpPr>
          <p:cNvPr id="14" name="Text 12"/>
          <p:cNvSpPr/>
          <p:nvPr/>
        </p:nvSpPr>
        <p:spPr>
          <a:xfrm>
            <a:off x="6387495" y="4699000"/>
            <a:ext cx="2159611" cy="316328"/>
          </a:xfrm>
          <a:prstGeom prst="rect">
            <a:avLst/>
          </a:prstGeom>
          <a:noFill/>
          <a:ln/>
        </p:spPr>
        <p:txBody>
          <a:bodyPr wrap="square" lIns="0" tIns="0" rIns="0" bIns="0" rtlCol="0" anchor="t">
            <a:normAutofit/>
          </a:bodyPr>
          <a:lstStyle/>
          <a:p>
            <a:pPr algn="l" indent="0" marL="0">
              <a:lnSpc>
                <a:spcPts val="2018"/>
              </a:lnSpc>
              <a:buNone/>
            </a:pPr>
            <a:r>
              <a:rPr lang="en-US" sz="1682" b="1" dirty="0">
                <a:solidFill>
                  <a:srgbClr val="8A6400"/>
                </a:solidFill>
                <a:latin typeface="JetBrains Mono" pitchFamily="49" charset="0"/>
                <a:ea typeface="JetBrains Mono" pitchFamily="49" charset="-122"/>
                <a:cs typeface="JetBrains Mono" pitchFamily="49" charset="-120"/>
              </a:rPr>
              <a:t>!</a:t>
            </a:r>
            <a:endParaRPr lang="en-US" sz="1682" dirty="0"/>
          </a:p>
        </p:txBody>
      </p:sp>
      <p:sp>
        <p:nvSpPr>
          <p:cNvPr id="15" name="Text 13"/>
          <p:cNvSpPr/>
          <p:nvPr/>
        </p:nvSpPr>
        <p:spPr>
          <a:xfrm>
            <a:off x="6387495" y="5066128"/>
            <a:ext cx="2159611" cy="789176"/>
          </a:xfrm>
          <a:prstGeom prst="rect">
            <a:avLst/>
          </a:prstGeom>
          <a:noFill/>
          <a:ln/>
        </p:spPr>
        <p:txBody>
          <a:bodyPr wrap="square" lIns="0" tIns="0" rIns="0" bIns="0" rtlCol="0" anchor="t">
            <a:normAutofit/>
          </a:bodyPr>
          <a:lstStyle/>
          <a:p>
            <a:pPr algn="l" indent="0" marL="0">
              <a:lnSpc>
                <a:spcPts val="1760"/>
              </a:lnSpc>
              <a:buNone/>
            </a:pPr>
            <a:r>
              <a:rPr lang="en-US" sz="1304" dirty="0">
                <a:solidFill>
                  <a:srgbClr val="1B1E26"/>
                </a:solidFill>
                <a:latin typeface="Space Grotesk" pitchFamily="34" charset="0"/>
                <a:ea typeface="Space Grotesk" pitchFamily="34" charset="-122"/>
                <a:cs typeface="Space Grotesk" pitchFamily="34" charset="-120"/>
              </a:rPr>
              <a:t>Optional. Warns that this breaks something.</a:t>
            </a:r>
            <a:endParaRPr lang="en-US" sz="1304" dirty="0"/>
          </a:p>
        </p:txBody>
      </p:sp>
      <p:sp>
        <p:nvSpPr>
          <p:cNvPr id="16" name="Shape 14"/>
          <p:cNvSpPr/>
          <p:nvPr/>
        </p:nvSpPr>
        <p:spPr>
          <a:xfrm>
            <a:off x="8858250" y="4490055"/>
            <a:ext cx="2514600" cy="1548795"/>
          </a:xfrm>
          <a:prstGeom prst="roundRect">
            <a:avLst>
              <a:gd name="adj" fmla="val 6150"/>
            </a:avLst>
          </a:prstGeom>
          <a:solidFill>
            <a:srgbClr val="FFFDF8"/>
          </a:solidFill>
          <a:ln w="12700">
            <a:solidFill>
              <a:srgbClr val="E2DDD2"/>
            </a:solidFill>
            <a:prstDash val="solid"/>
          </a:ln>
        </p:spPr>
      </p:sp>
      <p:sp>
        <p:nvSpPr>
          <p:cNvPr id="17" name="Text 15"/>
          <p:cNvSpPr/>
          <p:nvPr/>
        </p:nvSpPr>
        <p:spPr>
          <a:xfrm>
            <a:off x="9067195" y="4699000"/>
            <a:ext cx="2299305" cy="481466"/>
          </a:xfrm>
          <a:prstGeom prst="rect">
            <a:avLst/>
          </a:prstGeom>
          <a:noFill/>
          <a:ln/>
        </p:spPr>
        <p:txBody>
          <a:bodyPr wrap="square" lIns="0" tIns="0" rIns="0" bIns="0" rtlCol="0" anchor="t">
            <a:normAutofit/>
          </a:bodyPr>
          <a:lstStyle/>
          <a:p>
            <a:pPr algn="l" indent="0" marL="0">
              <a:lnSpc>
                <a:spcPts val="1910"/>
              </a:lnSpc>
              <a:buNone/>
            </a:pPr>
            <a:r>
              <a:rPr lang="en-US" sz="1592" b="1" dirty="0">
                <a:solidFill>
                  <a:srgbClr val="1B1E26"/>
                </a:solidFill>
                <a:latin typeface="JetBrains Mono" pitchFamily="49" charset="0"/>
                <a:ea typeface="JetBrains Mono" pitchFamily="49" charset="-122"/>
                <a:cs typeface="JetBrains Mono" pitchFamily="49" charset="-120"/>
              </a:rPr>
              <a:t>: accept tokens</a:t>
            </a:r>
            <a:endParaRPr lang="en-US" sz="1592" dirty="0"/>
          </a:p>
        </p:txBody>
      </p:sp>
      <p:sp>
        <p:nvSpPr>
          <p:cNvPr id="18" name="Text 16"/>
          <p:cNvSpPr/>
          <p:nvPr/>
        </p:nvSpPr>
        <p:spPr>
          <a:xfrm>
            <a:off x="9067195" y="5231267"/>
            <a:ext cx="2159611" cy="624039"/>
          </a:xfrm>
          <a:prstGeom prst="rect">
            <a:avLst/>
          </a:prstGeom>
          <a:noFill/>
          <a:ln/>
        </p:spPr>
        <p:txBody>
          <a:bodyPr wrap="square" lIns="0" tIns="0" rIns="0" bIns="0" rtlCol="0" anchor="t">
            <a:normAutofit/>
          </a:bodyPr>
          <a:lstStyle/>
          <a:p>
            <a:pPr algn="l" indent="0" marL="0">
              <a:lnSpc>
                <a:spcPts val="1701"/>
              </a:lnSpc>
              <a:buNone/>
            </a:pPr>
            <a:r>
              <a:rPr lang="en-US" sz="1260" dirty="0">
                <a:solidFill>
                  <a:srgbClr val="1B1E26"/>
                </a:solidFill>
                <a:latin typeface="Space Grotesk" pitchFamily="34" charset="0"/>
                <a:ea typeface="Space Grotesk" pitchFamily="34" charset="-122"/>
                <a:cs typeface="Space Grotesk" pitchFamily="34" charset="-120"/>
              </a:rPr>
              <a:t>A short summary, written like a command.</a:t>
            </a:r>
            <a:endParaRPr lang="en-US" sz="12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037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B1E26"/>
                </a:solidFill>
                <a:latin typeface="Space Grotesk" pitchFamily="34" charset="0"/>
                <a:ea typeface="Space Grotesk" pitchFamily="34" charset="-122"/>
                <a:cs typeface="Space Grotesk" pitchFamily="34" charset="-120"/>
              </a:rPr>
              <a:t>Read a commit like a sentence</a:t>
            </a:r>
            <a:endParaRPr lang="en-US" sz="3600" dirty="0"/>
          </a:p>
        </p:txBody>
      </p:sp>
      <p:sp>
        <p:nvSpPr>
          <p:cNvPr id="3" name="Shape 1"/>
          <p:cNvSpPr/>
          <p:nvPr/>
        </p:nvSpPr>
        <p:spPr>
          <a:xfrm>
            <a:off x="812800" y="1645143"/>
            <a:ext cx="10566400" cy="1329720"/>
          </a:xfrm>
          <a:prstGeom prst="roundRect">
            <a:avLst>
              <a:gd name="adj" fmla="val 9551"/>
            </a:avLst>
          </a:prstGeom>
          <a:solidFill>
            <a:srgbClr val="15181F"/>
          </a:solidFill>
          <a:ln/>
        </p:spPr>
      </p:sp>
      <p:sp>
        <p:nvSpPr>
          <p:cNvPr id="4" name="Text 2"/>
          <p:cNvSpPr/>
          <p:nvPr/>
        </p:nvSpPr>
        <p:spPr>
          <a:xfrm>
            <a:off x="1117600" y="1848343"/>
            <a:ext cx="10255504" cy="586241"/>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F8A5C"/>
                </a:solidFill>
                <a:latin typeface="JetBrains Mono" pitchFamily="49" charset="0"/>
                <a:ea typeface="JetBrains Mono" pitchFamily="49" charset="-122"/>
                <a:cs typeface="JetBrains Mono" pitchFamily="49" charset="-120"/>
              </a:rPr>
              <a:t>feat</a:t>
            </a:r>
            <a:r>
              <a:rPr lang="en-US" sz="3200" b="1" dirty="0">
                <a:solidFill>
                  <a:srgbClr val="7FB0FF"/>
                </a:solidFill>
                <a:latin typeface="JetBrains Mono" pitchFamily="49" charset="0"/>
                <a:ea typeface="JetBrains Mono" pitchFamily="49" charset="-122"/>
                <a:cs typeface="JetBrains Mono" pitchFamily="49" charset="-120"/>
              </a:rPr>
              <a:t>(api)</a:t>
            </a:r>
            <a:r>
              <a:rPr lang="en-US" sz="3200" b="1" dirty="0">
                <a:solidFill>
                  <a:srgbClr val="FFD166"/>
                </a:solidFill>
                <a:latin typeface="JetBrains Mono" pitchFamily="49" charset="0"/>
                <a:ea typeface="JetBrains Mono" pitchFamily="49" charset="-122"/>
                <a:cs typeface="JetBrains Mono" pitchFamily="49" charset="-120"/>
              </a:rPr>
              <a:t>!</a:t>
            </a:r>
            <a:r>
              <a:rPr lang="en-US" sz="3200" b="1" dirty="0">
                <a:solidFill>
                  <a:srgbClr val="F6F3EC"/>
                </a:solidFill>
                <a:latin typeface="JetBrains Mono" pitchFamily="49" charset="0"/>
                <a:ea typeface="JetBrains Mono" pitchFamily="49" charset="-122"/>
                <a:cs typeface="JetBrains Mono" pitchFamily="49" charset="-120"/>
              </a:rPr>
              <a:t>: remove v1 endpoints</a:t>
            </a:r>
            <a:endParaRPr lang="en-US" sz="3200" dirty="0"/>
          </a:p>
        </p:txBody>
      </p:sp>
      <p:sp>
        <p:nvSpPr>
          <p:cNvPr id="5" name="Text 3"/>
          <p:cNvSpPr/>
          <p:nvPr/>
        </p:nvSpPr>
        <p:spPr>
          <a:xfrm>
            <a:off x="1117600" y="2485383"/>
            <a:ext cx="10255504"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3A9B6"/>
                </a:solidFill>
                <a:latin typeface="Space Grotesk" pitchFamily="34" charset="0"/>
                <a:ea typeface="Space Grotesk" pitchFamily="34" charset="-122"/>
                <a:cs typeface="Space Grotesk" pitchFamily="34" charset="-120"/>
              </a:rPr>
              <a:t>Say it out loud: "A new API feature, and heads up, it breaks things: we removed the v1 endpoints."</a:t>
            </a:r>
            <a:endParaRPr lang="en-US" sz="1400" dirty="0"/>
          </a:p>
        </p:txBody>
      </p:sp>
      <p:sp>
        <p:nvSpPr>
          <p:cNvPr id="6" name="Shape 4"/>
          <p:cNvSpPr/>
          <p:nvPr/>
        </p:nvSpPr>
        <p:spPr>
          <a:xfrm>
            <a:off x="819150" y="3235213"/>
            <a:ext cx="2514600" cy="2765576"/>
          </a:xfrm>
          <a:prstGeom prst="roundRect">
            <a:avLst>
              <a:gd name="adj" fmla="val 3788"/>
            </a:avLst>
          </a:prstGeom>
          <a:solidFill>
            <a:srgbClr val="FFFDF8"/>
          </a:solidFill>
          <a:ln w="12700">
            <a:solidFill>
              <a:srgbClr val="E2DDD2"/>
            </a:solidFill>
            <a:prstDash val="solid"/>
          </a:ln>
        </p:spPr>
      </p:sp>
      <p:sp>
        <p:nvSpPr>
          <p:cNvPr id="7" name="Text 5"/>
          <p:cNvSpPr/>
          <p:nvPr/>
        </p:nvSpPr>
        <p:spPr>
          <a:xfrm>
            <a:off x="1028095" y="3444159"/>
            <a:ext cx="2159611" cy="434332"/>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441B"/>
                </a:solidFill>
                <a:latin typeface="JetBrains Mono" pitchFamily="49" charset="0"/>
                <a:ea typeface="JetBrains Mono" pitchFamily="49" charset="-122"/>
                <a:cs typeface="JetBrains Mono" pitchFamily="49" charset="-120"/>
              </a:rPr>
              <a:t>feat</a:t>
            </a:r>
            <a:endParaRPr lang="en-US" sz="2000" dirty="0"/>
          </a:p>
        </p:txBody>
      </p:sp>
      <p:sp>
        <p:nvSpPr>
          <p:cNvPr id="8" name="Text 6"/>
          <p:cNvSpPr/>
          <p:nvPr/>
        </p:nvSpPr>
        <p:spPr>
          <a:xfrm>
            <a:off x="1028095" y="3929289"/>
            <a:ext cx="2159611"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E26"/>
                </a:solidFill>
                <a:latin typeface="Space Grotesk" pitchFamily="34" charset="0"/>
                <a:ea typeface="Space Grotesk" pitchFamily="34" charset="-122"/>
                <a:cs typeface="Space Grotesk" pitchFamily="34" charset="-120"/>
              </a:rPr>
              <a:t>Verb</a:t>
            </a:r>
            <a:endParaRPr lang="en-US" sz="1800" dirty="0"/>
          </a:p>
        </p:txBody>
      </p:sp>
      <p:sp>
        <p:nvSpPr>
          <p:cNvPr id="9" name="Text 7"/>
          <p:cNvSpPr/>
          <p:nvPr/>
        </p:nvSpPr>
        <p:spPr>
          <a:xfrm>
            <a:off x="1028095" y="4320949"/>
            <a:ext cx="2159611" cy="53801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E26"/>
                </a:solidFill>
                <a:latin typeface="Space Grotesk" pitchFamily="34" charset="0"/>
                <a:ea typeface="Space Grotesk" pitchFamily="34" charset="-122"/>
                <a:cs typeface="Space Grotesk" pitchFamily="34" charset="-120"/>
              </a:rPr>
              <a:t>The action. What kind of change is this?</a:t>
            </a:r>
            <a:endParaRPr lang="en-US" sz="1300" dirty="0"/>
          </a:p>
        </p:txBody>
      </p:sp>
      <p:sp>
        <p:nvSpPr>
          <p:cNvPr id="10" name="Text 8"/>
          <p:cNvSpPr/>
          <p:nvPr/>
        </p:nvSpPr>
        <p:spPr>
          <a:xfrm>
            <a:off x="1028095" y="4909759"/>
            <a:ext cx="2159611" cy="49855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D6270"/>
                </a:solidFill>
                <a:latin typeface="Space Grotesk" pitchFamily="34" charset="0"/>
                <a:ea typeface="Space Grotesk" pitchFamily="34" charset="-122"/>
                <a:cs typeface="Space Grotesk" pitchFamily="34" charset="-120"/>
              </a:rPr>
              <a:t>Robot reads:</a:t>
            </a:r>
            <a:r>
              <a:rPr lang="en-US" sz="1200" dirty="0">
                <a:solidFill>
                  <a:srgbClr val="5D6270"/>
                </a:solidFill>
                <a:latin typeface="Space Grotesk" pitchFamily="34" charset="0"/>
                <a:ea typeface="Space Grotesk" pitchFamily="34" charset="-122"/>
                <a:cs typeface="Space Grotesk" pitchFamily="34" charset="-120"/>
              </a:rPr>
              <a:t> picks the version bump.</a:t>
            </a:r>
            <a:endParaRPr lang="en-US" sz="1200" dirty="0"/>
          </a:p>
        </p:txBody>
      </p:sp>
      <p:sp>
        <p:nvSpPr>
          <p:cNvPr id="11" name="Shape 9"/>
          <p:cNvSpPr/>
          <p:nvPr/>
        </p:nvSpPr>
        <p:spPr>
          <a:xfrm>
            <a:off x="3498850" y="3235213"/>
            <a:ext cx="2514600" cy="2765576"/>
          </a:xfrm>
          <a:prstGeom prst="roundRect">
            <a:avLst>
              <a:gd name="adj" fmla="val 3788"/>
            </a:avLst>
          </a:prstGeom>
          <a:solidFill>
            <a:srgbClr val="FFFDF8"/>
          </a:solidFill>
          <a:ln w="12700">
            <a:solidFill>
              <a:srgbClr val="E2DDD2"/>
            </a:solidFill>
            <a:prstDash val="solid"/>
          </a:ln>
        </p:spPr>
      </p:sp>
      <p:sp>
        <p:nvSpPr>
          <p:cNvPr id="12" name="Text 10"/>
          <p:cNvSpPr/>
          <p:nvPr/>
        </p:nvSpPr>
        <p:spPr>
          <a:xfrm>
            <a:off x="3707795" y="3444159"/>
            <a:ext cx="2159611" cy="434332"/>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F62B0"/>
                </a:solidFill>
                <a:latin typeface="JetBrains Mono" pitchFamily="49" charset="0"/>
                <a:ea typeface="JetBrains Mono" pitchFamily="49" charset="-122"/>
                <a:cs typeface="JetBrains Mono" pitchFamily="49" charset="-120"/>
              </a:rPr>
              <a:t>(api)</a:t>
            </a:r>
            <a:endParaRPr lang="en-US" sz="2000" dirty="0"/>
          </a:p>
        </p:txBody>
      </p:sp>
      <p:sp>
        <p:nvSpPr>
          <p:cNvPr id="13" name="Text 11"/>
          <p:cNvSpPr/>
          <p:nvPr/>
        </p:nvSpPr>
        <p:spPr>
          <a:xfrm>
            <a:off x="3707795" y="3929289"/>
            <a:ext cx="2159611"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E26"/>
                </a:solidFill>
                <a:latin typeface="Space Grotesk" pitchFamily="34" charset="0"/>
                <a:ea typeface="Space Grotesk" pitchFamily="34" charset="-122"/>
                <a:cs typeface="Space Grotesk" pitchFamily="34" charset="-120"/>
              </a:rPr>
              <a:t>Adjective</a:t>
            </a:r>
            <a:endParaRPr lang="en-US" sz="1800" dirty="0"/>
          </a:p>
        </p:txBody>
      </p:sp>
      <p:sp>
        <p:nvSpPr>
          <p:cNvPr id="14" name="Text 12"/>
          <p:cNvSpPr/>
          <p:nvPr/>
        </p:nvSpPr>
        <p:spPr>
          <a:xfrm>
            <a:off x="3707795" y="4320949"/>
            <a:ext cx="2159611" cy="79431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E26"/>
                </a:solidFill>
                <a:latin typeface="Space Grotesk" pitchFamily="34" charset="0"/>
                <a:ea typeface="Space Grotesk" pitchFamily="34" charset="-122"/>
                <a:cs typeface="Space Grotesk" pitchFamily="34" charset="-120"/>
              </a:rPr>
              <a:t>Describes which part. Not just a feature, an API feature.</a:t>
            </a:r>
            <a:endParaRPr lang="en-US" sz="1300" dirty="0"/>
          </a:p>
        </p:txBody>
      </p:sp>
      <p:sp>
        <p:nvSpPr>
          <p:cNvPr id="15" name="Text 13"/>
          <p:cNvSpPr/>
          <p:nvPr/>
        </p:nvSpPr>
        <p:spPr>
          <a:xfrm>
            <a:off x="3707795" y="5166066"/>
            <a:ext cx="2159611" cy="49855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D6270"/>
                </a:solidFill>
                <a:latin typeface="Space Grotesk" pitchFamily="34" charset="0"/>
                <a:ea typeface="Space Grotesk" pitchFamily="34" charset="-122"/>
                <a:cs typeface="Space Grotesk" pitchFamily="34" charset="-120"/>
              </a:rPr>
              <a:t>Robot reads:</a:t>
            </a:r>
            <a:r>
              <a:rPr lang="en-US" sz="1200" dirty="0">
                <a:solidFill>
                  <a:srgbClr val="5D6270"/>
                </a:solidFill>
                <a:latin typeface="Space Grotesk" pitchFamily="34" charset="0"/>
                <a:ea typeface="Space Grotesk" pitchFamily="34" charset="-122"/>
                <a:cs typeface="Space Grotesk" pitchFamily="34" charset="-120"/>
              </a:rPr>
              <a:t> labels the changelog entry.</a:t>
            </a:r>
            <a:endParaRPr lang="en-US" sz="1200" dirty="0"/>
          </a:p>
        </p:txBody>
      </p:sp>
      <p:sp>
        <p:nvSpPr>
          <p:cNvPr id="16" name="Shape 14"/>
          <p:cNvSpPr/>
          <p:nvPr/>
        </p:nvSpPr>
        <p:spPr>
          <a:xfrm>
            <a:off x="6178550" y="3235213"/>
            <a:ext cx="2514600" cy="2765576"/>
          </a:xfrm>
          <a:prstGeom prst="roundRect">
            <a:avLst>
              <a:gd name="adj" fmla="val 3788"/>
            </a:avLst>
          </a:prstGeom>
          <a:solidFill>
            <a:srgbClr val="FFFDF8"/>
          </a:solidFill>
          <a:ln w="12700">
            <a:solidFill>
              <a:srgbClr val="E2DDD2"/>
            </a:solidFill>
            <a:prstDash val="solid"/>
          </a:ln>
        </p:spPr>
      </p:sp>
      <p:sp>
        <p:nvSpPr>
          <p:cNvPr id="17" name="Text 15"/>
          <p:cNvSpPr/>
          <p:nvPr/>
        </p:nvSpPr>
        <p:spPr>
          <a:xfrm>
            <a:off x="6387495" y="3444159"/>
            <a:ext cx="2159611" cy="434332"/>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8A6400"/>
                </a:solidFill>
                <a:latin typeface="JetBrains Mono" pitchFamily="49" charset="0"/>
                <a:ea typeface="JetBrains Mono" pitchFamily="49" charset="-122"/>
                <a:cs typeface="JetBrains Mono" pitchFamily="49" charset="-120"/>
              </a:rPr>
              <a:t>!</a:t>
            </a:r>
            <a:endParaRPr lang="en-US" sz="2000" dirty="0"/>
          </a:p>
        </p:txBody>
      </p:sp>
      <p:sp>
        <p:nvSpPr>
          <p:cNvPr id="18" name="Text 16"/>
          <p:cNvSpPr/>
          <p:nvPr/>
        </p:nvSpPr>
        <p:spPr>
          <a:xfrm>
            <a:off x="6387495" y="3929289"/>
            <a:ext cx="2159611"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E26"/>
                </a:solidFill>
                <a:latin typeface="Space Grotesk" pitchFamily="34" charset="0"/>
                <a:ea typeface="Space Grotesk" pitchFamily="34" charset="-122"/>
                <a:cs typeface="Space Grotesk" pitchFamily="34" charset="-120"/>
              </a:rPr>
              <a:t>Exclamation</a:t>
            </a:r>
            <a:endParaRPr lang="en-US" sz="1800" dirty="0"/>
          </a:p>
        </p:txBody>
      </p:sp>
      <p:sp>
        <p:nvSpPr>
          <p:cNvPr id="19" name="Text 17"/>
          <p:cNvSpPr/>
          <p:nvPr/>
        </p:nvSpPr>
        <p:spPr>
          <a:xfrm>
            <a:off x="6387495" y="4320949"/>
            <a:ext cx="2159611" cy="79431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E26"/>
                </a:solidFill>
                <a:latin typeface="Space Grotesk" pitchFamily="34" charset="0"/>
                <a:ea typeface="Space Grotesk" pitchFamily="34" charset="-122"/>
                <a:cs typeface="Space Grotesk" pitchFamily="34" charset="-120"/>
              </a:rPr>
              <a:t>Raises its voice. Careful, this breaks things.</a:t>
            </a:r>
            <a:endParaRPr lang="en-US" sz="1300" dirty="0"/>
          </a:p>
        </p:txBody>
      </p:sp>
      <p:sp>
        <p:nvSpPr>
          <p:cNvPr id="20" name="Text 18"/>
          <p:cNvSpPr/>
          <p:nvPr/>
        </p:nvSpPr>
        <p:spPr>
          <a:xfrm>
            <a:off x="6387495" y="5166066"/>
            <a:ext cx="2159611" cy="49855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D6270"/>
                </a:solidFill>
                <a:latin typeface="Space Grotesk" pitchFamily="34" charset="0"/>
                <a:ea typeface="Space Grotesk" pitchFamily="34" charset="-122"/>
                <a:cs typeface="Space Grotesk" pitchFamily="34" charset="-120"/>
              </a:rPr>
              <a:t>Robot reads:</a:t>
            </a:r>
            <a:r>
              <a:rPr lang="en-US" sz="1200" dirty="0">
                <a:solidFill>
                  <a:srgbClr val="5D6270"/>
                </a:solidFill>
                <a:latin typeface="Space Grotesk" pitchFamily="34" charset="0"/>
                <a:ea typeface="Space Grotesk" pitchFamily="34" charset="-122"/>
                <a:cs typeface="Space Grotesk" pitchFamily="34" charset="-120"/>
              </a:rPr>
              <a:t> forces a major version.</a:t>
            </a:r>
            <a:endParaRPr lang="en-US" sz="1200" dirty="0"/>
          </a:p>
        </p:txBody>
      </p:sp>
      <p:sp>
        <p:nvSpPr>
          <p:cNvPr id="21" name="Shape 19"/>
          <p:cNvSpPr/>
          <p:nvPr/>
        </p:nvSpPr>
        <p:spPr>
          <a:xfrm>
            <a:off x="8858250" y="3235213"/>
            <a:ext cx="2514600" cy="2765576"/>
          </a:xfrm>
          <a:prstGeom prst="roundRect">
            <a:avLst>
              <a:gd name="adj" fmla="val 3788"/>
            </a:avLst>
          </a:prstGeom>
          <a:solidFill>
            <a:srgbClr val="FFFDF8"/>
          </a:solidFill>
          <a:ln w="12700">
            <a:solidFill>
              <a:srgbClr val="E2DDD2"/>
            </a:solidFill>
            <a:prstDash val="solid"/>
          </a:ln>
        </p:spPr>
      </p:sp>
      <p:sp>
        <p:nvSpPr>
          <p:cNvPr id="22" name="Text 20"/>
          <p:cNvSpPr/>
          <p:nvPr/>
        </p:nvSpPr>
        <p:spPr>
          <a:xfrm>
            <a:off x="9067195" y="3444159"/>
            <a:ext cx="2159611" cy="843265"/>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B1E26"/>
                </a:solidFill>
                <a:latin typeface="JetBrains Mono" pitchFamily="49" charset="0"/>
                <a:ea typeface="JetBrains Mono" pitchFamily="49" charset="-122"/>
                <a:cs typeface="JetBrains Mono" pitchFamily="49" charset="-120"/>
              </a:rPr>
              <a:t>remove v1 endpoints</a:t>
            </a:r>
            <a:endParaRPr lang="en-US" sz="2000" dirty="0"/>
          </a:p>
        </p:txBody>
      </p:sp>
      <p:sp>
        <p:nvSpPr>
          <p:cNvPr id="23" name="Text 21"/>
          <p:cNvSpPr/>
          <p:nvPr/>
        </p:nvSpPr>
        <p:spPr>
          <a:xfrm>
            <a:off x="9067195" y="4338222"/>
            <a:ext cx="2159611"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E26"/>
                </a:solidFill>
                <a:latin typeface="Space Grotesk" pitchFamily="34" charset="0"/>
                <a:ea typeface="Space Grotesk" pitchFamily="34" charset="-122"/>
                <a:cs typeface="Space Grotesk" pitchFamily="34" charset="-120"/>
              </a:rPr>
              <a:t>Object</a:t>
            </a:r>
            <a:endParaRPr lang="en-US" sz="1800" dirty="0"/>
          </a:p>
        </p:txBody>
      </p:sp>
      <p:sp>
        <p:nvSpPr>
          <p:cNvPr id="24" name="Text 22"/>
          <p:cNvSpPr/>
          <p:nvPr/>
        </p:nvSpPr>
        <p:spPr>
          <a:xfrm>
            <a:off x="9067195" y="4729882"/>
            <a:ext cx="2159611" cy="53801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E26"/>
                </a:solidFill>
                <a:latin typeface="Space Grotesk" pitchFamily="34" charset="0"/>
                <a:ea typeface="Space Grotesk" pitchFamily="34" charset="-122"/>
                <a:cs typeface="Space Grotesk" pitchFamily="34" charset="-120"/>
              </a:rPr>
              <a:t>The details. What actually changed.</a:t>
            </a:r>
            <a:endParaRPr lang="en-US" sz="1300" dirty="0"/>
          </a:p>
        </p:txBody>
      </p:sp>
      <p:sp>
        <p:nvSpPr>
          <p:cNvPr id="25" name="Text 23"/>
          <p:cNvSpPr/>
          <p:nvPr/>
        </p:nvSpPr>
        <p:spPr>
          <a:xfrm>
            <a:off x="9067195" y="5318692"/>
            <a:ext cx="2159611" cy="49855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D6270"/>
                </a:solidFill>
                <a:latin typeface="Space Grotesk" pitchFamily="34" charset="0"/>
                <a:ea typeface="Space Grotesk" pitchFamily="34" charset="-122"/>
                <a:cs typeface="Space Grotesk" pitchFamily="34" charset="-120"/>
              </a:rPr>
              <a:t>Robot reads:</a:t>
            </a:r>
            <a:r>
              <a:rPr lang="en-US" sz="1200" dirty="0">
                <a:solidFill>
                  <a:srgbClr val="5D6270"/>
                </a:solidFill>
                <a:latin typeface="Space Grotesk" pitchFamily="34" charset="0"/>
                <a:ea typeface="Space Grotesk" pitchFamily="34" charset="-122"/>
                <a:cs typeface="Space Grotesk" pitchFamily="34" charset="-120"/>
              </a:rPr>
              <a:t> becomes the changelog line.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037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B1E26"/>
                </a:solidFill>
                <a:latin typeface="Space Grotesk" pitchFamily="34" charset="0"/>
                <a:ea typeface="Space Grotesk" pitchFamily="34" charset="-122"/>
                <a:cs typeface="Space Grotesk" pitchFamily="34" charset="-120"/>
              </a:rPr>
              <a:t>The type decides the version number</a:t>
            </a:r>
            <a:endParaRPr lang="en-US" sz="3600" dirty="0"/>
          </a:p>
        </p:txBody>
      </p:sp>
      <p:sp>
        <p:nvSpPr>
          <p:cNvPr id="3" name="Shape 1"/>
          <p:cNvSpPr/>
          <p:nvPr/>
        </p:nvSpPr>
        <p:spPr>
          <a:xfrm>
            <a:off x="819150" y="1702293"/>
            <a:ext cx="3415884" cy="2837467"/>
          </a:xfrm>
          <a:prstGeom prst="roundRect">
            <a:avLst>
              <a:gd name="adj" fmla="val 4252"/>
            </a:avLst>
          </a:prstGeom>
          <a:solidFill>
            <a:srgbClr val="FFFDF8"/>
          </a:solidFill>
          <a:ln w="12700">
            <a:solidFill>
              <a:srgbClr val="E2DDD2"/>
            </a:solidFill>
            <a:prstDash val="solid"/>
          </a:ln>
        </p:spPr>
      </p:sp>
      <p:sp>
        <p:nvSpPr>
          <p:cNvPr id="4" name="Text 2"/>
          <p:cNvSpPr/>
          <p:nvPr/>
        </p:nvSpPr>
        <p:spPr>
          <a:xfrm>
            <a:off x="1078895" y="1962038"/>
            <a:ext cx="2983286" cy="516126"/>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B1E26"/>
                </a:solidFill>
                <a:latin typeface="JetBrains Mono" pitchFamily="49" charset="0"/>
                <a:ea typeface="JetBrains Mono" pitchFamily="49" charset="-122"/>
                <a:cs typeface="JetBrains Mono" pitchFamily="49" charset="-120"/>
              </a:rPr>
              <a:t>fix:</a:t>
            </a:r>
            <a:endParaRPr lang="en-US" sz="2400" dirty="0"/>
          </a:p>
        </p:txBody>
      </p:sp>
      <p:sp>
        <p:nvSpPr>
          <p:cNvPr id="5" name="Text 3"/>
          <p:cNvSpPr/>
          <p:nvPr/>
        </p:nvSpPr>
        <p:spPr>
          <a:xfrm>
            <a:off x="1078895" y="2554365"/>
            <a:ext cx="2983286" cy="375897"/>
          </a:xfrm>
          <a:prstGeom prst="rect">
            <a:avLst/>
          </a:prstGeom>
          <a:noFill/>
          <a:ln/>
        </p:spPr>
        <p:txBody>
          <a:bodyPr wrap="square" lIns="0" tIns="0" rIns="0" bIns="0" rtlCol="0" anchor="t">
            <a:normAutofit/>
          </a:bodyPr>
          <a:lstStyle/>
          <a:p>
            <a:pPr algn="l" indent="0" marL="0">
              <a:lnSpc>
                <a:spcPts val="2400"/>
              </a:lnSpc>
              <a:buNone/>
            </a:pPr>
            <a:r>
              <a:rPr lang="en-US" sz="2000" b="1" spc="100" kern="0" dirty="0">
                <a:solidFill>
                  <a:srgbClr val="2F62B0"/>
                </a:solidFill>
                <a:latin typeface="Space Grotesk" pitchFamily="34" charset="0"/>
                <a:ea typeface="Space Grotesk" pitchFamily="34" charset="-122"/>
                <a:cs typeface="Space Grotesk" pitchFamily="34" charset="-120"/>
              </a:rPr>
              <a:t>PATCH</a:t>
            </a:r>
            <a:endParaRPr lang="en-US" sz="2000" dirty="0"/>
          </a:p>
        </p:txBody>
      </p:sp>
      <p:sp>
        <p:nvSpPr>
          <p:cNvPr id="6" name="Text 4"/>
          <p:cNvSpPr/>
          <p:nvPr/>
        </p:nvSpPr>
        <p:spPr>
          <a:xfrm>
            <a:off x="1078895" y="3006461"/>
            <a:ext cx="2983286" cy="39343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1E26"/>
                </a:solidFill>
                <a:latin typeface="JetBrains Mono" pitchFamily="49" charset="0"/>
                <a:ea typeface="JetBrains Mono" pitchFamily="49" charset="-122"/>
                <a:cs typeface="JetBrains Mono" pitchFamily="49" charset="-120"/>
              </a:rPr>
              <a:t>2.4.1 → 2.4.</a:t>
            </a:r>
            <a:r>
              <a:rPr lang="en-US" sz="1800" b="1" dirty="0">
                <a:solidFill>
                  <a:srgbClr val="1B1E26"/>
                </a:solidFill>
                <a:latin typeface="JetBrains Mono" pitchFamily="49" charset="0"/>
                <a:ea typeface="JetBrains Mono" pitchFamily="49" charset="-122"/>
                <a:cs typeface="JetBrains Mono" pitchFamily="49" charset="-120"/>
              </a:rPr>
              <a:t>2</a:t>
            </a:r>
            <a:endParaRPr lang="en-US" sz="1800" dirty="0"/>
          </a:p>
        </p:txBody>
      </p:sp>
      <p:sp>
        <p:nvSpPr>
          <p:cNvPr id="7" name="Text 5"/>
          <p:cNvSpPr/>
          <p:nvPr/>
        </p:nvSpPr>
        <p:spPr>
          <a:xfrm>
            <a:off x="1078895" y="3476098"/>
            <a:ext cx="2983286"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D6270"/>
                </a:solidFill>
                <a:latin typeface="Space Grotesk" pitchFamily="34" charset="0"/>
                <a:ea typeface="Space Grotesk" pitchFamily="34" charset="-122"/>
                <a:cs typeface="Space Grotesk" pitchFamily="34" charset="-120"/>
              </a:rPr>
              <a:t>A bug fix. Nothing new to learn.</a:t>
            </a:r>
            <a:endParaRPr lang="en-US" sz="1400" dirty="0"/>
          </a:p>
        </p:txBody>
      </p:sp>
      <p:sp>
        <p:nvSpPr>
          <p:cNvPr id="8" name="Shape 6"/>
          <p:cNvSpPr/>
          <p:nvPr/>
        </p:nvSpPr>
        <p:spPr>
          <a:xfrm>
            <a:off x="4400134" y="1702293"/>
            <a:ext cx="3415922" cy="2837467"/>
          </a:xfrm>
          <a:prstGeom prst="roundRect">
            <a:avLst>
              <a:gd name="adj" fmla="val 4252"/>
            </a:avLst>
          </a:prstGeom>
          <a:solidFill>
            <a:srgbClr val="FFFDF8"/>
          </a:solidFill>
          <a:ln w="12700">
            <a:solidFill>
              <a:srgbClr val="E2DDD2"/>
            </a:solidFill>
            <a:prstDash val="solid"/>
          </a:ln>
        </p:spPr>
      </p:sp>
      <p:sp>
        <p:nvSpPr>
          <p:cNvPr id="9" name="Text 7"/>
          <p:cNvSpPr/>
          <p:nvPr/>
        </p:nvSpPr>
        <p:spPr>
          <a:xfrm>
            <a:off x="4659880" y="1962038"/>
            <a:ext cx="2983324" cy="516126"/>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B1E26"/>
                </a:solidFill>
                <a:latin typeface="JetBrains Mono" pitchFamily="49" charset="0"/>
                <a:ea typeface="JetBrains Mono" pitchFamily="49" charset="-122"/>
                <a:cs typeface="JetBrains Mono" pitchFamily="49" charset="-120"/>
              </a:rPr>
              <a:t>feat:</a:t>
            </a:r>
            <a:endParaRPr lang="en-US" sz="2400" dirty="0"/>
          </a:p>
        </p:txBody>
      </p:sp>
      <p:sp>
        <p:nvSpPr>
          <p:cNvPr id="10" name="Text 8"/>
          <p:cNvSpPr/>
          <p:nvPr/>
        </p:nvSpPr>
        <p:spPr>
          <a:xfrm>
            <a:off x="4659880" y="2554365"/>
            <a:ext cx="2983324" cy="375897"/>
          </a:xfrm>
          <a:prstGeom prst="rect">
            <a:avLst/>
          </a:prstGeom>
          <a:noFill/>
          <a:ln/>
        </p:spPr>
        <p:txBody>
          <a:bodyPr wrap="square" lIns="0" tIns="0" rIns="0" bIns="0" rtlCol="0" anchor="t">
            <a:normAutofit/>
          </a:bodyPr>
          <a:lstStyle/>
          <a:p>
            <a:pPr algn="l" indent="0" marL="0">
              <a:lnSpc>
                <a:spcPts val="2400"/>
              </a:lnSpc>
              <a:buNone/>
            </a:pPr>
            <a:r>
              <a:rPr lang="en-US" sz="2000" b="1" spc="100" kern="0" dirty="0">
                <a:solidFill>
                  <a:srgbClr val="2F62B0"/>
                </a:solidFill>
                <a:latin typeface="Space Grotesk" pitchFamily="34" charset="0"/>
                <a:ea typeface="Space Grotesk" pitchFamily="34" charset="-122"/>
                <a:cs typeface="Space Grotesk" pitchFamily="34" charset="-120"/>
              </a:rPr>
              <a:t>MINOR</a:t>
            </a:r>
            <a:endParaRPr lang="en-US" sz="2000" dirty="0"/>
          </a:p>
        </p:txBody>
      </p:sp>
      <p:sp>
        <p:nvSpPr>
          <p:cNvPr id="11" name="Text 9"/>
          <p:cNvSpPr/>
          <p:nvPr/>
        </p:nvSpPr>
        <p:spPr>
          <a:xfrm>
            <a:off x="4659880" y="3006461"/>
            <a:ext cx="2983324" cy="39343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1E26"/>
                </a:solidFill>
                <a:latin typeface="JetBrains Mono" pitchFamily="49" charset="0"/>
                <a:ea typeface="JetBrains Mono" pitchFamily="49" charset="-122"/>
                <a:cs typeface="JetBrains Mono" pitchFamily="49" charset="-120"/>
              </a:rPr>
              <a:t>2.4.1 → 2.</a:t>
            </a:r>
            <a:r>
              <a:rPr lang="en-US" sz="1800" b="1" dirty="0">
                <a:solidFill>
                  <a:srgbClr val="1B1E26"/>
                </a:solidFill>
                <a:latin typeface="JetBrains Mono" pitchFamily="49" charset="0"/>
                <a:ea typeface="JetBrains Mono" pitchFamily="49" charset="-122"/>
                <a:cs typeface="JetBrains Mono" pitchFamily="49" charset="-120"/>
              </a:rPr>
              <a:t>5</a:t>
            </a:r>
            <a:r>
              <a:rPr lang="en-US" sz="1800" dirty="0">
                <a:solidFill>
                  <a:srgbClr val="1B1E26"/>
                </a:solidFill>
                <a:latin typeface="JetBrains Mono" pitchFamily="49" charset="0"/>
                <a:ea typeface="JetBrains Mono" pitchFamily="49" charset="-122"/>
                <a:cs typeface="JetBrains Mono" pitchFamily="49" charset="-120"/>
              </a:rPr>
              <a:t>.0</a:t>
            </a:r>
            <a:endParaRPr lang="en-US" sz="1800" dirty="0"/>
          </a:p>
        </p:txBody>
      </p:sp>
      <p:sp>
        <p:nvSpPr>
          <p:cNvPr id="12" name="Text 10"/>
          <p:cNvSpPr/>
          <p:nvPr/>
        </p:nvSpPr>
        <p:spPr>
          <a:xfrm>
            <a:off x="4659880" y="3476098"/>
            <a:ext cx="2983324"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D6270"/>
                </a:solidFill>
                <a:latin typeface="Space Grotesk" pitchFamily="34" charset="0"/>
                <a:ea typeface="Space Grotesk" pitchFamily="34" charset="-122"/>
                <a:cs typeface="Space Grotesk" pitchFamily="34" charset="-120"/>
              </a:rPr>
              <a:t>A new feature. Everything old still works.</a:t>
            </a:r>
            <a:endParaRPr lang="en-US" sz="1400" dirty="0"/>
          </a:p>
        </p:txBody>
      </p:sp>
      <p:sp>
        <p:nvSpPr>
          <p:cNvPr id="13" name="Shape 11"/>
          <p:cNvSpPr/>
          <p:nvPr/>
        </p:nvSpPr>
        <p:spPr>
          <a:xfrm>
            <a:off x="7974806" y="1695943"/>
            <a:ext cx="3404394" cy="2850167"/>
          </a:xfrm>
          <a:prstGeom prst="roundRect">
            <a:avLst>
              <a:gd name="adj" fmla="val 4456"/>
            </a:avLst>
          </a:prstGeom>
          <a:solidFill>
            <a:srgbClr val="15181F"/>
          </a:solidFill>
          <a:ln/>
        </p:spPr>
      </p:sp>
      <p:sp>
        <p:nvSpPr>
          <p:cNvPr id="14" name="Text 12"/>
          <p:cNvSpPr/>
          <p:nvPr/>
        </p:nvSpPr>
        <p:spPr>
          <a:xfrm>
            <a:off x="8228806" y="1949943"/>
            <a:ext cx="2983286" cy="516126"/>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F8A5C"/>
                </a:solidFill>
                <a:latin typeface="JetBrains Mono" pitchFamily="49" charset="0"/>
                <a:ea typeface="JetBrains Mono" pitchFamily="49" charset="-122"/>
                <a:cs typeface="JetBrains Mono" pitchFamily="49" charset="-120"/>
              </a:rPr>
              <a:t>feat!:</a:t>
            </a:r>
            <a:endParaRPr lang="en-US" sz="2400" dirty="0"/>
          </a:p>
        </p:txBody>
      </p:sp>
      <p:sp>
        <p:nvSpPr>
          <p:cNvPr id="15" name="Text 13"/>
          <p:cNvSpPr/>
          <p:nvPr/>
        </p:nvSpPr>
        <p:spPr>
          <a:xfrm>
            <a:off x="8228806" y="2542270"/>
            <a:ext cx="2983286" cy="375897"/>
          </a:xfrm>
          <a:prstGeom prst="rect">
            <a:avLst/>
          </a:prstGeom>
          <a:noFill/>
          <a:ln/>
        </p:spPr>
        <p:txBody>
          <a:bodyPr wrap="square" lIns="0" tIns="0" rIns="0" bIns="0" rtlCol="0" anchor="t">
            <a:normAutofit/>
          </a:bodyPr>
          <a:lstStyle/>
          <a:p>
            <a:pPr algn="l" indent="0" marL="0">
              <a:lnSpc>
                <a:spcPts val="2400"/>
              </a:lnSpc>
              <a:buNone/>
            </a:pPr>
            <a:r>
              <a:rPr lang="en-US" sz="2000" b="1" spc="100" kern="0" dirty="0">
                <a:solidFill>
                  <a:srgbClr val="FF8A5C"/>
                </a:solidFill>
                <a:latin typeface="Space Grotesk" pitchFamily="34" charset="0"/>
                <a:ea typeface="Space Grotesk" pitchFamily="34" charset="-122"/>
                <a:cs typeface="Space Grotesk" pitchFamily="34" charset="-120"/>
              </a:rPr>
              <a:t>MAJOR</a:t>
            </a:r>
            <a:endParaRPr lang="en-US" sz="2000" dirty="0"/>
          </a:p>
        </p:txBody>
      </p:sp>
      <p:sp>
        <p:nvSpPr>
          <p:cNvPr id="16" name="Text 14"/>
          <p:cNvSpPr/>
          <p:nvPr/>
        </p:nvSpPr>
        <p:spPr>
          <a:xfrm>
            <a:off x="8228806" y="2994366"/>
            <a:ext cx="2983286" cy="39343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6F3EC"/>
                </a:solidFill>
                <a:latin typeface="JetBrains Mono" pitchFamily="49" charset="0"/>
                <a:ea typeface="JetBrains Mono" pitchFamily="49" charset="-122"/>
                <a:cs typeface="JetBrains Mono" pitchFamily="49" charset="-120"/>
              </a:rPr>
              <a:t>2.4.1 → </a:t>
            </a:r>
            <a:r>
              <a:rPr lang="en-US" sz="1800" b="1" dirty="0">
                <a:solidFill>
                  <a:srgbClr val="F6F3EC"/>
                </a:solidFill>
                <a:latin typeface="JetBrains Mono" pitchFamily="49" charset="0"/>
                <a:ea typeface="JetBrains Mono" pitchFamily="49" charset="-122"/>
                <a:cs typeface="JetBrains Mono" pitchFamily="49" charset="-120"/>
              </a:rPr>
              <a:t>3</a:t>
            </a:r>
            <a:r>
              <a:rPr lang="en-US" sz="1800" dirty="0">
                <a:solidFill>
                  <a:srgbClr val="F6F3EC"/>
                </a:solidFill>
                <a:latin typeface="JetBrains Mono" pitchFamily="49" charset="0"/>
                <a:ea typeface="JetBrains Mono" pitchFamily="49" charset="-122"/>
                <a:cs typeface="JetBrains Mono" pitchFamily="49" charset="-120"/>
              </a:rPr>
              <a:t>.0.0</a:t>
            </a:r>
            <a:endParaRPr lang="en-US" sz="1800" dirty="0"/>
          </a:p>
        </p:txBody>
      </p:sp>
      <p:sp>
        <p:nvSpPr>
          <p:cNvPr id="17" name="Text 15"/>
          <p:cNvSpPr/>
          <p:nvPr/>
        </p:nvSpPr>
        <p:spPr>
          <a:xfrm>
            <a:off x="8228806" y="3464003"/>
            <a:ext cx="2983286" cy="85350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9B6"/>
                </a:solidFill>
                <a:latin typeface="Space Grotesk" pitchFamily="34" charset="0"/>
                <a:ea typeface="Space Grotesk" pitchFamily="34" charset="-122"/>
                <a:cs typeface="Space Grotesk" pitchFamily="34" charset="-120"/>
              </a:rPr>
              <a:t>A breaking change. Users may need to update their code.</a:t>
            </a:r>
            <a:endParaRPr lang="en-US" sz="1400" dirty="0"/>
          </a:p>
        </p:txBody>
      </p:sp>
      <p:sp>
        <p:nvSpPr>
          <p:cNvPr id="18" name="Text 16"/>
          <p:cNvSpPr/>
          <p:nvPr/>
        </p:nvSpPr>
        <p:spPr>
          <a:xfrm>
            <a:off x="812800" y="4850910"/>
            <a:ext cx="10883392" cy="63878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1E26"/>
                </a:solidFill>
                <a:latin typeface="Space Grotesk" pitchFamily="34" charset="0"/>
                <a:ea typeface="Space Grotesk" pitchFamily="34" charset="-122"/>
                <a:cs typeface="Space Grotesk" pitchFamily="34" charset="-120"/>
              </a:rPr>
              <a:t>No release on their own:</a:t>
            </a:r>
            <a:r>
              <a:rPr lang="en-US" sz="1500" dirty="0">
                <a:solidFill>
                  <a:srgbClr val="5D6270"/>
                </a:solidFill>
                <a:latin typeface="Space Grotesk" pitchFamily="34" charset="0"/>
                <a:ea typeface="Space Grotesk" pitchFamily="34" charset="-122"/>
                <a:cs typeface="Space Grotesk" pitchFamily="34" charset="-120"/>
              </a:rPr>
              <a:t> </a:t>
            </a:r>
            <a:r>
              <a:rPr lang="en-US" sz="1500" dirty="0">
                <a:solidFill>
                  <a:srgbClr val="1B1E26"/>
                </a:solidFill>
                <a:latin typeface="Space Grotesk" pitchFamily="34" charset="0"/>
                <a:ea typeface="Space Grotesk" pitchFamily="34" charset="-122"/>
                <a:cs typeface="Space Grotesk" pitchFamily="34" charset="-120"/>
              </a:rPr>
              <a:t>docs, chore, refactor, test, ci, style.</a:t>
            </a:r>
            <a:r>
              <a:rPr lang="en-US" sz="1500" dirty="0">
                <a:solidFill>
                  <a:srgbClr val="5D6270"/>
                </a:solidFill>
                <a:latin typeface="Space Grotesk" pitchFamily="34" charset="0"/>
                <a:ea typeface="Space Grotesk" pitchFamily="34" charset="-122"/>
                <a:cs typeface="Space Grotesk" pitchFamily="34" charset="-120"/>
              </a:rPr>
              <a:t> Useful labels, but they do not change the version.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7D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40052"/>
          </a:xfrm>
          <a:prstGeom prst="rect">
            <a:avLst/>
          </a:prstGeom>
          <a:noFill/>
          <a:ln/>
        </p:spPr>
        <p:txBody>
          <a:bodyPr wrap="square" lIns="0" tIns="0" rIns="0" bIns="0" rtlCol="0" anchor="t">
            <a:normAutofit/>
          </a:bodyPr>
          <a:lstStyle/>
          <a:p>
            <a:pPr algn="l" indent="0" marL="0">
              <a:lnSpc>
                <a:spcPts val="3539"/>
              </a:lnSpc>
              <a:buNone/>
            </a:pPr>
            <a:r>
              <a:rPr lang="en-US" sz="3218" b="1" i="0" spc="-50" kern="0" dirty="0">
                <a:solidFill>
                  <a:srgbClr val="1B1E26"/>
                </a:solidFill>
                <a:latin typeface="Space Grotesk" pitchFamily="34" charset="0"/>
                <a:ea typeface="Space Grotesk" pitchFamily="34" charset="-122"/>
                <a:cs typeface="Space Grotesk" pitchFamily="34" charset="-120"/>
              </a:rPr>
              <a:t>Chores: real work that does not ship</a:t>
            </a:r>
            <a:endParaRPr lang="en-US" sz="3218" dirty="0"/>
          </a:p>
        </p:txBody>
      </p:sp>
      <p:sp>
        <p:nvSpPr>
          <p:cNvPr id="3" name="Shape 1"/>
          <p:cNvSpPr/>
          <p:nvPr/>
        </p:nvSpPr>
        <p:spPr>
          <a:xfrm>
            <a:off x="812800" y="1606854"/>
            <a:ext cx="5179181" cy="3576789"/>
          </a:xfrm>
          <a:prstGeom prst="roundRect">
            <a:avLst>
              <a:gd name="adj" fmla="val 3551"/>
            </a:avLst>
          </a:prstGeom>
          <a:solidFill>
            <a:srgbClr val="15181F"/>
          </a:solidFill>
          <a:ln/>
        </p:spPr>
      </p:sp>
      <p:sp>
        <p:nvSpPr>
          <p:cNvPr id="4" name="Text 2"/>
          <p:cNvSpPr/>
          <p:nvPr/>
        </p:nvSpPr>
        <p:spPr>
          <a:xfrm>
            <a:off x="1092200" y="1886254"/>
            <a:ext cx="4758993" cy="597883"/>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8A5C"/>
                </a:solidFill>
                <a:latin typeface="JetBrains Mono" pitchFamily="49" charset="0"/>
                <a:ea typeface="JetBrains Mono" pitchFamily="49" charset="-122"/>
                <a:cs typeface="JetBrains Mono" pitchFamily="49" charset="-120"/>
              </a:rPr>
              <a:t>chore:</a:t>
            </a:r>
            <a:endParaRPr lang="en-US" sz="2800" dirty="0"/>
          </a:p>
        </p:txBody>
      </p:sp>
      <p:sp>
        <p:nvSpPr>
          <p:cNvPr id="5" name="Text 3"/>
          <p:cNvSpPr/>
          <p:nvPr/>
        </p:nvSpPr>
        <p:spPr>
          <a:xfrm>
            <a:off x="1092200" y="2573037"/>
            <a:ext cx="4758993" cy="63878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3EC"/>
                </a:solidFill>
                <a:latin typeface="Space Grotesk" pitchFamily="34" charset="0"/>
                <a:ea typeface="Space Grotesk" pitchFamily="34" charset="-122"/>
                <a:cs typeface="Space Grotesk" pitchFamily="34" charset="-120"/>
              </a:rPr>
              <a:t>Housekeeping. Keeps the project healthy, but users get nothing new.</a:t>
            </a:r>
            <a:endParaRPr lang="en-US" sz="1500" dirty="0"/>
          </a:p>
        </p:txBody>
      </p:sp>
      <p:sp>
        <p:nvSpPr>
          <p:cNvPr id="6" name="Text 4"/>
          <p:cNvSpPr/>
          <p:nvPr/>
        </p:nvSpPr>
        <p:spPr>
          <a:xfrm>
            <a:off x="1092200" y="3300716"/>
            <a:ext cx="4758993" cy="879702"/>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6E2D8"/>
                </a:solidFill>
                <a:latin typeface="JetBrains Mono" pitchFamily="49" charset="0"/>
                <a:ea typeface="JetBrains Mono" pitchFamily="49" charset="-122"/>
                <a:cs typeface="JetBrains Mono" pitchFamily="49" charset="-120"/>
              </a:rPr>
              <a:t>chore(deps): upgrade axios to 1.7</a:t>
            </a:r>
            <a:endParaRPr lang="en-US" sz="1300" dirty="0"/>
          </a:p>
          <a:p>
            <a:pPr algn="l" indent="0" marL="0">
              <a:lnSpc>
                <a:spcPts val="1950"/>
              </a:lnSpc>
              <a:buNone/>
            </a:pPr>
            <a:r>
              <a:rPr lang="en-US" sz="1300" dirty="0">
                <a:solidFill>
                  <a:srgbClr val="E6E2D8"/>
                </a:solidFill>
                <a:latin typeface="JetBrains Mono" pitchFamily="49" charset="0"/>
                <a:ea typeface="JetBrains Mono" pitchFamily="49" charset="-122"/>
                <a:cs typeface="JetBrains Mono" pitchFamily="49" charset="-120"/>
              </a:rPr>
              <a:t>chore: update .gitignore</a:t>
            </a:r>
            <a:endParaRPr lang="en-US" sz="1300" dirty="0"/>
          </a:p>
          <a:p>
            <a:pPr algn="l" indent="0" marL="0">
              <a:lnSpc>
                <a:spcPts val="1950"/>
              </a:lnSpc>
              <a:buNone/>
            </a:pPr>
            <a:r>
              <a:rPr lang="en-US" sz="1300" dirty="0">
                <a:solidFill>
                  <a:srgbClr val="E6E2D8"/>
                </a:solidFill>
                <a:latin typeface="JetBrains Mono" pitchFamily="49" charset="0"/>
                <a:ea typeface="JetBrains Mono" pitchFamily="49" charset="-122"/>
                <a:cs typeface="JetBrains Mono" pitchFamily="49" charset="-120"/>
              </a:rPr>
              <a:t>chore(main): release 2.5.0</a:t>
            </a:r>
            <a:endParaRPr lang="en-US" sz="1300" dirty="0"/>
          </a:p>
        </p:txBody>
      </p:sp>
      <p:sp>
        <p:nvSpPr>
          <p:cNvPr id="7" name="Text 5"/>
          <p:cNvSpPr/>
          <p:nvPr/>
        </p:nvSpPr>
        <p:spPr>
          <a:xfrm>
            <a:off x="1092200" y="4269318"/>
            <a:ext cx="4758993" cy="55698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3EC"/>
                </a:solidFill>
                <a:latin typeface="Space Grotesk" pitchFamily="34" charset="0"/>
                <a:ea typeface="Space Grotesk" pitchFamily="34" charset="-122"/>
                <a:cs typeface="Space Grotesk" pitchFamily="34" charset="-120"/>
              </a:rPr>
              <a:t>Robot reads:</a:t>
            </a:r>
            <a:r>
              <a:rPr lang="en-US" sz="1300" dirty="0">
                <a:solidFill>
                  <a:srgbClr val="A3A9B6"/>
                </a:solidFill>
                <a:latin typeface="Space Grotesk" pitchFamily="34" charset="0"/>
                <a:ea typeface="Space Grotesk" pitchFamily="34" charset="-122"/>
                <a:cs typeface="Space Grotesk" pitchFamily="34" charset="-120"/>
              </a:rPr>
              <a:t> no version bump, and hidden from the changelog by default.</a:t>
            </a:r>
            <a:endParaRPr lang="en-US" sz="1300" dirty="0"/>
          </a:p>
        </p:txBody>
      </p:sp>
      <p:sp>
        <p:nvSpPr>
          <p:cNvPr id="8" name="Text 6"/>
          <p:cNvSpPr/>
          <p:nvPr/>
        </p:nvSpPr>
        <p:spPr>
          <a:xfrm>
            <a:off x="6296781" y="1606854"/>
            <a:ext cx="5234892" cy="279211"/>
          </a:xfrm>
          <a:prstGeom prst="rect">
            <a:avLst/>
          </a:prstGeom>
          <a:noFill/>
          <a:ln/>
        </p:spPr>
        <p:txBody>
          <a:bodyPr wrap="square" lIns="0" tIns="0" rIns="0" bIns="0" rtlCol="0" anchor="t">
            <a:normAutofit/>
          </a:bodyPr>
          <a:lstStyle/>
          <a:p>
            <a:pPr algn="l" indent="0" marL="0">
              <a:lnSpc>
                <a:spcPts val="1758"/>
              </a:lnSpc>
              <a:buNone/>
            </a:pPr>
            <a:r>
              <a:rPr lang="en-US" sz="1256" b="1" dirty="0">
                <a:solidFill>
                  <a:srgbClr val="5D6270"/>
                </a:solidFill>
                <a:latin typeface="Space Grotesk" pitchFamily="34" charset="0"/>
                <a:ea typeface="Space Grotesk" pitchFamily="34" charset="-122"/>
                <a:cs typeface="Space Grotesk" pitchFamily="34" charset="-120"/>
              </a:rPr>
              <a:t>Its housekeeping cousins</a:t>
            </a:r>
            <a:endParaRPr lang="en-US" sz="1256"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308876" y="1974360"/>
          <a:ext cx="5070324" cy="3209283"/>
        </p:xfrm>
        <a:graphic>
          <a:graphicData uri="http://schemas.openxmlformats.org/drawingml/2006/table">
            <a:tbl>
              <a:tblPr/>
              <a:tblGrid>
                <a:gridCol w="1521097"/>
                <a:gridCol w="3549227"/>
              </a:tblGrid>
              <a:tr h="458447">
                <a:tc>
                  <a:txBody>
                    <a:bodyPr/>
                    <a:lstStyle/>
                    <a:p>
                      <a:pPr indent="0" marL="0">
                        <a:lnSpc>
                          <a:spcPts val="1838"/>
                        </a:lnSpc>
                        <a:buNone/>
                      </a:pPr>
                      <a:r>
                        <a:rPr lang="en-US" sz="1313" b="1" dirty="0">
                          <a:solidFill>
                            <a:srgbClr val="FF8A5C"/>
                          </a:solidFill>
                          <a:latin typeface="Space Grotesk" pitchFamily="34" charset="0"/>
                          <a:ea typeface="Space Grotesk" pitchFamily="34" charset="-122"/>
                          <a:cs typeface="Space Grotesk" pitchFamily="34" charset="-120"/>
                        </a:rPr>
                        <a:t>Type</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BCB9B0"/>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F"/>
                    </a:solidFill>
                  </a:tcPr>
                </a:tc>
                <a:tc>
                  <a:txBody>
                    <a:bodyPr/>
                    <a:lstStyle/>
                    <a:p>
                      <a:pPr indent="0" marL="0">
                        <a:lnSpc>
                          <a:spcPts val="1838"/>
                        </a:lnSpc>
                        <a:buNone/>
                      </a:pPr>
                      <a:r>
                        <a:rPr lang="en-US" sz="1313" b="1" dirty="0">
                          <a:solidFill>
                            <a:srgbClr val="F6F3EC"/>
                          </a:solidFill>
                          <a:latin typeface="Space Grotesk" pitchFamily="34" charset="0"/>
                          <a:ea typeface="Space Grotesk" pitchFamily="34" charset="-122"/>
                          <a:cs typeface="Space Grotesk" pitchFamily="34" charset="-120"/>
                        </a:rPr>
                        <a:t>Use it for</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F"/>
                    </a:solidFill>
                  </a:tcPr>
                </a:tc>
              </a:tr>
              <a:tr h="458447">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docs</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BCB9B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Documentation only</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58447">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refactor</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Restructure code, same behavior</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r>
              <a:tr h="458485">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test</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BCB9B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Add or fix tests</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58485">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ci</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Pipeline and workflow changes</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r>
              <a:tr h="458485">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build</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BCB9B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Build tools and packaging</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58485">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style</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c>
                  <a:txBody>
                    <a:bodyPr/>
                    <a:lstStyle/>
                    <a:p>
                      <a:pPr indent="0" marL="0">
                        <a:lnSpc>
                          <a:spcPts val="1838"/>
                        </a:lnSpc>
                        <a:buNone/>
                      </a:pPr>
                      <a:r>
                        <a:rPr lang="en-US" sz="1313" dirty="0">
                          <a:solidFill>
                            <a:srgbClr val="1B1E26"/>
                          </a:solidFill>
                          <a:latin typeface="Space Grotesk" pitchFamily="34" charset="0"/>
                          <a:ea typeface="Space Grotesk" pitchFamily="34" charset="-122"/>
                          <a:cs typeface="Space Grotesk" pitchFamily="34" charset="-120"/>
                        </a:rPr>
                        <a:t>Formatting and whitespace</a:t>
                      </a:r>
                      <a:endParaRPr lang="en-US" sz="1313" dirty="0">
                        <a:latin typeface="Space Grotesk" charset="0"/>
                        <a:ea typeface="Space Grotesk" charset="0"/>
                        <a:cs typeface="Space Grotesk" charset="0"/>
                      </a:endParaRPr>
                    </a:p>
                  </a:txBody>
                  <a:tcPr marL="152400" marR="152400" marT="88900" marB="889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r>
            </a:tbl>
          </a:graphicData>
        </a:graphic>
      </p:graphicFrame>
      <p:sp>
        <p:nvSpPr>
          <p:cNvPr id="10" name="Text 7"/>
          <p:cNvSpPr/>
          <p:nvPr/>
        </p:nvSpPr>
        <p:spPr>
          <a:xfrm>
            <a:off x="812800" y="5463043"/>
            <a:ext cx="10883392" cy="607559"/>
          </a:xfrm>
          <a:prstGeom prst="rect">
            <a:avLst/>
          </a:prstGeom>
          <a:noFill/>
          <a:ln/>
        </p:spPr>
        <p:txBody>
          <a:bodyPr wrap="square" lIns="0" tIns="0" rIns="0" bIns="0" rtlCol="0" anchor="t">
            <a:normAutofit/>
          </a:bodyPr>
          <a:lstStyle/>
          <a:p>
            <a:pPr algn="l" indent="0" marL="0">
              <a:lnSpc>
                <a:spcPts val="2009"/>
              </a:lnSpc>
              <a:buNone/>
            </a:pPr>
            <a:r>
              <a:rPr lang="en-US" sz="1435" b="1" dirty="0">
                <a:solidFill>
                  <a:srgbClr val="1B1E26"/>
                </a:solidFill>
                <a:latin typeface="Space Grotesk" pitchFamily="34" charset="0"/>
                <a:ea typeface="Space Grotesk" pitchFamily="34" charset="-122"/>
                <a:cs typeface="Space Grotesk" pitchFamily="34" charset="-120"/>
              </a:rPr>
              <a:t>Rule of thumb:</a:t>
            </a:r>
            <a:r>
              <a:rPr lang="en-US" sz="1435" dirty="0">
                <a:solidFill>
                  <a:srgbClr val="1B1E26"/>
                </a:solidFill>
                <a:latin typeface="Space Grotesk" pitchFamily="34" charset="0"/>
                <a:ea typeface="Space Grotesk" pitchFamily="34" charset="-122"/>
                <a:cs typeface="Space Grotesk" pitchFamily="34" charset="-120"/>
              </a:rPr>
              <a:t> if users would notice, it is </a:t>
            </a:r>
            <a:r>
              <a:rPr lang="en-US" sz="1435" b="1" dirty="0">
                <a:solidFill>
                  <a:srgbClr val="1B1E26"/>
                </a:solidFill>
                <a:latin typeface="Space Grotesk" pitchFamily="34" charset="0"/>
                <a:ea typeface="Space Grotesk" pitchFamily="34" charset="-122"/>
                <a:cs typeface="Space Grotesk" pitchFamily="34" charset="-120"/>
              </a:rPr>
              <a:t>fix</a:t>
            </a:r>
            <a:r>
              <a:rPr lang="en-US" sz="1435" dirty="0">
                <a:solidFill>
                  <a:srgbClr val="1B1E26"/>
                </a:solidFill>
                <a:latin typeface="Space Grotesk" pitchFamily="34" charset="0"/>
                <a:ea typeface="Space Grotesk" pitchFamily="34" charset="-122"/>
                <a:cs typeface="Space Grotesk" pitchFamily="34" charset="-120"/>
              </a:rPr>
              <a:t> or </a:t>
            </a:r>
            <a:r>
              <a:rPr lang="en-US" sz="1435" b="1" dirty="0">
                <a:solidFill>
                  <a:srgbClr val="1B1E26"/>
                </a:solidFill>
                <a:latin typeface="Space Grotesk" pitchFamily="34" charset="0"/>
                <a:ea typeface="Space Grotesk" pitchFamily="34" charset="-122"/>
                <a:cs typeface="Space Grotesk" pitchFamily="34" charset="-120"/>
              </a:rPr>
              <a:t>feat</a:t>
            </a:r>
            <a:r>
              <a:rPr lang="en-US" sz="1435" dirty="0">
                <a:solidFill>
                  <a:srgbClr val="1B1E26"/>
                </a:solidFill>
                <a:latin typeface="Space Grotesk" pitchFamily="34" charset="0"/>
                <a:ea typeface="Space Grotesk" pitchFamily="34" charset="-122"/>
                <a:cs typeface="Space Grotesk" pitchFamily="34" charset="-120"/>
              </a:rPr>
              <a:t>. If only the team would notice, it is a </a:t>
            </a:r>
            <a:r>
              <a:rPr lang="en-US" sz="1435" b="1" dirty="0">
                <a:solidFill>
                  <a:srgbClr val="1B1E26"/>
                </a:solidFill>
                <a:latin typeface="Space Grotesk" pitchFamily="34" charset="0"/>
                <a:ea typeface="Space Grotesk" pitchFamily="34" charset="-122"/>
                <a:cs typeface="Space Grotesk" pitchFamily="34" charset="-120"/>
              </a:rPr>
              <a:t>chore</a:t>
            </a:r>
            <a:r>
              <a:rPr lang="en-US" sz="1435" dirty="0">
                <a:solidFill>
                  <a:srgbClr val="1B1E26"/>
                </a:solidFill>
                <a:latin typeface="Space Grotesk" pitchFamily="34" charset="0"/>
                <a:ea typeface="Space Grotesk" pitchFamily="34" charset="-122"/>
                <a:cs typeface="Space Grotesk" pitchFamily="34" charset="-120"/>
              </a:rPr>
              <a:t> or one of its cousins.</a:t>
            </a:r>
            <a:endParaRPr lang="en-US" sz="143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037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B1E26"/>
                </a:solidFill>
                <a:latin typeface="Space Grotesk" pitchFamily="34" charset="0"/>
                <a:ea typeface="Space Grotesk" pitchFamily="34" charset="-122"/>
                <a:cs typeface="Space Grotesk" pitchFamily="34" charset="-120"/>
              </a:rPr>
              <a:t>Before and after</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895" y="1708038"/>
          <a:ext cx="10554305" cy="3559175"/>
        </p:xfrm>
        <a:graphic>
          <a:graphicData uri="http://schemas.openxmlformats.org/drawingml/2006/table">
            <a:tbl>
              <a:tblPr/>
              <a:tblGrid>
                <a:gridCol w="3588464"/>
                <a:gridCol w="6965841"/>
              </a:tblGrid>
              <a:tr h="593196">
                <a:tc>
                  <a:txBody>
                    <a:bodyPr/>
                    <a:lstStyle/>
                    <a:p>
                      <a:pPr indent="0" marL="0">
                        <a:lnSpc>
                          <a:spcPts val="2240"/>
                        </a:lnSpc>
                        <a:buNone/>
                      </a:pPr>
                      <a:r>
                        <a:rPr lang="en-US" sz="1600" b="1" dirty="0">
                          <a:solidFill>
                            <a:srgbClr val="A3A9B6"/>
                          </a:solidFill>
                          <a:latin typeface="JetBrains Mono" pitchFamily="49" charset="0"/>
                          <a:ea typeface="JetBrains Mono" pitchFamily="49" charset="-122"/>
                          <a:cs typeface="JetBrains Mono" pitchFamily="49" charset="-120"/>
                        </a:rPr>
                        <a:t>Instead of</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C4C2B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F"/>
                    </a:solidFill>
                  </a:tcPr>
                </a:tc>
                <a:tc>
                  <a:txBody>
                    <a:bodyPr/>
                    <a:lstStyle/>
                    <a:p>
                      <a:pPr indent="0" marL="0">
                        <a:lnSpc>
                          <a:spcPts val="2240"/>
                        </a:lnSpc>
                        <a:buNone/>
                      </a:pPr>
                      <a:r>
                        <a:rPr lang="en-US" sz="1600" b="1" dirty="0">
                          <a:solidFill>
                            <a:srgbClr val="FF8A5C"/>
                          </a:solidFill>
                          <a:latin typeface="JetBrains Mono" pitchFamily="49" charset="0"/>
                          <a:ea typeface="JetBrains Mono" pitchFamily="49" charset="-122"/>
                          <a:cs typeface="JetBrains Mono" pitchFamily="49" charset="-120"/>
                        </a:rPr>
                        <a:t>Write</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F"/>
                    </a:solidFill>
                  </a:tcPr>
                </a:tc>
              </a:tr>
              <a:tr h="593196">
                <a:tc>
                  <a:txBody>
                    <a:bodyPr/>
                    <a:lstStyle/>
                    <a:p>
                      <a:pPr indent="0" marL="0">
                        <a:lnSpc>
                          <a:spcPts val="2240"/>
                        </a:lnSpc>
                        <a:buNone/>
                      </a:pPr>
                      <a:r>
                        <a:rPr lang="en-US" sz="1600" dirty="0">
                          <a:solidFill>
                            <a:srgbClr val="5D6270"/>
                          </a:solidFill>
                          <a:latin typeface="JetBrains Mono" pitchFamily="49" charset="0"/>
                          <a:ea typeface="JetBrains Mono" pitchFamily="49" charset="-122"/>
                          <a:cs typeface="JetBrains Mono" pitchFamily="49" charset="-120"/>
                        </a:rPr>
                        <a:t>fixed stuff</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1E26"/>
                          </a:solidFill>
                          <a:latin typeface="JetBrains Mono" pitchFamily="49" charset="0"/>
                          <a:ea typeface="JetBrains Mono" pitchFamily="49" charset="-122"/>
                          <a:cs typeface="JetBrains Mono" pitchFamily="49" charset="-120"/>
                        </a:rPr>
                        <a:t>fix(cart): stop double charge on retry</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93196">
                <a:tc>
                  <a:txBody>
                    <a:bodyPr/>
                    <a:lstStyle/>
                    <a:p>
                      <a:pPr indent="0" marL="0">
                        <a:lnSpc>
                          <a:spcPts val="2240"/>
                        </a:lnSpc>
                        <a:buNone/>
                      </a:pPr>
                      <a:r>
                        <a:rPr lang="en-US" sz="1600" dirty="0">
                          <a:solidFill>
                            <a:srgbClr val="5D6270"/>
                          </a:solidFill>
                          <a:latin typeface="JetBrains Mono" pitchFamily="49" charset="0"/>
                          <a:ea typeface="JetBrains Mono" pitchFamily="49" charset="-122"/>
                          <a:cs typeface="JetBrains Mono" pitchFamily="49" charset="-120"/>
                        </a:rPr>
                        <a:t>added export</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7DC"/>
                    </a:solidFill>
                  </a:tcPr>
                </a:tc>
                <a:tc>
                  <a:txBody>
                    <a:bodyPr/>
                    <a:lstStyle/>
                    <a:p>
                      <a:pPr indent="0" marL="0">
                        <a:lnSpc>
                          <a:spcPts val="2240"/>
                        </a:lnSpc>
                        <a:buNone/>
                      </a:pPr>
                      <a:r>
                        <a:rPr lang="en-US" sz="1600" dirty="0">
                          <a:solidFill>
                            <a:srgbClr val="1B1E26"/>
                          </a:solidFill>
                          <a:latin typeface="JetBrains Mono" pitchFamily="49" charset="0"/>
                          <a:ea typeface="JetBrains Mono" pitchFamily="49" charset="-122"/>
                          <a:cs typeface="JetBrains Mono" pitchFamily="49" charset="-120"/>
                        </a:rPr>
                        <a:t>feat(reports): export to CSV</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7DC"/>
                    </a:solidFill>
                  </a:tcPr>
                </a:tc>
              </a:tr>
              <a:tr h="593196">
                <a:tc>
                  <a:txBody>
                    <a:bodyPr/>
                    <a:lstStyle/>
                    <a:p>
                      <a:pPr indent="0" marL="0">
                        <a:lnSpc>
                          <a:spcPts val="2240"/>
                        </a:lnSpc>
                        <a:buNone/>
                      </a:pPr>
                      <a:r>
                        <a:rPr lang="en-US" sz="1600" dirty="0">
                          <a:solidFill>
                            <a:srgbClr val="5D6270"/>
                          </a:solidFill>
                          <a:latin typeface="JetBrains Mono" pitchFamily="49" charset="0"/>
                          <a:ea typeface="JetBrains Mono" pitchFamily="49" charset="-122"/>
                          <a:cs typeface="JetBrains Mono" pitchFamily="49" charset="-120"/>
                        </a:rPr>
                        <a:t>update readme</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1E26"/>
                          </a:solidFill>
                          <a:latin typeface="JetBrains Mono" pitchFamily="49" charset="0"/>
                          <a:ea typeface="JetBrains Mono" pitchFamily="49" charset="-122"/>
                          <a:cs typeface="JetBrains Mono" pitchFamily="49" charset="-120"/>
                        </a:rPr>
                        <a:t>docs: add local setup steps</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93196">
                <a:tc>
                  <a:txBody>
                    <a:bodyPr/>
                    <a:lstStyle/>
                    <a:p>
                      <a:pPr indent="0" marL="0">
                        <a:lnSpc>
                          <a:spcPts val="2240"/>
                        </a:lnSpc>
                        <a:buNone/>
                      </a:pPr>
                      <a:r>
                        <a:rPr lang="en-US" sz="1600" dirty="0">
                          <a:solidFill>
                            <a:srgbClr val="5D6270"/>
                          </a:solidFill>
                          <a:latin typeface="JetBrains Mono" pitchFamily="49" charset="0"/>
                          <a:ea typeface="JetBrains Mono" pitchFamily="49" charset="-122"/>
                          <a:cs typeface="JetBrains Mono" pitchFamily="49" charset="-120"/>
                        </a:rPr>
                        <a:t>bump deps</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C4C2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7DC"/>
                    </a:solidFill>
                  </a:tcPr>
                </a:tc>
                <a:tc>
                  <a:txBody>
                    <a:bodyPr/>
                    <a:lstStyle/>
                    <a:p>
                      <a:pPr indent="0" marL="0">
                        <a:lnSpc>
                          <a:spcPts val="2240"/>
                        </a:lnSpc>
                        <a:buNone/>
                      </a:pPr>
                      <a:r>
                        <a:rPr lang="en-US" sz="1600" dirty="0">
                          <a:solidFill>
                            <a:srgbClr val="1B1E26"/>
                          </a:solidFill>
                          <a:latin typeface="JetBrains Mono" pitchFamily="49" charset="0"/>
                          <a:ea typeface="JetBrains Mono" pitchFamily="49" charset="-122"/>
                          <a:cs typeface="JetBrains Mono" pitchFamily="49" charset="-120"/>
                        </a:rPr>
                        <a:t>chore(deps): upgrade axios to 1.7</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7DC"/>
                    </a:solidFill>
                  </a:tcPr>
                </a:tc>
              </a:tr>
              <a:tr h="593196">
                <a:tc>
                  <a:txBody>
                    <a:bodyPr/>
                    <a:lstStyle/>
                    <a:p>
                      <a:pPr indent="0" marL="0">
                        <a:lnSpc>
                          <a:spcPts val="2240"/>
                        </a:lnSpc>
                        <a:buNone/>
                      </a:pPr>
                      <a:r>
                        <a:rPr lang="en-US" sz="1600" dirty="0">
                          <a:solidFill>
                            <a:srgbClr val="5D6270"/>
                          </a:solidFill>
                          <a:latin typeface="JetBrains Mono" pitchFamily="49" charset="0"/>
                          <a:ea typeface="JetBrains Mono" pitchFamily="49" charset="-122"/>
                          <a:cs typeface="JetBrains Mono" pitchFamily="49" charset="-120"/>
                        </a:rPr>
                        <a:t>new API</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1E26"/>
                          </a:solidFill>
                          <a:latin typeface="JetBrains Mono" pitchFamily="49" charset="0"/>
                          <a:ea typeface="JetBrains Mono" pitchFamily="49" charset="-122"/>
                          <a:cs typeface="JetBrains Mono" pitchFamily="49" charset="-120"/>
                        </a:rPr>
                        <a:t>feat(api)!: remove v1 endpoints</a:t>
                      </a:r>
                      <a:endParaRPr lang="en-US" sz="1600" dirty="0">
                        <a:latin typeface="JetBrains Mono" charset="0"/>
                        <a:ea typeface="JetBrains Mono" charset="0"/>
                        <a:cs typeface="JetBrains Mono" charset="0"/>
                      </a:endParaRPr>
                    </a:p>
                  </a:txBody>
                  <a:tcPr marL="177800" marR="177800" marT="127000" marB="1270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4" name="Text 1"/>
          <p:cNvSpPr/>
          <p:nvPr/>
        </p:nvSpPr>
        <p:spPr>
          <a:xfrm>
            <a:off x="812800" y="6165323"/>
            <a:ext cx="10883392"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270"/>
                </a:solidFill>
                <a:latin typeface="Space Grotesk" pitchFamily="34" charset="0"/>
                <a:ea typeface="Space Grotesk" pitchFamily="34" charset="-122"/>
                <a:cs typeface="Space Grotesk" pitchFamily="34" charset="-120"/>
              </a:rPr>
              <a:t>Tip: finish the sentence "If applied, this commit will..." Lowercase, no period.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182083"/>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B1E26"/>
                </a:solidFill>
                <a:latin typeface="Space Grotesk" pitchFamily="34" charset="0"/>
                <a:ea typeface="Space Grotesk" pitchFamily="34" charset="-122"/>
                <a:cs typeface="Space Grotesk" pitchFamily="34" charset="-120"/>
              </a:rPr>
              <a:t>Formatting rules: required vs. recommended</a:t>
            </a:r>
            <a:endParaRPr lang="en-US" sz="3600" dirty="0"/>
          </a:p>
        </p:txBody>
      </p:sp>
      <p:sp>
        <p:nvSpPr>
          <p:cNvPr id="3" name="Shape 1"/>
          <p:cNvSpPr/>
          <p:nvPr/>
        </p:nvSpPr>
        <p:spPr>
          <a:xfrm>
            <a:off x="812800" y="2248886"/>
            <a:ext cx="5118705" cy="3368486"/>
          </a:xfrm>
          <a:prstGeom prst="roundRect">
            <a:avLst>
              <a:gd name="adj" fmla="val 3770"/>
            </a:avLst>
          </a:prstGeom>
          <a:solidFill>
            <a:srgbClr val="15181F"/>
          </a:solidFill>
          <a:ln/>
        </p:spPr>
      </p:sp>
      <p:sp>
        <p:nvSpPr>
          <p:cNvPr id="4" name="Text 2"/>
          <p:cNvSpPr/>
          <p:nvPr/>
        </p:nvSpPr>
        <p:spPr>
          <a:xfrm>
            <a:off x="1066800" y="2502886"/>
            <a:ext cx="4749026" cy="35839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F8A5C"/>
                </a:solidFill>
                <a:latin typeface="Space Grotesk" pitchFamily="34" charset="0"/>
                <a:ea typeface="Space Grotesk" pitchFamily="34" charset="-122"/>
                <a:cs typeface="Space Grotesk" pitchFamily="34" charset="-120"/>
              </a:rPr>
              <a:t>Required by the spec</a:t>
            </a:r>
            <a:endParaRPr lang="en-US" sz="1900" dirty="0"/>
          </a:p>
        </p:txBody>
      </p:sp>
      <p:sp>
        <p:nvSpPr>
          <p:cNvPr id="5" name="Text 3"/>
          <p:cNvSpPr/>
          <p:nvPr/>
        </p:nvSpPr>
        <p:spPr>
          <a:xfrm>
            <a:off x="1138682" y="2962883"/>
            <a:ext cx="4669524" cy="2029354"/>
          </a:xfrm>
          <a:prstGeom prst="rect">
            <a:avLst/>
          </a:prstGeom>
          <a:noFill/>
          <a:ln/>
        </p:spPr>
        <p:txBody>
          <a:bodyPr wrap="square" lIns="0" tIns="0" rIns="0" bIns="0" rtlCol="0" anchor="t">
            <a:normAutofit/>
          </a:bodyPr>
          <a:lstStyle/>
          <a:p>
            <a:pPr algn="l" marL="182118" indent="-182118">
              <a:lnSpc>
                <a:spcPts val="1960"/>
              </a:lnSpc>
              <a:buSzPct val="100000"/>
              <a:buChar char="•"/>
            </a:pPr>
            <a:r>
              <a:rPr lang="en-US" sz="1400" dirty="0">
                <a:solidFill>
                  <a:srgbClr val="E6E2D8"/>
                </a:solidFill>
                <a:latin typeface="Space Grotesk" pitchFamily="34" charset="0"/>
                <a:ea typeface="Space Grotesk" pitchFamily="34" charset="-122"/>
                <a:cs typeface="Space Grotesk" pitchFamily="34" charset="-120"/>
              </a:rPr>
              <a:t>Exactly one space after the colon</a:t>
            </a:r>
            <a:endParaRPr lang="en-US" sz="1400" dirty="0"/>
          </a:p>
          <a:p>
            <a:pPr algn="l" marL="182118" indent="-182118">
              <a:lnSpc>
                <a:spcPts val="1960"/>
              </a:lnSpc>
              <a:buSzPct val="100000"/>
              <a:buChar char="•"/>
            </a:pPr>
            <a:r>
              <a:rPr lang="en-US" sz="1400" dirty="0">
                <a:solidFill>
                  <a:srgbClr val="E6E2D8"/>
                </a:solidFill>
                <a:latin typeface="Space Grotesk" pitchFamily="34" charset="0"/>
                <a:ea typeface="Space Grotesk" pitchFamily="34" charset="-122"/>
                <a:cs typeface="Space Grotesk" pitchFamily="34" charset="-120"/>
              </a:rPr>
              <a:t>Scope in parentheses, ! right before the colon</a:t>
            </a:r>
            <a:endParaRPr lang="en-US" sz="1400" dirty="0"/>
          </a:p>
          <a:p>
            <a:pPr algn="l" marL="182118" indent="-182118">
              <a:lnSpc>
                <a:spcPts val="1960"/>
              </a:lnSpc>
              <a:buSzPct val="100000"/>
              <a:buChar char="•"/>
            </a:pPr>
            <a:r>
              <a:rPr lang="en-US" sz="1400" dirty="0">
                <a:solidFill>
                  <a:srgbClr val="E6E2D8"/>
                </a:solidFill>
                <a:latin typeface="Space Grotesk" pitchFamily="34" charset="0"/>
                <a:ea typeface="Space Grotesk" pitchFamily="34" charset="-122"/>
                <a:cs typeface="Space Grotesk" pitchFamily="34" charset="-120"/>
              </a:rPr>
              <a:t>A blank line before the body and before footers</a:t>
            </a:r>
            <a:endParaRPr lang="en-US" sz="1400" dirty="0"/>
          </a:p>
          <a:p>
            <a:pPr algn="l" marL="182118" indent="-182118">
              <a:lnSpc>
                <a:spcPts val="1960"/>
              </a:lnSpc>
              <a:buSzPct val="100000"/>
              <a:buChar char="•"/>
            </a:pPr>
            <a:r>
              <a:rPr lang="en-US" sz="1400" dirty="0">
                <a:solidFill>
                  <a:srgbClr val="E6E2D8"/>
                </a:solidFill>
                <a:latin typeface="Space Grotesk" pitchFamily="34" charset="0"/>
                <a:ea typeface="Space Grotesk" pitchFamily="34" charset="-122"/>
                <a:cs typeface="Space Grotesk" pitchFamily="34" charset="-120"/>
              </a:rPr>
              <a:t>Footer tokens use dashes: Reviewed-by</a:t>
            </a:r>
            <a:endParaRPr lang="en-US" sz="1400" dirty="0"/>
          </a:p>
          <a:p>
            <a:pPr algn="l" marL="182118" indent="-182118">
              <a:lnSpc>
                <a:spcPts val="1960"/>
              </a:lnSpc>
              <a:buSzPct val="100000"/>
              <a:buChar char="•"/>
            </a:pPr>
            <a:r>
              <a:rPr lang="en-US" sz="1400" dirty="0">
                <a:solidFill>
                  <a:srgbClr val="E6E2D8"/>
                </a:solidFill>
                <a:latin typeface="Space Grotesk" pitchFamily="34" charset="0"/>
                <a:ea typeface="Space Grotesk" pitchFamily="34" charset="-122"/>
                <a:cs typeface="Space Grotesk" pitchFamily="34" charset="-120"/>
              </a:rPr>
              <a:t>BREAKING CHANGE must be uppercase</a:t>
            </a:r>
            <a:endParaRPr lang="en-US" sz="1400" dirty="0"/>
          </a:p>
        </p:txBody>
      </p:sp>
      <p:sp>
        <p:nvSpPr>
          <p:cNvPr id="6" name="Text 4"/>
          <p:cNvSpPr/>
          <p:nvPr/>
        </p:nvSpPr>
        <p:spPr>
          <a:xfrm>
            <a:off x="1066800" y="5093835"/>
            <a:ext cx="4749026"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9B6"/>
                </a:solidFill>
                <a:latin typeface="Space Grotesk" pitchFamily="34" charset="0"/>
                <a:ea typeface="Space Grotesk" pitchFamily="34" charset="-122"/>
                <a:cs typeface="Space Grotesk" pitchFamily="34" charset="-120"/>
              </a:rPr>
              <a:t>Everything else is case-insensitive to tools.</a:t>
            </a:r>
            <a:endParaRPr lang="en-US" sz="1200" dirty="0"/>
          </a:p>
        </p:txBody>
      </p:sp>
      <p:sp>
        <p:nvSpPr>
          <p:cNvPr id="7" name="Shape 5"/>
          <p:cNvSpPr/>
          <p:nvPr/>
        </p:nvSpPr>
        <p:spPr>
          <a:xfrm>
            <a:off x="6242655" y="2255236"/>
            <a:ext cx="5130195" cy="3355786"/>
          </a:xfrm>
          <a:prstGeom prst="roundRect">
            <a:avLst>
              <a:gd name="adj" fmla="val 3595"/>
            </a:avLst>
          </a:prstGeom>
          <a:solidFill>
            <a:srgbClr val="FFFDF8"/>
          </a:solidFill>
          <a:ln w="12700">
            <a:solidFill>
              <a:srgbClr val="E2DDD2"/>
            </a:solidFill>
            <a:prstDash val="solid"/>
          </a:ln>
        </p:spPr>
      </p:sp>
      <p:sp>
        <p:nvSpPr>
          <p:cNvPr id="8" name="Text 6"/>
          <p:cNvSpPr/>
          <p:nvPr/>
        </p:nvSpPr>
        <p:spPr>
          <a:xfrm>
            <a:off x="6502400" y="2514978"/>
            <a:ext cx="4749026" cy="35839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2F62B0"/>
                </a:solidFill>
                <a:latin typeface="Space Grotesk" pitchFamily="34" charset="0"/>
                <a:ea typeface="Space Grotesk" pitchFamily="34" charset="-122"/>
                <a:cs typeface="Space Grotesk" pitchFamily="34" charset="-120"/>
              </a:rPr>
              <a:t>Team conventions (commitlint)</a:t>
            </a:r>
            <a:endParaRPr lang="en-US" sz="1900" dirty="0"/>
          </a:p>
        </p:txBody>
      </p:sp>
      <p:sp>
        <p:nvSpPr>
          <p:cNvPr id="9" name="Text 7"/>
          <p:cNvSpPr/>
          <p:nvPr/>
        </p:nvSpPr>
        <p:spPr>
          <a:xfrm>
            <a:off x="6574282" y="2974975"/>
            <a:ext cx="4669524" cy="2029354"/>
          </a:xfrm>
          <a:prstGeom prst="rect">
            <a:avLst/>
          </a:prstGeom>
          <a:noFill/>
          <a:ln/>
        </p:spPr>
        <p:txBody>
          <a:bodyPr wrap="square" lIns="0" tIns="0" rIns="0" bIns="0" rtlCol="0" anchor="t">
            <a:normAutofit/>
          </a:bodyPr>
          <a:lstStyle/>
          <a:p>
            <a:pPr algn="l" marL="182118" indent="-182118">
              <a:lnSpc>
                <a:spcPts val="1960"/>
              </a:lnSpc>
              <a:buSzPct val="100000"/>
              <a:buChar char="•"/>
            </a:pPr>
            <a:r>
              <a:rPr lang="en-US" sz="1400" dirty="0">
                <a:solidFill>
                  <a:srgbClr val="1B1E26"/>
                </a:solidFill>
                <a:latin typeface="Space Grotesk" pitchFamily="34" charset="0"/>
                <a:ea typeface="Space Grotesk" pitchFamily="34" charset="-122"/>
                <a:cs typeface="Space Grotesk" pitchFamily="34" charset="-120"/>
              </a:rPr>
              <a:t>Lowercase type and scope</a:t>
            </a:r>
            <a:endParaRPr lang="en-US" sz="1400" dirty="0"/>
          </a:p>
          <a:p>
            <a:pPr algn="l" marL="182118" indent="-182118">
              <a:lnSpc>
                <a:spcPts val="1960"/>
              </a:lnSpc>
              <a:buSzPct val="100000"/>
              <a:buChar char="•"/>
            </a:pPr>
            <a:r>
              <a:rPr lang="en-US" sz="1400" dirty="0">
                <a:solidFill>
                  <a:srgbClr val="1B1E26"/>
                </a:solidFill>
                <a:latin typeface="Space Grotesk" pitchFamily="34" charset="0"/>
                <a:ea typeface="Space Grotesk" pitchFamily="34" charset="-122"/>
                <a:cs typeface="Space Grotesk" pitchFamily="34" charset="-120"/>
              </a:rPr>
              <a:t>Multi-word scopes in kebab-case: user-profile</a:t>
            </a:r>
            <a:endParaRPr lang="en-US" sz="1400" dirty="0"/>
          </a:p>
          <a:p>
            <a:pPr algn="l" marL="182118" indent="-182118">
              <a:lnSpc>
                <a:spcPts val="1960"/>
              </a:lnSpc>
              <a:buSzPct val="100000"/>
              <a:buChar char="•"/>
            </a:pPr>
            <a:r>
              <a:rPr lang="en-US" sz="1400" dirty="0">
                <a:solidFill>
                  <a:srgbClr val="1B1E26"/>
                </a:solidFill>
                <a:latin typeface="Space Grotesk" pitchFamily="34" charset="0"/>
                <a:ea typeface="Space Grotesk" pitchFamily="34" charset="-122"/>
                <a:cs typeface="Space Grotesk" pitchFamily="34" charset="-120"/>
              </a:rPr>
              <a:t>Start the description lowercase, in command form: add, not added</a:t>
            </a:r>
            <a:endParaRPr lang="en-US" sz="1400" dirty="0"/>
          </a:p>
          <a:p>
            <a:pPr algn="l" marL="182118" indent="-182118">
              <a:lnSpc>
                <a:spcPts val="1960"/>
              </a:lnSpc>
              <a:buSzPct val="100000"/>
              <a:buChar char="•"/>
            </a:pPr>
            <a:r>
              <a:rPr lang="en-US" sz="1400" dirty="0">
                <a:solidFill>
                  <a:srgbClr val="1B1E26"/>
                </a:solidFill>
                <a:latin typeface="Space Grotesk" pitchFamily="34" charset="0"/>
                <a:ea typeface="Space Grotesk" pitchFamily="34" charset="-122"/>
                <a:cs typeface="Space Grotesk" pitchFamily="34" charset="-120"/>
              </a:rPr>
              <a:t>No period at the end</a:t>
            </a:r>
            <a:endParaRPr lang="en-US" sz="1400" dirty="0"/>
          </a:p>
          <a:p>
            <a:pPr algn="l" marL="182118" indent="-182118">
              <a:lnSpc>
                <a:spcPts val="1960"/>
              </a:lnSpc>
              <a:buSzPct val="100000"/>
              <a:buChar char="•"/>
            </a:pPr>
            <a:r>
              <a:rPr lang="en-US" sz="1400" dirty="0">
                <a:solidFill>
                  <a:srgbClr val="1B1E26"/>
                </a:solidFill>
                <a:latin typeface="Space Grotesk" pitchFamily="34" charset="0"/>
                <a:ea typeface="Space Grotesk" pitchFamily="34" charset="-122"/>
                <a:cs typeface="Space Grotesk" pitchFamily="34" charset="-120"/>
              </a:rPr>
              <a:t>Header 100 characters max, aim for 72</a:t>
            </a:r>
            <a:endParaRPr lang="en-US" sz="1400" dirty="0"/>
          </a:p>
        </p:txBody>
      </p:sp>
      <p:sp>
        <p:nvSpPr>
          <p:cNvPr id="10" name="Text 8"/>
          <p:cNvSpPr/>
          <p:nvPr/>
        </p:nvSpPr>
        <p:spPr>
          <a:xfrm>
            <a:off x="6502400" y="5105933"/>
            <a:ext cx="4749026"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270"/>
                </a:solidFill>
                <a:latin typeface="Space Grotesk" pitchFamily="34" charset="0"/>
                <a:ea typeface="Space Grotesk" pitchFamily="34" charset="-122"/>
                <a:cs typeface="Space Grotesk" pitchFamily="34" charset="-120"/>
              </a:rPr>
              <a:t>Acronyms like SSO are fine inside the description.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7D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037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B1E26"/>
                </a:solidFill>
                <a:latin typeface="Space Grotesk" pitchFamily="34" charset="0"/>
                <a:ea typeface="Space Grotesk" pitchFamily="34" charset="-122"/>
                <a:cs typeface="Space Grotesk" pitchFamily="34" charset="-120"/>
              </a:rPr>
              <a:t>Quick check: pass or fail?</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895" y="1682635"/>
          <a:ext cx="10554305" cy="4012595"/>
        </p:xfrm>
        <a:graphic>
          <a:graphicData uri="http://schemas.openxmlformats.org/drawingml/2006/table">
            <a:tbl>
              <a:tblPr/>
              <a:tblGrid>
                <a:gridCol w="4854980"/>
                <a:gridCol w="2110861"/>
                <a:gridCol w="3588464"/>
              </a:tblGrid>
              <a:tr h="501574">
                <a:tc>
                  <a:txBody>
                    <a:bodyPr/>
                    <a:lstStyle/>
                    <a:p>
                      <a:pPr indent="0" marL="0">
                        <a:lnSpc>
                          <a:spcPts val="1960"/>
                        </a:lnSpc>
                        <a:buNone/>
                      </a:pPr>
                      <a:r>
                        <a:rPr lang="en-US" sz="1400" b="1" dirty="0">
                          <a:solidFill>
                            <a:srgbClr val="F6F3EC"/>
                          </a:solidFill>
                          <a:latin typeface="JetBrains Mono" pitchFamily="49" charset="0"/>
                          <a:ea typeface="JetBrains Mono" pitchFamily="49" charset="-122"/>
                          <a:cs typeface="JetBrains Mono" pitchFamily="49" charset="-120"/>
                        </a:rPr>
                        <a:t>Commit</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F"/>
                    </a:solidFill>
                  </a:tcPr>
                </a:tc>
                <a:tc>
                  <a:txBody>
                    <a:bodyPr/>
                    <a:lstStyle/>
                    <a:p>
                      <a:pPr indent="0" marL="0">
                        <a:lnSpc>
                          <a:spcPts val="1960"/>
                        </a:lnSpc>
                        <a:buNone/>
                      </a:pPr>
                      <a:r>
                        <a:rPr lang="en-US" sz="1400" b="1" dirty="0">
                          <a:solidFill>
                            <a:srgbClr val="F6F3EC"/>
                          </a:solidFill>
                          <a:latin typeface="JetBrains Mono" pitchFamily="49" charset="0"/>
                          <a:ea typeface="JetBrains Mono" pitchFamily="49" charset="-122"/>
                          <a:cs typeface="JetBrains Mono" pitchFamily="49" charset="-120"/>
                        </a:rPr>
                        <a:t>Result</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F"/>
                    </a:solidFill>
                  </a:tcPr>
                </a:tc>
                <a:tc>
                  <a:txBody>
                    <a:bodyPr/>
                    <a:lstStyle/>
                    <a:p>
                      <a:pPr indent="0" marL="0">
                        <a:lnSpc>
                          <a:spcPts val="1960"/>
                        </a:lnSpc>
                        <a:buNone/>
                      </a:pPr>
                      <a:r>
                        <a:rPr lang="en-US" sz="1400" b="1" dirty="0">
                          <a:solidFill>
                            <a:srgbClr val="F6F3EC"/>
                          </a:solidFill>
                          <a:latin typeface="JetBrains Mono" pitchFamily="49" charset="0"/>
                          <a:ea typeface="JetBrains Mono" pitchFamily="49" charset="-122"/>
                          <a:cs typeface="JetBrains Mono" pitchFamily="49" charset="-120"/>
                        </a:rPr>
                        <a:t>Why</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81F"/>
                    </a:solidFill>
                  </a:tcPr>
                </a:tc>
              </a:tr>
              <a:tr h="501574">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feat(auth)!: add SSO login</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2F62B0"/>
                          </a:solidFill>
                          <a:latin typeface="JetBrains Mono" pitchFamily="49" charset="0"/>
                          <a:ea typeface="JetBrains Mono" pitchFamily="49" charset="-122"/>
                          <a:cs typeface="JetBrains Mono" pitchFamily="49" charset="-120"/>
                        </a:rPr>
                        <a:t>Pass</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Follows every rule</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501574">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feat(auth): Add SSO login.</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c>
                  <a:txBody>
                    <a:bodyPr/>
                    <a:lstStyle/>
                    <a:p>
                      <a:pPr indent="0" marL="0">
                        <a:lnSpc>
                          <a:spcPts val="1960"/>
                        </a:lnSpc>
                        <a:buNone/>
                      </a:pPr>
                      <a:r>
                        <a:rPr lang="en-US" sz="1400" dirty="0">
                          <a:solidFill>
                            <a:srgbClr val="8A6400"/>
                          </a:solidFill>
                          <a:latin typeface="JetBrains Mono" pitchFamily="49" charset="0"/>
                          <a:ea typeface="JetBrains Mono" pitchFamily="49" charset="-122"/>
                          <a:cs typeface="JetBrains Mono" pitchFamily="49" charset="-120"/>
                        </a:rPr>
                        <a:t>Lint fails</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Capital start, period</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r>
              <a:tr h="501574">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Feat(Auth): add SSO login</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8A6400"/>
                          </a:solidFill>
                          <a:latin typeface="JetBrains Mono" pitchFamily="49" charset="0"/>
                          <a:ea typeface="JetBrains Mono" pitchFamily="49" charset="-122"/>
                          <a:cs typeface="JetBrains Mono" pitchFamily="49" charset="-120"/>
                        </a:rPr>
                        <a:t>Lint fails</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Uppercase type, scope</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501574">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feat(user profile): add avatar</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c>
                  <a:txBody>
                    <a:bodyPr/>
                    <a:lstStyle/>
                    <a:p>
                      <a:pPr indent="0" marL="0">
                        <a:lnSpc>
                          <a:spcPts val="1960"/>
                        </a:lnSpc>
                        <a:buNone/>
                      </a:pPr>
                      <a:r>
                        <a:rPr lang="en-US" sz="1400" dirty="0">
                          <a:solidFill>
                            <a:srgbClr val="8A6400"/>
                          </a:solidFill>
                          <a:latin typeface="JetBrains Mono" pitchFamily="49" charset="0"/>
                          <a:ea typeface="JetBrains Mono" pitchFamily="49" charset="-122"/>
                          <a:cs typeface="JetBrains Mono" pitchFamily="49" charset="-120"/>
                        </a:rPr>
                        <a:t>Lint fails</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Use user-profile</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r>
              <a:tr h="501574">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feat(auth):add SSO login</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B8441B"/>
                          </a:solidFill>
                          <a:latin typeface="JetBrains Mono" pitchFamily="49" charset="0"/>
                          <a:ea typeface="JetBrains Mono" pitchFamily="49" charset="-122"/>
                          <a:cs typeface="JetBrains Mono" pitchFamily="49" charset="-120"/>
                        </a:rPr>
                        <a:t>Invalid</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No space after colon</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501574">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feat (auth): add SSO login</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c>
                  <a:txBody>
                    <a:bodyPr/>
                    <a:lstStyle/>
                    <a:p>
                      <a:pPr indent="0" marL="0">
                        <a:lnSpc>
                          <a:spcPts val="1960"/>
                        </a:lnSpc>
                        <a:buNone/>
                      </a:pPr>
                      <a:r>
                        <a:rPr lang="en-US" sz="1400" dirty="0">
                          <a:solidFill>
                            <a:srgbClr val="B8441B"/>
                          </a:solidFill>
                          <a:latin typeface="JetBrains Mono" pitchFamily="49" charset="0"/>
                          <a:ea typeface="JetBrains Mono" pitchFamily="49" charset="-122"/>
                          <a:cs typeface="JetBrains Mono" pitchFamily="49" charset="-120"/>
                        </a:rPr>
                        <a:t>Invalid</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Space before scope</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0"/>
                      </a:solidFill>
                      <a:prstDash val="solid"/>
                      <a:round/>
                      <a:headEnd type="none" w="med" len="med"/>
                      <a:tailEnd type="none" w="med" len="med"/>
                    </a:lnB>
                  </a:tcPr>
                </a:tc>
              </a:tr>
              <a:tr h="501574">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breaking change: drop v1</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CB9B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B8441B"/>
                          </a:solidFill>
                          <a:latin typeface="JetBrains Mono" pitchFamily="49" charset="0"/>
                          <a:ea typeface="JetBrains Mono" pitchFamily="49" charset="-122"/>
                          <a:cs typeface="JetBrains Mono" pitchFamily="49" charset="-120"/>
                        </a:rPr>
                        <a:t>Invalid</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Footer must be uppercase</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4" name="Text 1"/>
          <p:cNvSpPr/>
          <p:nvPr/>
        </p:nvSpPr>
        <p:spPr>
          <a:xfrm>
            <a:off x="812800" y="6206257"/>
            <a:ext cx="1088339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270"/>
                </a:solidFill>
                <a:latin typeface="Space Grotesk" pitchFamily="34" charset="0"/>
                <a:ea typeface="Space Grotesk" pitchFamily="34" charset="-122"/>
                <a:cs typeface="Space Grotesk" pitchFamily="34" charset="-120"/>
              </a:rPr>
              <a:t>Lint fails = valid to the spec, rejected by commitlint. Invalid = tools cannot parse 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812800" y="2002594"/>
            <a:ext cx="10883392" cy="3525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8A5C"/>
                </a:solidFill>
                <a:latin typeface="JetBrains Mono" pitchFamily="49" charset="0"/>
                <a:ea typeface="JetBrains Mono" pitchFamily="49" charset="-122"/>
                <a:cs typeface="JetBrains Mono" pitchFamily="49" charset="-120"/>
              </a:rPr>
              <a:t>part 2</a:t>
            </a:r>
            <a:endParaRPr lang="en-US" sz="1600" dirty="0"/>
          </a:p>
        </p:txBody>
      </p:sp>
      <p:sp>
        <p:nvSpPr>
          <p:cNvPr id="3" name="Text 1"/>
          <p:cNvSpPr/>
          <p:nvPr>
            <p:ph type="title"/>
          </p:nvPr>
        </p:nvSpPr>
        <p:spPr>
          <a:xfrm>
            <a:off x="812800" y="2583693"/>
            <a:ext cx="10883392" cy="1175544"/>
          </a:xfrm>
          <a:prstGeom prst="rect">
            <a:avLst/>
          </a:prstGeom>
          <a:noFill/>
          <a:ln/>
        </p:spPr>
        <p:txBody>
          <a:bodyPr wrap="square" lIns="0" tIns="0" rIns="0" bIns="0" rtlCol="0" anchor="t">
            <a:normAutofit/>
          </a:bodyPr>
          <a:lstStyle/>
          <a:p>
            <a:pPr algn="l" indent="0" marL="0">
              <a:lnSpc>
                <a:spcPts val="7875"/>
              </a:lnSpc>
              <a:buNone/>
            </a:pPr>
            <a:r>
              <a:rPr lang="en-US" sz="7500" b="1" i="0" spc="-150" kern="0" dirty="0">
                <a:solidFill>
                  <a:srgbClr val="F6F3EC"/>
                </a:solidFill>
                <a:latin typeface="Space Grotesk" pitchFamily="34" charset="0"/>
                <a:ea typeface="Space Grotesk" pitchFamily="34" charset="-122"/>
                <a:cs typeface="Space Grotesk" pitchFamily="34" charset="-120"/>
              </a:rPr>
              <a:t>Release Please</a:t>
            </a:r>
            <a:endParaRPr lang="en-US" sz="7500" dirty="0"/>
          </a:p>
        </p:txBody>
      </p:sp>
      <p:sp>
        <p:nvSpPr>
          <p:cNvPr id="4" name="Text 2"/>
          <p:cNvSpPr/>
          <p:nvPr/>
        </p:nvSpPr>
        <p:spPr>
          <a:xfrm>
            <a:off x="812800" y="3987837"/>
            <a:ext cx="8502650" cy="89293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A3A9B6"/>
                </a:solidFill>
                <a:latin typeface="Space Grotesk" pitchFamily="34" charset="0"/>
                <a:ea typeface="Space Grotesk" pitchFamily="34" charset="-122"/>
                <a:cs typeface="Space Grotesk" pitchFamily="34" charset="-120"/>
              </a:rPr>
              <a:t>A GitHub Action from Google that reads your commits and does the release paperwork for you.</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6037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B1E26"/>
                </a:solidFill>
                <a:latin typeface="Space Grotesk" pitchFamily="34" charset="0"/>
                <a:ea typeface="Space Grotesk" pitchFamily="34" charset="-122"/>
                <a:cs typeface="Space Grotesk" pitchFamily="34" charset="-120"/>
              </a:rPr>
              <a:t>How it works: one PR that grows with you</a:t>
            </a:r>
            <a:endParaRPr lang="en-US" sz="3600" dirty="0"/>
          </a:p>
        </p:txBody>
      </p:sp>
      <p:sp>
        <p:nvSpPr>
          <p:cNvPr id="3" name="Shape 1"/>
          <p:cNvSpPr/>
          <p:nvPr/>
        </p:nvSpPr>
        <p:spPr>
          <a:xfrm>
            <a:off x="819150" y="2017037"/>
            <a:ext cx="2253948" cy="2453973"/>
          </a:xfrm>
          <a:prstGeom prst="roundRect">
            <a:avLst>
              <a:gd name="adj" fmla="val 5353"/>
            </a:avLst>
          </a:prstGeom>
          <a:solidFill>
            <a:srgbClr val="FFFDF8"/>
          </a:solidFill>
          <a:ln w="12700">
            <a:solidFill>
              <a:srgbClr val="E2DDD2"/>
            </a:solidFill>
            <a:prstDash val="solid"/>
          </a:ln>
        </p:spPr>
      </p:sp>
      <p:sp>
        <p:nvSpPr>
          <p:cNvPr id="4" name="Text 2"/>
          <p:cNvSpPr/>
          <p:nvPr/>
        </p:nvSpPr>
        <p:spPr>
          <a:xfrm>
            <a:off x="1028095" y="2225979"/>
            <a:ext cx="1891139" cy="434332"/>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441B"/>
                </a:solidFill>
                <a:latin typeface="JetBrains Mono" pitchFamily="49" charset="0"/>
                <a:ea typeface="JetBrains Mono" pitchFamily="49" charset="-122"/>
                <a:cs typeface="JetBrains Mono" pitchFamily="49" charset="-120"/>
              </a:rPr>
              <a:t>01</a:t>
            </a:r>
            <a:endParaRPr lang="en-US" sz="2000" dirty="0"/>
          </a:p>
        </p:txBody>
      </p:sp>
      <p:sp>
        <p:nvSpPr>
          <p:cNvPr id="5" name="Text 3"/>
          <p:cNvSpPr/>
          <p:nvPr/>
        </p:nvSpPr>
        <p:spPr>
          <a:xfrm>
            <a:off x="1028095" y="2736509"/>
            <a:ext cx="1891139" cy="62124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E26"/>
                </a:solidFill>
                <a:latin typeface="Space Grotesk" pitchFamily="34" charset="0"/>
                <a:ea typeface="Space Grotesk" pitchFamily="34" charset="-122"/>
                <a:cs typeface="Space Grotesk" pitchFamily="34" charset="-120"/>
              </a:rPr>
              <a:t>You merge to main</a:t>
            </a:r>
            <a:endParaRPr lang="en-US" sz="1700" dirty="0"/>
          </a:p>
        </p:txBody>
      </p:sp>
      <p:sp>
        <p:nvSpPr>
          <p:cNvPr id="6" name="Text 4"/>
          <p:cNvSpPr/>
          <p:nvPr/>
        </p:nvSpPr>
        <p:spPr>
          <a:xfrm>
            <a:off x="1028095" y="3433955"/>
            <a:ext cx="1891139" cy="85350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D6270"/>
                </a:solidFill>
                <a:latin typeface="Space Grotesk" pitchFamily="34" charset="0"/>
                <a:ea typeface="Space Grotesk" pitchFamily="34" charset="-122"/>
                <a:cs typeface="Space Grotesk" pitchFamily="34" charset="-120"/>
              </a:rPr>
              <a:t>Normal PRs, with conventional commit messages.</a:t>
            </a:r>
            <a:endParaRPr lang="en-US" sz="1400" dirty="0"/>
          </a:p>
        </p:txBody>
      </p:sp>
      <p:pic>
        <p:nvPicPr>
          <p:cNvPr id="7" name="Image 0" descr="arrow-right">    </p:cNvPr>
          <p:cNvPicPr>
            <a:picLocks noChangeAspect="1"/>
          </p:cNvPicPr>
          <p:nvPr/>
        </p:nvPicPr>
        <p:blipFill>
          <a:blip r:embed="rId1"/>
          <a:srcRect l="0" r="0" t="0" b="0"/>
          <a:stretch/>
        </p:blipFill>
        <p:spPr>
          <a:xfrm>
            <a:off x="3181048" y="3155119"/>
            <a:ext cx="304800" cy="177800"/>
          </a:xfrm>
          <a:prstGeom prst="rect">
            <a:avLst/>
          </a:prstGeom>
        </p:spPr>
      </p:pic>
      <p:sp>
        <p:nvSpPr>
          <p:cNvPr id="8" name="Shape 5"/>
          <p:cNvSpPr/>
          <p:nvPr/>
        </p:nvSpPr>
        <p:spPr>
          <a:xfrm>
            <a:off x="3593798" y="1878998"/>
            <a:ext cx="2253948" cy="2730009"/>
          </a:xfrm>
          <a:prstGeom prst="roundRect">
            <a:avLst>
              <a:gd name="adj" fmla="val 5353"/>
            </a:avLst>
          </a:prstGeom>
          <a:solidFill>
            <a:srgbClr val="FFFDF8"/>
          </a:solidFill>
          <a:ln w="12700">
            <a:solidFill>
              <a:srgbClr val="E2DDD2"/>
            </a:solidFill>
            <a:prstDash val="solid"/>
          </a:ln>
        </p:spPr>
      </p:sp>
      <p:sp>
        <p:nvSpPr>
          <p:cNvPr id="9" name="Text 6"/>
          <p:cNvSpPr/>
          <p:nvPr/>
        </p:nvSpPr>
        <p:spPr>
          <a:xfrm>
            <a:off x="3802743" y="2087941"/>
            <a:ext cx="1891139" cy="434332"/>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441B"/>
                </a:solidFill>
                <a:latin typeface="JetBrains Mono" pitchFamily="49" charset="0"/>
                <a:ea typeface="JetBrains Mono" pitchFamily="49" charset="-122"/>
                <a:cs typeface="JetBrains Mono" pitchFamily="49" charset="-120"/>
              </a:rPr>
              <a:t>02</a:t>
            </a:r>
            <a:endParaRPr lang="en-US" sz="2000" dirty="0"/>
          </a:p>
        </p:txBody>
      </p:sp>
      <p:sp>
        <p:nvSpPr>
          <p:cNvPr id="10" name="Text 7"/>
          <p:cNvSpPr/>
          <p:nvPr/>
        </p:nvSpPr>
        <p:spPr>
          <a:xfrm>
            <a:off x="3802743" y="2598477"/>
            <a:ext cx="1891139" cy="62124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E26"/>
                </a:solidFill>
                <a:latin typeface="Space Grotesk" pitchFamily="34" charset="0"/>
                <a:ea typeface="Space Grotesk" pitchFamily="34" charset="-122"/>
                <a:cs typeface="Space Grotesk" pitchFamily="34" charset="-120"/>
              </a:rPr>
              <a:t>A release PR appears</a:t>
            </a:r>
            <a:endParaRPr lang="en-US" sz="1700" dirty="0"/>
          </a:p>
        </p:txBody>
      </p:sp>
      <p:sp>
        <p:nvSpPr>
          <p:cNvPr id="11" name="Text 8"/>
          <p:cNvSpPr/>
          <p:nvPr/>
        </p:nvSpPr>
        <p:spPr>
          <a:xfrm>
            <a:off x="3802743" y="3295917"/>
            <a:ext cx="1891139" cy="112954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D6270"/>
                </a:solidFill>
                <a:latin typeface="Space Grotesk" pitchFamily="34" charset="0"/>
                <a:ea typeface="Space Grotesk" pitchFamily="34" charset="-122"/>
                <a:cs typeface="Space Grotesk" pitchFamily="34" charset="-120"/>
              </a:rPr>
              <a:t>Next version and changelog. It updates on every merge.</a:t>
            </a:r>
            <a:endParaRPr lang="en-US" sz="1400" dirty="0"/>
          </a:p>
        </p:txBody>
      </p:sp>
      <p:pic>
        <p:nvPicPr>
          <p:cNvPr id="12" name="Image 1" descr="arrow-right">    </p:cNvPr>
          <p:cNvPicPr>
            <a:picLocks noChangeAspect="1"/>
          </p:cNvPicPr>
          <p:nvPr/>
        </p:nvPicPr>
        <p:blipFill>
          <a:blip r:embed="rId2"/>
          <a:srcRect l="0" r="0" t="0" b="0"/>
          <a:stretch/>
        </p:blipFill>
        <p:spPr>
          <a:xfrm>
            <a:off x="5955695" y="3155119"/>
            <a:ext cx="304800" cy="177800"/>
          </a:xfrm>
          <a:prstGeom prst="rect">
            <a:avLst/>
          </a:prstGeom>
        </p:spPr>
      </p:pic>
      <p:sp>
        <p:nvSpPr>
          <p:cNvPr id="13" name="Shape 9"/>
          <p:cNvSpPr/>
          <p:nvPr/>
        </p:nvSpPr>
        <p:spPr>
          <a:xfrm>
            <a:off x="6368445" y="1878998"/>
            <a:ext cx="2253948" cy="2730009"/>
          </a:xfrm>
          <a:prstGeom prst="roundRect">
            <a:avLst>
              <a:gd name="adj" fmla="val 5353"/>
            </a:avLst>
          </a:prstGeom>
          <a:solidFill>
            <a:srgbClr val="FFFDF8"/>
          </a:solidFill>
          <a:ln w="12700">
            <a:solidFill>
              <a:srgbClr val="E2DDD2"/>
            </a:solidFill>
            <a:prstDash val="solid"/>
          </a:ln>
        </p:spPr>
      </p:sp>
      <p:sp>
        <p:nvSpPr>
          <p:cNvPr id="14" name="Text 10"/>
          <p:cNvSpPr/>
          <p:nvPr/>
        </p:nvSpPr>
        <p:spPr>
          <a:xfrm>
            <a:off x="6577391" y="2087941"/>
            <a:ext cx="1891139" cy="434332"/>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441B"/>
                </a:solidFill>
                <a:latin typeface="JetBrains Mono" pitchFamily="49" charset="0"/>
                <a:ea typeface="JetBrains Mono" pitchFamily="49" charset="-122"/>
                <a:cs typeface="JetBrains Mono" pitchFamily="49" charset="-120"/>
              </a:rPr>
              <a:t>03</a:t>
            </a:r>
            <a:endParaRPr lang="en-US" sz="2000" dirty="0"/>
          </a:p>
        </p:txBody>
      </p:sp>
      <p:sp>
        <p:nvSpPr>
          <p:cNvPr id="15" name="Text 11"/>
          <p:cNvSpPr/>
          <p:nvPr/>
        </p:nvSpPr>
        <p:spPr>
          <a:xfrm>
            <a:off x="6577391" y="2598477"/>
            <a:ext cx="1891139" cy="62124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E26"/>
                </a:solidFill>
                <a:latin typeface="Space Grotesk" pitchFamily="34" charset="0"/>
                <a:ea typeface="Space Grotesk" pitchFamily="34" charset="-122"/>
                <a:cs typeface="Space Grotesk" pitchFamily="34" charset="-120"/>
              </a:rPr>
              <a:t>You merge the release PR</a:t>
            </a:r>
            <a:endParaRPr lang="en-US" sz="1700" dirty="0"/>
          </a:p>
        </p:txBody>
      </p:sp>
      <p:sp>
        <p:nvSpPr>
          <p:cNvPr id="16" name="Text 12"/>
          <p:cNvSpPr/>
          <p:nvPr/>
        </p:nvSpPr>
        <p:spPr>
          <a:xfrm>
            <a:off x="6577391" y="3295917"/>
            <a:ext cx="1891139" cy="112954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D6270"/>
                </a:solidFill>
                <a:latin typeface="Space Grotesk" pitchFamily="34" charset="0"/>
                <a:ea typeface="Space Grotesk" pitchFamily="34" charset="-122"/>
                <a:cs typeface="Space Grotesk" pitchFamily="34" charset="-120"/>
              </a:rPr>
              <a:t>Whenever you are ready to ship. That is the only button.</a:t>
            </a:r>
            <a:endParaRPr lang="en-US" sz="1400" dirty="0"/>
          </a:p>
        </p:txBody>
      </p:sp>
      <p:pic>
        <p:nvPicPr>
          <p:cNvPr id="17" name="Image 2" descr="arrow-right">    </p:cNvPr>
          <p:cNvPicPr>
            <a:picLocks noChangeAspect="1"/>
          </p:cNvPicPr>
          <p:nvPr/>
        </p:nvPicPr>
        <p:blipFill>
          <a:blip r:embed="rId3"/>
          <a:srcRect l="0" r="0" t="0" b="0"/>
          <a:stretch/>
        </p:blipFill>
        <p:spPr>
          <a:xfrm>
            <a:off x="8730343" y="3155119"/>
            <a:ext cx="304800" cy="177800"/>
          </a:xfrm>
          <a:prstGeom prst="rect">
            <a:avLst/>
          </a:prstGeom>
        </p:spPr>
      </p:pic>
      <p:sp>
        <p:nvSpPr>
          <p:cNvPr id="18" name="Shape 13"/>
          <p:cNvSpPr/>
          <p:nvPr/>
        </p:nvSpPr>
        <p:spPr>
          <a:xfrm>
            <a:off x="9136743" y="1746740"/>
            <a:ext cx="2242457" cy="2994554"/>
          </a:xfrm>
          <a:prstGeom prst="roundRect">
            <a:avLst>
              <a:gd name="adj" fmla="val 5663"/>
            </a:avLst>
          </a:prstGeom>
          <a:solidFill>
            <a:srgbClr val="15181F"/>
          </a:solidFill>
          <a:ln/>
        </p:spPr>
      </p:sp>
      <p:sp>
        <p:nvSpPr>
          <p:cNvPr id="19" name="Text 14"/>
          <p:cNvSpPr/>
          <p:nvPr/>
        </p:nvSpPr>
        <p:spPr>
          <a:xfrm>
            <a:off x="9339943" y="1949940"/>
            <a:ext cx="1891139" cy="434332"/>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A5C"/>
                </a:solidFill>
                <a:latin typeface="JetBrains Mono" pitchFamily="49" charset="0"/>
                <a:ea typeface="JetBrains Mono" pitchFamily="49" charset="-122"/>
                <a:cs typeface="JetBrains Mono" pitchFamily="49" charset="-120"/>
              </a:rPr>
              <a:t>04</a:t>
            </a:r>
            <a:endParaRPr lang="en-US" sz="2000" dirty="0"/>
          </a:p>
        </p:txBody>
      </p:sp>
      <p:sp>
        <p:nvSpPr>
          <p:cNvPr id="20" name="Text 15"/>
          <p:cNvSpPr/>
          <p:nvPr/>
        </p:nvSpPr>
        <p:spPr>
          <a:xfrm>
            <a:off x="9339943" y="2460476"/>
            <a:ext cx="1891139" cy="62124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3EC"/>
                </a:solidFill>
                <a:latin typeface="Space Grotesk" pitchFamily="34" charset="0"/>
                <a:ea typeface="Space Grotesk" pitchFamily="34" charset="-122"/>
                <a:cs typeface="Space Grotesk" pitchFamily="34" charset="-120"/>
              </a:rPr>
              <a:t>The release is created</a:t>
            </a:r>
            <a:endParaRPr lang="en-US" sz="1700" dirty="0"/>
          </a:p>
        </p:txBody>
      </p:sp>
      <p:sp>
        <p:nvSpPr>
          <p:cNvPr id="21" name="Text 16"/>
          <p:cNvSpPr/>
          <p:nvPr/>
        </p:nvSpPr>
        <p:spPr>
          <a:xfrm>
            <a:off x="9339943" y="3157916"/>
            <a:ext cx="1891139" cy="140558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9B6"/>
                </a:solidFill>
                <a:latin typeface="Space Grotesk" pitchFamily="34" charset="0"/>
                <a:ea typeface="Space Grotesk" pitchFamily="34" charset="-122"/>
                <a:cs typeface="Space Grotesk" pitchFamily="34" charset="-120"/>
              </a:rPr>
              <a:t>Git tag plus GitHub Release with notes. Publish jobs can run next.</a:t>
            </a:r>
            <a:endParaRPr lang="en-US" sz="1400" dirty="0"/>
          </a:p>
        </p:txBody>
      </p:sp>
      <p:sp>
        <p:nvSpPr>
          <p:cNvPr id="22" name="Text 17"/>
          <p:cNvSpPr/>
          <p:nvPr/>
        </p:nvSpPr>
        <p:spPr>
          <a:xfrm>
            <a:off x="812800" y="5096898"/>
            <a:ext cx="10883392" cy="380282"/>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1E26"/>
                </a:solidFill>
                <a:latin typeface="Space Grotesk" pitchFamily="34" charset="0"/>
                <a:ea typeface="Space Grotesk" pitchFamily="34" charset="-122"/>
                <a:cs typeface="Space Grotesk" pitchFamily="34" charset="-120"/>
              </a:rPr>
              <a:t>You</a:t>
            </a:r>
            <a:r>
              <a:rPr lang="en-US" sz="1800" dirty="0">
                <a:solidFill>
                  <a:srgbClr val="1B1E26"/>
                </a:solidFill>
                <a:latin typeface="Space Grotesk" pitchFamily="34" charset="0"/>
                <a:ea typeface="Space Grotesk" pitchFamily="34" charset="-122"/>
                <a:cs typeface="Space Grotesk" pitchFamily="34" charset="-120"/>
              </a:rPr>
              <a:t> decide </a:t>
            </a:r>
            <a:r>
              <a:rPr lang="en-US" sz="1800" i="1" dirty="0">
                <a:solidFill>
                  <a:srgbClr val="1B1E26"/>
                </a:solidFill>
                <a:latin typeface="Space Grotesk" pitchFamily="34" charset="0"/>
                <a:ea typeface="Space Grotesk" pitchFamily="34" charset="-122"/>
                <a:cs typeface="Space Grotesk" pitchFamily="34" charset="-120"/>
              </a:rPr>
              <a:t>when</a:t>
            </a:r>
            <a:r>
              <a:rPr lang="en-US" sz="1800" dirty="0">
                <a:solidFill>
                  <a:srgbClr val="1B1E26"/>
                </a:solidFill>
                <a:latin typeface="Space Grotesk" pitchFamily="34" charset="0"/>
                <a:ea typeface="Space Grotesk" pitchFamily="34" charset="-122"/>
                <a:cs typeface="Space Grotesk" pitchFamily="34" charset="-120"/>
              </a:rPr>
              <a:t> to release. </a:t>
            </a:r>
            <a:r>
              <a:rPr lang="en-US" sz="1800" b="1" dirty="0">
                <a:solidFill>
                  <a:srgbClr val="1B1E26"/>
                </a:solidFill>
                <a:latin typeface="Space Grotesk" pitchFamily="34" charset="0"/>
                <a:ea typeface="Space Grotesk" pitchFamily="34" charset="-122"/>
                <a:cs typeface="Space Grotesk" pitchFamily="34" charset="-120"/>
              </a:rPr>
              <a:t>Release Please</a:t>
            </a:r>
            <a:r>
              <a:rPr lang="en-US" sz="1800" dirty="0">
                <a:solidFill>
                  <a:srgbClr val="1B1E26"/>
                </a:solidFill>
                <a:latin typeface="Space Grotesk" pitchFamily="34" charset="0"/>
                <a:ea typeface="Space Grotesk" pitchFamily="34" charset="-122"/>
                <a:cs typeface="Space Grotesk" pitchFamily="34" charset="-120"/>
              </a:rPr>
              <a:t> decides </a:t>
            </a:r>
            <a:r>
              <a:rPr lang="en-US" sz="1800" i="1" dirty="0">
                <a:solidFill>
                  <a:srgbClr val="1B1E26"/>
                </a:solidFill>
                <a:latin typeface="Space Grotesk" pitchFamily="34" charset="0"/>
                <a:ea typeface="Space Grotesk" pitchFamily="34" charset="-122"/>
                <a:cs typeface="Space Grotesk" pitchFamily="34" charset="-120"/>
              </a:rPr>
              <a:t>what</a:t>
            </a:r>
            <a:r>
              <a:rPr lang="en-US" sz="1800" dirty="0">
                <a:solidFill>
                  <a:srgbClr val="1B1E26"/>
                </a:solidFill>
                <a:latin typeface="Space Grotesk" pitchFamily="34" charset="0"/>
                <a:ea typeface="Space Grotesk" pitchFamily="34" charset="-122"/>
                <a:cs typeface="Space Grotesk" pitchFamily="34" charset="-120"/>
              </a:rPr>
              <a:t> the version is.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7D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037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B1E26"/>
                </a:solidFill>
                <a:latin typeface="Space Grotesk" pitchFamily="34" charset="0"/>
                <a:ea typeface="Space Grotesk" pitchFamily="34" charset="-122"/>
                <a:cs typeface="Space Grotesk" pitchFamily="34" charset="-120"/>
              </a:rPr>
              <a:t>What the release PR contains</a:t>
            </a:r>
            <a:endParaRPr lang="en-US" sz="3600" dirty="0"/>
          </a:p>
        </p:txBody>
      </p:sp>
      <p:sp>
        <p:nvSpPr>
          <p:cNvPr id="3" name="Shape 1"/>
          <p:cNvSpPr/>
          <p:nvPr/>
        </p:nvSpPr>
        <p:spPr>
          <a:xfrm>
            <a:off x="819150" y="1812510"/>
            <a:ext cx="5540111" cy="2907998"/>
          </a:xfrm>
          <a:prstGeom prst="roundRect">
            <a:avLst>
              <a:gd name="adj" fmla="val 4149"/>
            </a:avLst>
          </a:prstGeom>
          <a:solidFill>
            <a:srgbClr val="FFFDF8"/>
          </a:solidFill>
          <a:ln w="12700">
            <a:solidFill>
              <a:srgbClr val="D6CFC0"/>
            </a:solidFill>
            <a:prstDash val="solid"/>
          </a:ln>
        </p:spPr>
      </p:sp>
      <p:sp>
        <p:nvSpPr>
          <p:cNvPr id="4" name="Text 2"/>
          <p:cNvSpPr/>
          <p:nvPr/>
        </p:nvSpPr>
        <p:spPr>
          <a:xfrm>
            <a:off x="824895" y="1818258"/>
            <a:ext cx="5528620" cy="611490"/>
          </a:xfrm>
          <a:custGeom>
            <a:avLst/>
            <a:gdLst/>
            <a:ahLst/>
            <a:cxnLst/>
            <a:rect l="l" t="t" r="r" b="b"/>
            <a:pathLst>
              <a:path w="5528620" h="611490">
                <a:moveTo>
                  <a:pt x="0" y="114905"/>
                </a:moveTo>
                <a:arcTo hR="114905" wR="114905" stAng="10800000" swAng="5400000"/>
                <a:lnTo>
                  <a:pt x="5413715" y="0"/>
                </a:lnTo>
                <a:arcTo hR="114905" wR="114905" stAng="16200000" swAng="5400000"/>
                <a:lnTo>
                  <a:pt x="5528620" y="611490"/>
                </a:lnTo>
                <a:lnTo>
                  <a:pt x="0" y="611490"/>
                </a:lnTo>
                <a:close/>
              </a:path>
            </a:pathLst>
          </a:custGeom>
          <a:solidFill>
            <a:srgbClr val="15181F"/>
          </a:solidFill>
          <a:ln/>
        </p:spPr>
        <p:txBody>
          <a:bodyPr wrap="square" lIns="228600" tIns="152400" rIns="228600" bIns="127000" rtlCol="0" anchor="t">
            <a:normAutofit/>
          </a:bodyPr>
          <a:lstStyle/>
          <a:p>
            <a:pPr algn="l" indent="0" marL="0">
              <a:lnSpc>
                <a:spcPts val="2100"/>
              </a:lnSpc>
              <a:buNone/>
            </a:pPr>
            <a:r>
              <a:rPr lang="en-US" sz="1500" dirty="0">
                <a:solidFill>
                  <a:srgbClr val="F6F3EC"/>
                </a:solidFill>
                <a:latin typeface="JetBrains Mono" pitchFamily="49" charset="0"/>
                <a:ea typeface="JetBrains Mono" pitchFamily="49" charset="-122"/>
                <a:cs typeface="JetBrains Mono" pitchFamily="49" charset="-120"/>
              </a:rPr>
              <a:t>chore(main): release </a:t>
            </a:r>
            <a:r>
              <a:rPr lang="en-US" sz="1500" dirty="0">
                <a:solidFill>
                  <a:srgbClr val="FF8A5C"/>
                </a:solidFill>
                <a:latin typeface="JetBrains Mono" pitchFamily="49" charset="0"/>
                <a:ea typeface="JetBrains Mono" pitchFamily="49" charset="-122"/>
                <a:cs typeface="JetBrains Mono" pitchFamily="49" charset="-120"/>
              </a:rPr>
              <a:t>2.5.0</a:t>
            </a:r>
            <a:endParaRPr lang="en-US" sz="1500" dirty="0"/>
          </a:p>
        </p:txBody>
      </p:sp>
      <p:sp>
        <p:nvSpPr>
          <p:cNvPr id="5" name="Text 3"/>
          <p:cNvSpPr/>
          <p:nvPr/>
        </p:nvSpPr>
        <p:spPr>
          <a:xfrm>
            <a:off x="1053495" y="2658343"/>
            <a:ext cx="5223563"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E26"/>
                </a:solidFill>
                <a:latin typeface="JetBrains Mono" pitchFamily="49" charset="0"/>
                <a:ea typeface="JetBrains Mono" pitchFamily="49" charset="-122"/>
                <a:cs typeface="JetBrains Mono" pitchFamily="49" charset="-120"/>
              </a:rPr>
              <a:t>## 2.5.0 (2026-10-29)</a:t>
            </a:r>
            <a:endParaRPr lang="en-US" sz="1600" dirty="0"/>
          </a:p>
        </p:txBody>
      </p:sp>
      <p:sp>
        <p:nvSpPr>
          <p:cNvPr id="6" name="Text 4"/>
          <p:cNvSpPr/>
          <p:nvPr/>
        </p:nvSpPr>
        <p:spPr>
          <a:xfrm>
            <a:off x="1053495" y="3074349"/>
            <a:ext cx="5223563"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41B"/>
                </a:solidFill>
                <a:latin typeface="JetBrains Mono" pitchFamily="49" charset="0"/>
                <a:ea typeface="JetBrains Mono" pitchFamily="49" charset="-122"/>
                <a:cs typeface="JetBrains Mono" pitchFamily="49" charset="-120"/>
              </a:rPr>
              <a:t>### Features</a:t>
            </a:r>
            <a:endParaRPr lang="en-US" sz="1400" dirty="0"/>
          </a:p>
        </p:txBody>
      </p:sp>
      <p:sp>
        <p:nvSpPr>
          <p:cNvPr id="7" name="Text 5"/>
          <p:cNvSpPr/>
          <p:nvPr/>
        </p:nvSpPr>
        <p:spPr>
          <a:xfrm>
            <a:off x="1053495" y="3449526"/>
            <a:ext cx="5223563"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 reports: export to CSV</a:t>
            </a:r>
            <a:endParaRPr lang="en-US" sz="1400" dirty="0"/>
          </a:p>
        </p:txBody>
      </p:sp>
      <p:sp>
        <p:nvSpPr>
          <p:cNvPr id="8" name="Text 6"/>
          <p:cNvSpPr/>
          <p:nvPr/>
        </p:nvSpPr>
        <p:spPr>
          <a:xfrm>
            <a:off x="1053495" y="3824703"/>
            <a:ext cx="5223563"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2B0"/>
                </a:solidFill>
                <a:latin typeface="JetBrains Mono" pitchFamily="49" charset="0"/>
                <a:ea typeface="JetBrains Mono" pitchFamily="49" charset="-122"/>
                <a:cs typeface="JetBrains Mono" pitchFamily="49" charset="-120"/>
              </a:rPr>
              <a:t>### Bug Fixes</a:t>
            </a:r>
            <a:endParaRPr lang="en-US" sz="1400" dirty="0"/>
          </a:p>
        </p:txBody>
      </p:sp>
      <p:sp>
        <p:nvSpPr>
          <p:cNvPr id="9" name="Text 7"/>
          <p:cNvSpPr/>
          <p:nvPr/>
        </p:nvSpPr>
        <p:spPr>
          <a:xfrm>
            <a:off x="1053495" y="4199886"/>
            <a:ext cx="5223563"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E26"/>
                </a:solidFill>
                <a:latin typeface="JetBrains Mono" pitchFamily="49" charset="0"/>
                <a:ea typeface="JetBrains Mono" pitchFamily="49" charset="-122"/>
                <a:cs typeface="JetBrains Mono" pitchFamily="49" charset="-120"/>
              </a:rPr>
              <a:t>* cart: stop double charge on retry</a:t>
            </a:r>
            <a:endParaRPr lang="en-US" sz="1400" dirty="0"/>
          </a:p>
        </p:txBody>
      </p:sp>
      <p:sp>
        <p:nvSpPr>
          <p:cNvPr id="10" name="Text 8"/>
          <p:cNvSpPr/>
          <p:nvPr/>
        </p:nvSpPr>
        <p:spPr>
          <a:xfrm>
            <a:off x="6772011" y="1746740"/>
            <a:ext cx="4745405" cy="35839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B1E26"/>
                </a:solidFill>
                <a:latin typeface="Space Grotesk" pitchFamily="34" charset="0"/>
                <a:ea typeface="Space Grotesk" pitchFamily="34" charset="-122"/>
                <a:cs typeface="Space Grotesk" pitchFamily="34" charset="-120"/>
              </a:rPr>
              <a:t>A new version number</a:t>
            </a:r>
            <a:endParaRPr lang="en-US" sz="1900" dirty="0"/>
          </a:p>
        </p:txBody>
      </p:sp>
      <p:sp>
        <p:nvSpPr>
          <p:cNvPr id="11" name="Text 9"/>
          <p:cNvSpPr/>
          <p:nvPr/>
        </p:nvSpPr>
        <p:spPr>
          <a:xfrm>
            <a:off x="6772011" y="2130543"/>
            <a:ext cx="4745405"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D6270"/>
                </a:solidFill>
                <a:latin typeface="Space Grotesk" pitchFamily="34" charset="0"/>
                <a:ea typeface="Space Grotesk" pitchFamily="34" charset="-122"/>
                <a:cs typeface="Space Grotesk" pitchFamily="34" charset="-120"/>
              </a:rPr>
              <a:t>Bumped in your files, like package.json or version.txt.</a:t>
            </a:r>
            <a:endParaRPr lang="en-US" sz="1400" dirty="0"/>
          </a:p>
        </p:txBody>
      </p:sp>
      <p:sp>
        <p:nvSpPr>
          <p:cNvPr id="12" name="Text 10"/>
          <p:cNvSpPr/>
          <p:nvPr/>
        </p:nvSpPr>
        <p:spPr>
          <a:xfrm>
            <a:off x="6772011" y="2936615"/>
            <a:ext cx="4745405" cy="35839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B1E26"/>
                </a:solidFill>
                <a:latin typeface="Space Grotesk" pitchFamily="34" charset="0"/>
                <a:ea typeface="Space Grotesk" pitchFamily="34" charset="-122"/>
                <a:cs typeface="Space Grotesk" pitchFamily="34" charset="-120"/>
              </a:rPr>
              <a:t>An updated CHANGELOG.md</a:t>
            </a:r>
            <a:endParaRPr lang="en-US" sz="1900" dirty="0"/>
          </a:p>
        </p:txBody>
      </p:sp>
      <p:sp>
        <p:nvSpPr>
          <p:cNvPr id="13" name="Text 11"/>
          <p:cNvSpPr/>
          <p:nvPr/>
        </p:nvSpPr>
        <p:spPr>
          <a:xfrm>
            <a:off x="6772011" y="3320411"/>
            <a:ext cx="4745405"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D6270"/>
                </a:solidFill>
                <a:latin typeface="Space Grotesk" pitchFamily="34" charset="0"/>
                <a:ea typeface="Space Grotesk" pitchFamily="34" charset="-122"/>
                <a:cs typeface="Space Grotesk" pitchFamily="34" charset="-120"/>
              </a:rPr>
              <a:t>Grouped by type, built straight from commit messages.</a:t>
            </a:r>
            <a:endParaRPr lang="en-US" sz="1400" dirty="0"/>
          </a:p>
        </p:txBody>
      </p:sp>
      <p:sp>
        <p:nvSpPr>
          <p:cNvPr id="14" name="Text 12"/>
          <p:cNvSpPr/>
          <p:nvPr/>
        </p:nvSpPr>
        <p:spPr>
          <a:xfrm>
            <a:off x="6772011" y="4126483"/>
            <a:ext cx="4745405" cy="35839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B1E26"/>
                </a:solidFill>
                <a:latin typeface="Space Grotesk" pitchFamily="34" charset="0"/>
                <a:ea typeface="Space Grotesk" pitchFamily="34" charset="-122"/>
                <a:cs typeface="Space Grotesk" pitchFamily="34" charset="-120"/>
              </a:rPr>
              <a:t>Nothing ships yet</a:t>
            </a:r>
            <a:endParaRPr lang="en-US" sz="1900" dirty="0"/>
          </a:p>
        </p:txBody>
      </p:sp>
      <p:sp>
        <p:nvSpPr>
          <p:cNvPr id="15" name="Text 13"/>
          <p:cNvSpPr/>
          <p:nvPr/>
        </p:nvSpPr>
        <p:spPr>
          <a:xfrm>
            <a:off x="6772011" y="4510280"/>
            <a:ext cx="4745405" cy="30143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D6270"/>
                </a:solidFill>
                <a:latin typeface="Space Grotesk" pitchFamily="34" charset="0"/>
                <a:ea typeface="Space Grotesk" pitchFamily="34" charset="-122"/>
                <a:cs typeface="Space Grotesk" pitchFamily="34" charset="-120"/>
              </a:rPr>
              <a:t>It is just a PR. Review it, wait, or merge it.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18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38163"/>
          </a:xfrm>
          <a:prstGeom prst="rect">
            <a:avLst/>
          </a:prstGeom>
          <a:noFill/>
          <a:ln/>
        </p:spPr>
        <p:txBody>
          <a:bodyPr wrap="square" lIns="0" tIns="0" rIns="0" bIns="0" rtlCol="0" anchor="t">
            <a:normAutofit/>
          </a:bodyPr>
          <a:lstStyle/>
          <a:p>
            <a:pPr algn="l" indent="0" marL="0">
              <a:lnSpc>
                <a:spcPts val="3539"/>
              </a:lnSpc>
              <a:buNone/>
            </a:pPr>
            <a:r>
              <a:rPr lang="en-US" sz="3218" b="1" i="0" spc="-50" kern="0" dirty="0">
                <a:solidFill>
                  <a:srgbClr val="F6F3EC"/>
                </a:solidFill>
                <a:latin typeface="Space Grotesk" pitchFamily="34" charset="0"/>
                <a:ea typeface="Space Grotesk" pitchFamily="34" charset="-122"/>
                <a:cs typeface="Space Grotesk" pitchFamily="34" charset="-120"/>
              </a:rPr>
              <a:t>Setup: one workflow file</a:t>
            </a:r>
            <a:endParaRPr lang="en-US" sz="3218" dirty="0"/>
          </a:p>
        </p:txBody>
      </p:sp>
      <p:sp>
        <p:nvSpPr>
          <p:cNvPr id="3" name="Text 1"/>
          <p:cNvSpPr/>
          <p:nvPr/>
        </p:nvSpPr>
        <p:spPr>
          <a:xfrm>
            <a:off x="819150" y="1354404"/>
            <a:ext cx="6178059" cy="4966758"/>
          </a:xfrm>
          <a:prstGeom prst="roundRect">
            <a:avLst>
              <a:gd name="adj" fmla="val 2429"/>
            </a:avLst>
          </a:prstGeom>
          <a:solidFill>
            <a:srgbClr val="0D0F14"/>
          </a:solidFill>
          <a:ln w="12700">
            <a:solidFill>
              <a:srgbClr val="2A2F3A"/>
            </a:solidFill>
            <a:prstDash val="solid"/>
          </a:ln>
        </p:spPr>
        <p:txBody>
          <a:bodyPr wrap="square" lIns="275208" tIns="224408" rIns="108499" bIns="199008" rtlCol="0" anchor="t">
            <a:normAutofit/>
          </a:bodyPr>
          <a:lstStyle/>
          <a:p>
            <a:pPr algn="l" indent="0" marL="0">
              <a:lnSpc>
                <a:spcPts val="2030"/>
              </a:lnSpc>
              <a:buNone/>
            </a:pPr>
            <a:r>
              <a:rPr lang="en-US" sz="1400" dirty="0">
                <a:solidFill>
                  <a:srgbClr val="A3A9B6"/>
                </a:solidFill>
                <a:latin typeface="JetBrains Mono" pitchFamily="49" charset="0"/>
                <a:ea typeface="JetBrains Mono" pitchFamily="49" charset="-122"/>
                <a:cs typeface="JetBrains Mono" pitchFamily="49" charset="-120"/>
              </a:rPr>
              <a:t># .github/workflows/release-please.yml</a:t>
            </a:r>
            <a:endParaRPr lang="en-US" sz="1400" dirty="0"/>
          </a:p>
          <a:p>
            <a:pPr algn="l" indent="0" marL="0">
              <a:lnSpc>
                <a:spcPts val="2030"/>
              </a:lnSpc>
              <a:buNone/>
            </a:pPr>
            <a:r>
              <a:rPr lang="en-US" sz="1400" dirty="0">
                <a:solidFill>
                  <a:srgbClr val="7FB0FF"/>
                </a:solidFill>
                <a:latin typeface="JetBrains Mono" pitchFamily="49" charset="0"/>
                <a:ea typeface="JetBrains Mono" pitchFamily="49" charset="-122"/>
                <a:cs typeface="JetBrains Mono" pitchFamily="49" charset="-120"/>
              </a:rPr>
              <a:t>on</a:t>
            </a:r>
            <a:r>
              <a:rPr lang="en-US" sz="1400" dirty="0">
                <a:solidFill>
                  <a:srgbClr val="E6E2D8"/>
                </a:solidFill>
                <a:latin typeface="JetBrains Mono" pitchFamily="49" charset="0"/>
                <a:ea typeface="JetBrains Mono" pitchFamily="49" charset="-122"/>
                <a:cs typeface="JetBrains Mono" pitchFamily="49" charset="-120"/>
              </a:rPr>
              <a:t>:</a:t>
            </a:r>
            <a:endParaRPr lang="en-US" sz="1400" dirty="0"/>
          </a:p>
          <a:p>
            <a:pPr algn="l" indent="0" marL="0">
              <a:lnSpc>
                <a:spcPts val="2030"/>
              </a:lnSpc>
              <a:buNone/>
            </a:pPr>
            <a:r>
              <a:rPr lang="en-US" sz="1400" dirty="0">
                <a:solidFill>
                  <a:srgbClr val="E6E2D8"/>
                </a:solidFill>
                <a:latin typeface="JetBrains Mono" pitchFamily="49" charset="0"/>
                <a:ea typeface="JetBrains Mono" pitchFamily="49" charset="-122"/>
                <a:cs typeface="JetBrains Mono" pitchFamily="49" charset="-120"/>
              </a:rPr>
              <a:t>  </a:t>
            </a:r>
            <a:r>
              <a:rPr lang="en-US" sz="1400" dirty="0">
                <a:solidFill>
                  <a:srgbClr val="7FB0FF"/>
                </a:solidFill>
                <a:latin typeface="JetBrains Mono" pitchFamily="49" charset="0"/>
                <a:ea typeface="JetBrains Mono" pitchFamily="49" charset="-122"/>
                <a:cs typeface="JetBrains Mono" pitchFamily="49" charset="-120"/>
              </a:rPr>
              <a:t>push</a:t>
            </a:r>
            <a:r>
              <a:rPr lang="en-US" sz="1400" dirty="0">
                <a:solidFill>
                  <a:srgbClr val="E6E2D8"/>
                </a:solidFill>
                <a:latin typeface="JetBrains Mono" pitchFamily="49" charset="0"/>
                <a:ea typeface="JetBrains Mono" pitchFamily="49" charset="-122"/>
                <a:cs typeface="JetBrains Mono" pitchFamily="49" charset="-120"/>
              </a:rPr>
              <a:t>:</a:t>
            </a:r>
            <a:endParaRPr lang="en-US" sz="1400" dirty="0"/>
          </a:p>
          <a:p>
            <a:pPr algn="l" indent="0" marL="0">
              <a:lnSpc>
                <a:spcPts val="2030"/>
              </a:lnSpc>
              <a:buNone/>
            </a:pPr>
            <a:r>
              <a:rPr lang="en-US" sz="1400" dirty="0">
                <a:solidFill>
                  <a:srgbClr val="E6E2D8"/>
                </a:solidFill>
                <a:latin typeface="JetBrains Mono" pitchFamily="49" charset="0"/>
                <a:ea typeface="JetBrains Mono" pitchFamily="49" charset="-122"/>
                <a:cs typeface="JetBrains Mono" pitchFamily="49" charset="-120"/>
              </a:rPr>
              <a:t>    </a:t>
            </a:r>
            <a:r>
              <a:rPr lang="en-US" sz="1400" dirty="0">
                <a:solidFill>
                  <a:srgbClr val="7FB0FF"/>
                </a:solidFill>
                <a:latin typeface="JetBrains Mono" pitchFamily="49" charset="0"/>
                <a:ea typeface="JetBrains Mono" pitchFamily="49" charset="-122"/>
                <a:cs typeface="JetBrains Mono" pitchFamily="49" charset="-120"/>
              </a:rPr>
              <a:t>branches</a:t>
            </a:r>
            <a:r>
              <a:rPr lang="en-US" sz="1400" dirty="0">
                <a:solidFill>
                  <a:srgbClr val="E6E2D8"/>
                </a:solidFill>
                <a:latin typeface="JetBrains Mono" pitchFamily="49" charset="0"/>
                <a:ea typeface="JetBrains Mono" pitchFamily="49" charset="-122"/>
                <a:cs typeface="JetBrains Mono" pitchFamily="49" charset="-120"/>
              </a:rPr>
              <a:t>: [main]</a:t>
            </a:r>
            <a:endParaRPr lang="en-US" sz="1400" dirty="0"/>
          </a:p>
          <a:p>
            <a:pPr algn="l" indent="0" marL="0">
              <a:lnSpc>
                <a:spcPts val="2030"/>
              </a:lnSpc>
              <a:buNone/>
            </a:pPr>
            <a:r>
              <a:rPr lang="en-US" sz="1400" dirty="0">
                <a:solidFill>
                  <a:srgbClr val="7FB0FF"/>
                </a:solidFill>
                <a:latin typeface="JetBrains Mono" pitchFamily="49" charset="0"/>
                <a:ea typeface="JetBrains Mono" pitchFamily="49" charset="-122"/>
                <a:cs typeface="JetBrains Mono" pitchFamily="49" charset="-120"/>
              </a:rPr>
              <a:t>permissions</a:t>
            </a:r>
            <a:r>
              <a:rPr lang="en-US" sz="1400" dirty="0">
                <a:solidFill>
                  <a:srgbClr val="E6E2D8"/>
                </a:solidFill>
                <a:latin typeface="JetBrains Mono" pitchFamily="49" charset="0"/>
                <a:ea typeface="JetBrains Mono" pitchFamily="49" charset="-122"/>
                <a:cs typeface="JetBrains Mono" pitchFamily="49" charset="-120"/>
              </a:rPr>
              <a:t>:</a:t>
            </a:r>
            <a:endParaRPr lang="en-US" sz="1400" dirty="0"/>
          </a:p>
          <a:p>
            <a:pPr algn="l" indent="0" marL="0">
              <a:lnSpc>
                <a:spcPts val="2030"/>
              </a:lnSpc>
              <a:buNone/>
            </a:pPr>
            <a:r>
              <a:rPr lang="en-US" sz="1400" dirty="0">
                <a:solidFill>
                  <a:srgbClr val="E6E2D8"/>
                </a:solidFill>
                <a:latin typeface="JetBrains Mono" pitchFamily="49" charset="0"/>
                <a:ea typeface="JetBrains Mono" pitchFamily="49" charset="-122"/>
                <a:cs typeface="JetBrains Mono" pitchFamily="49" charset="-120"/>
              </a:rPr>
              <a:t>  </a:t>
            </a:r>
            <a:r>
              <a:rPr lang="en-US" sz="1400" dirty="0">
                <a:solidFill>
                  <a:srgbClr val="7FB0FF"/>
                </a:solidFill>
                <a:latin typeface="JetBrains Mono" pitchFamily="49" charset="0"/>
                <a:ea typeface="JetBrains Mono" pitchFamily="49" charset="-122"/>
                <a:cs typeface="JetBrains Mono" pitchFamily="49" charset="-120"/>
              </a:rPr>
              <a:t>contents</a:t>
            </a:r>
            <a:r>
              <a:rPr lang="en-US" sz="1400" dirty="0">
                <a:solidFill>
                  <a:srgbClr val="E6E2D8"/>
                </a:solidFill>
                <a:latin typeface="JetBrains Mono" pitchFamily="49" charset="0"/>
                <a:ea typeface="JetBrains Mono" pitchFamily="49" charset="-122"/>
                <a:cs typeface="JetBrains Mono" pitchFamily="49" charset="-120"/>
              </a:rPr>
              <a:t>: write</a:t>
            </a:r>
            <a:endParaRPr lang="en-US" sz="1400" dirty="0"/>
          </a:p>
          <a:p>
            <a:pPr algn="l" indent="0" marL="0">
              <a:lnSpc>
                <a:spcPts val="2030"/>
              </a:lnSpc>
              <a:buNone/>
            </a:pPr>
            <a:r>
              <a:rPr lang="en-US" sz="1400" dirty="0">
                <a:solidFill>
                  <a:srgbClr val="E6E2D8"/>
                </a:solidFill>
                <a:latin typeface="JetBrains Mono" pitchFamily="49" charset="0"/>
                <a:ea typeface="JetBrains Mono" pitchFamily="49" charset="-122"/>
                <a:cs typeface="JetBrains Mono" pitchFamily="49" charset="-120"/>
              </a:rPr>
              <a:t>  </a:t>
            </a:r>
            <a:r>
              <a:rPr lang="en-US" sz="1400" dirty="0">
                <a:solidFill>
                  <a:srgbClr val="7FB0FF"/>
                </a:solidFill>
                <a:latin typeface="JetBrains Mono" pitchFamily="49" charset="0"/>
                <a:ea typeface="JetBrains Mono" pitchFamily="49" charset="-122"/>
                <a:cs typeface="JetBrains Mono" pitchFamily="49" charset="-120"/>
              </a:rPr>
              <a:t>pull-requests</a:t>
            </a:r>
            <a:r>
              <a:rPr lang="en-US" sz="1400" dirty="0">
                <a:solidFill>
                  <a:srgbClr val="E6E2D8"/>
                </a:solidFill>
                <a:latin typeface="JetBrains Mono" pitchFamily="49" charset="0"/>
                <a:ea typeface="JetBrains Mono" pitchFamily="49" charset="-122"/>
                <a:cs typeface="JetBrains Mono" pitchFamily="49" charset="-120"/>
              </a:rPr>
              <a:t>: write</a:t>
            </a:r>
            <a:endParaRPr lang="en-US" sz="1400" dirty="0"/>
          </a:p>
          <a:p>
            <a:pPr algn="l" indent="0" marL="0">
              <a:lnSpc>
                <a:spcPts val="2030"/>
              </a:lnSpc>
              <a:buNone/>
            </a:pPr>
            <a:r>
              <a:rPr lang="en-US" sz="1400" dirty="0">
                <a:solidFill>
                  <a:srgbClr val="7FB0FF"/>
                </a:solidFill>
                <a:latin typeface="JetBrains Mono" pitchFamily="49" charset="0"/>
                <a:ea typeface="JetBrains Mono" pitchFamily="49" charset="-122"/>
                <a:cs typeface="JetBrains Mono" pitchFamily="49" charset="-120"/>
              </a:rPr>
              <a:t>jobs</a:t>
            </a:r>
            <a:r>
              <a:rPr lang="en-US" sz="1400" dirty="0">
                <a:solidFill>
                  <a:srgbClr val="E6E2D8"/>
                </a:solidFill>
                <a:latin typeface="JetBrains Mono" pitchFamily="49" charset="0"/>
                <a:ea typeface="JetBrains Mono" pitchFamily="49" charset="-122"/>
                <a:cs typeface="JetBrains Mono" pitchFamily="49" charset="-120"/>
              </a:rPr>
              <a:t>:</a:t>
            </a:r>
            <a:endParaRPr lang="en-US" sz="1400" dirty="0"/>
          </a:p>
          <a:p>
            <a:pPr algn="l" indent="0" marL="0">
              <a:lnSpc>
                <a:spcPts val="2030"/>
              </a:lnSpc>
              <a:buNone/>
            </a:pPr>
            <a:r>
              <a:rPr lang="en-US" sz="1400" dirty="0">
                <a:solidFill>
                  <a:srgbClr val="E6E2D8"/>
                </a:solidFill>
                <a:latin typeface="JetBrains Mono" pitchFamily="49" charset="0"/>
                <a:ea typeface="JetBrains Mono" pitchFamily="49" charset="-122"/>
                <a:cs typeface="JetBrains Mono" pitchFamily="49" charset="-120"/>
              </a:rPr>
              <a:t>  </a:t>
            </a:r>
            <a:r>
              <a:rPr lang="en-US" sz="1400" dirty="0">
                <a:solidFill>
                  <a:srgbClr val="7FB0FF"/>
                </a:solidFill>
                <a:latin typeface="JetBrains Mono" pitchFamily="49" charset="0"/>
                <a:ea typeface="JetBrains Mono" pitchFamily="49" charset="-122"/>
                <a:cs typeface="JetBrains Mono" pitchFamily="49" charset="-120"/>
              </a:rPr>
              <a:t>release-please</a:t>
            </a:r>
            <a:r>
              <a:rPr lang="en-US" sz="1400" dirty="0">
                <a:solidFill>
                  <a:srgbClr val="E6E2D8"/>
                </a:solidFill>
                <a:latin typeface="JetBrains Mono" pitchFamily="49" charset="0"/>
                <a:ea typeface="JetBrains Mono" pitchFamily="49" charset="-122"/>
                <a:cs typeface="JetBrains Mono" pitchFamily="49" charset="-120"/>
              </a:rPr>
              <a:t>:</a:t>
            </a:r>
            <a:endParaRPr lang="en-US" sz="1400" dirty="0"/>
          </a:p>
          <a:p>
            <a:pPr algn="l" indent="0" marL="0">
              <a:lnSpc>
                <a:spcPts val="2030"/>
              </a:lnSpc>
              <a:buNone/>
            </a:pPr>
            <a:r>
              <a:rPr lang="en-US" sz="1400" dirty="0">
                <a:solidFill>
                  <a:srgbClr val="E6E2D8"/>
                </a:solidFill>
                <a:latin typeface="JetBrains Mono" pitchFamily="49" charset="0"/>
                <a:ea typeface="JetBrains Mono" pitchFamily="49" charset="-122"/>
                <a:cs typeface="JetBrains Mono" pitchFamily="49" charset="-120"/>
              </a:rPr>
              <a:t>    </a:t>
            </a:r>
            <a:r>
              <a:rPr lang="en-US" sz="1400" dirty="0">
                <a:solidFill>
                  <a:srgbClr val="7FB0FF"/>
                </a:solidFill>
                <a:latin typeface="JetBrains Mono" pitchFamily="49" charset="0"/>
                <a:ea typeface="JetBrains Mono" pitchFamily="49" charset="-122"/>
                <a:cs typeface="JetBrains Mono" pitchFamily="49" charset="-120"/>
              </a:rPr>
              <a:t>runs-on</a:t>
            </a:r>
            <a:r>
              <a:rPr lang="en-US" sz="1400" dirty="0">
                <a:solidFill>
                  <a:srgbClr val="E6E2D8"/>
                </a:solidFill>
                <a:latin typeface="JetBrains Mono" pitchFamily="49" charset="0"/>
                <a:ea typeface="JetBrains Mono" pitchFamily="49" charset="-122"/>
                <a:cs typeface="JetBrains Mono" pitchFamily="49" charset="-120"/>
              </a:rPr>
              <a:t>: ubuntu-latest</a:t>
            </a:r>
            <a:endParaRPr lang="en-US" sz="1400" dirty="0"/>
          </a:p>
          <a:p>
            <a:pPr algn="l" indent="0" marL="0">
              <a:lnSpc>
                <a:spcPts val="2030"/>
              </a:lnSpc>
              <a:buNone/>
            </a:pPr>
            <a:r>
              <a:rPr lang="en-US" sz="1400" dirty="0">
                <a:solidFill>
                  <a:srgbClr val="E6E2D8"/>
                </a:solidFill>
                <a:latin typeface="JetBrains Mono" pitchFamily="49" charset="0"/>
                <a:ea typeface="JetBrains Mono" pitchFamily="49" charset="-122"/>
                <a:cs typeface="JetBrains Mono" pitchFamily="49" charset="-120"/>
              </a:rPr>
              <a:t>    </a:t>
            </a:r>
            <a:r>
              <a:rPr lang="en-US" sz="1400" dirty="0">
                <a:solidFill>
                  <a:srgbClr val="7FB0FF"/>
                </a:solidFill>
                <a:latin typeface="JetBrains Mono" pitchFamily="49" charset="0"/>
                <a:ea typeface="JetBrains Mono" pitchFamily="49" charset="-122"/>
                <a:cs typeface="JetBrains Mono" pitchFamily="49" charset="-120"/>
              </a:rPr>
              <a:t>steps</a:t>
            </a:r>
            <a:r>
              <a:rPr lang="en-US" sz="1400" dirty="0">
                <a:solidFill>
                  <a:srgbClr val="E6E2D8"/>
                </a:solidFill>
                <a:latin typeface="JetBrains Mono" pitchFamily="49" charset="0"/>
                <a:ea typeface="JetBrains Mono" pitchFamily="49" charset="-122"/>
                <a:cs typeface="JetBrains Mono" pitchFamily="49" charset="-120"/>
              </a:rPr>
              <a:t>:</a:t>
            </a:r>
            <a:endParaRPr lang="en-US" sz="1400" dirty="0"/>
          </a:p>
          <a:p>
            <a:pPr algn="l" indent="0" marL="0">
              <a:lnSpc>
                <a:spcPts val="2030"/>
              </a:lnSpc>
              <a:buNone/>
            </a:pPr>
            <a:r>
              <a:rPr lang="en-US" sz="1400" dirty="0">
                <a:solidFill>
                  <a:srgbClr val="E6E2D8"/>
                </a:solidFill>
                <a:latin typeface="JetBrains Mono" pitchFamily="49" charset="0"/>
                <a:ea typeface="JetBrains Mono" pitchFamily="49" charset="-122"/>
                <a:cs typeface="JetBrains Mono" pitchFamily="49" charset="-120"/>
              </a:rPr>
              <a:t>      - </a:t>
            </a:r>
            <a:r>
              <a:rPr lang="en-US" sz="1400" dirty="0">
                <a:solidFill>
                  <a:srgbClr val="7FB0FF"/>
                </a:solidFill>
                <a:latin typeface="JetBrains Mono" pitchFamily="49" charset="0"/>
                <a:ea typeface="JetBrains Mono" pitchFamily="49" charset="-122"/>
                <a:cs typeface="JetBrains Mono" pitchFamily="49" charset="-120"/>
              </a:rPr>
              <a:t>uses</a:t>
            </a:r>
            <a:r>
              <a:rPr lang="en-US" sz="1400" dirty="0">
                <a:solidFill>
                  <a:srgbClr val="E6E2D8"/>
                </a:solidFill>
                <a:latin typeface="JetBrains Mono" pitchFamily="49" charset="0"/>
                <a:ea typeface="JetBrains Mono" pitchFamily="49" charset="-122"/>
                <a:cs typeface="JetBrains Mono" pitchFamily="49" charset="-120"/>
              </a:rPr>
              <a:t>: </a:t>
            </a:r>
            <a:r>
              <a:rPr lang="en-US" sz="1400" dirty="0">
                <a:solidFill>
                  <a:srgbClr val="FF8A5C"/>
                </a:solidFill>
                <a:latin typeface="JetBrains Mono" pitchFamily="49" charset="0"/>
                <a:ea typeface="JetBrains Mono" pitchFamily="49" charset="-122"/>
                <a:cs typeface="JetBrains Mono" pitchFamily="49" charset="-120"/>
              </a:rPr>
              <a:t>googleapis/release-please-action@v4</a:t>
            </a:r>
            <a:endParaRPr lang="en-US" sz="1400" dirty="0"/>
          </a:p>
          <a:p>
            <a:pPr algn="l" indent="0" marL="0">
              <a:lnSpc>
                <a:spcPts val="2030"/>
              </a:lnSpc>
              <a:buNone/>
            </a:pPr>
            <a:r>
              <a:rPr lang="en-US" sz="1400" dirty="0">
                <a:solidFill>
                  <a:srgbClr val="E6E2D8"/>
                </a:solidFill>
                <a:latin typeface="JetBrains Mono" pitchFamily="49" charset="0"/>
                <a:ea typeface="JetBrains Mono" pitchFamily="49" charset="-122"/>
                <a:cs typeface="JetBrains Mono" pitchFamily="49" charset="-120"/>
              </a:rPr>
              <a:t>        </a:t>
            </a:r>
            <a:r>
              <a:rPr lang="en-US" sz="1400" dirty="0">
                <a:solidFill>
                  <a:srgbClr val="7FB0FF"/>
                </a:solidFill>
                <a:latin typeface="JetBrains Mono" pitchFamily="49" charset="0"/>
                <a:ea typeface="JetBrains Mono" pitchFamily="49" charset="-122"/>
                <a:cs typeface="JetBrains Mono" pitchFamily="49" charset="-120"/>
              </a:rPr>
              <a:t>with</a:t>
            </a:r>
            <a:r>
              <a:rPr lang="en-US" sz="1400" dirty="0">
                <a:solidFill>
                  <a:srgbClr val="E6E2D8"/>
                </a:solidFill>
                <a:latin typeface="JetBrains Mono" pitchFamily="49" charset="0"/>
                <a:ea typeface="JetBrains Mono" pitchFamily="49" charset="-122"/>
                <a:cs typeface="JetBrains Mono" pitchFamily="49" charset="-120"/>
              </a:rPr>
              <a:t>:</a:t>
            </a:r>
            <a:endParaRPr lang="en-US" sz="1400" dirty="0"/>
          </a:p>
          <a:p>
            <a:pPr algn="l" indent="0" marL="0">
              <a:lnSpc>
                <a:spcPts val="2030"/>
              </a:lnSpc>
              <a:buNone/>
            </a:pPr>
            <a:r>
              <a:rPr lang="en-US" sz="1400" dirty="0">
                <a:solidFill>
                  <a:srgbClr val="E6E2D8"/>
                </a:solidFill>
                <a:latin typeface="JetBrains Mono" pitchFamily="49" charset="0"/>
                <a:ea typeface="JetBrains Mono" pitchFamily="49" charset="-122"/>
                <a:cs typeface="JetBrains Mono" pitchFamily="49" charset="-120"/>
              </a:rPr>
              <a:t>          </a:t>
            </a:r>
            <a:r>
              <a:rPr lang="en-US" sz="1400" dirty="0">
                <a:solidFill>
                  <a:srgbClr val="7FB0FF"/>
                </a:solidFill>
                <a:latin typeface="JetBrains Mono" pitchFamily="49" charset="0"/>
                <a:ea typeface="JetBrains Mono" pitchFamily="49" charset="-122"/>
                <a:cs typeface="JetBrains Mono" pitchFamily="49" charset="-120"/>
              </a:rPr>
              <a:t>release-type</a:t>
            </a:r>
            <a:r>
              <a:rPr lang="en-US" sz="1400" dirty="0">
                <a:solidFill>
                  <a:srgbClr val="E6E2D8"/>
                </a:solidFill>
                <a:latin typeface="JetBrains Mono" pitchFamily="49" charset="0"/>
                <a:ea typeface="JetBrains Mono" pitchFamily="49" charset="-122"/>
                <a:cs typeface="JetBrains Mono" pitchFamily="49" charset="-120"/>
              </a:rPr>
              <a:t>: node</a:t>
            </a:r>
            <a:endParaRPr lang="en-US" sz="1400" dirty="0"/>
          </a:p>
        </p:txBody>
      </p:sp>
      <p:sp>
        <p:nvSpPr>
          <p:cNvPr id="4" name="Text 2"/>
          <p:cNvSpPr/>
          <p:nvPr/>
        </p:nvSpPr>
        <p:spPr>
          <a:xfrm>
            <a:off x="7409959" y="2068252"/>
            <a:ext cx="4088319"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A5C"/>
                </a:solidFill>
                <a:latin typeface="Space Grotesk" pitchFamily="34" charset="0"/>
                <a:ea typeface="Space Grotesk" pitchFamily="34" charset="-122"/>
                <a:cs typeface="Space Grotesk" pitchFamily="34" charset="-120"/>
              </a:rPr>
              <a:t>Pick a release type</a:t>
            </a:r>
            <a:endParaRPr lang="en-US" sz="1800" dirty="0"/>
          </a:p>
        </p:txBody>
      </p:sp>
      <p:sp>
        <p:nvSpPr>
          <p:cNvPr id="5" name="Text 3"/>
          <p:cNvSpPr/>
          <p:nvPr/>
        </p:nvSpPr>
        <p:spPr>
          <a:xfrm>
            <a:off x="7409959" y="2434506"/>
            <a:ext cx="4088319" cy="85350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9B6"/>
                </a:solidFill>
                <a:latin typeface="Space Grotesk" pitchFamily="34" charset="0"/>
                <a:ea typeface="Space Grotesk" pitchFamily="34" charset="-122"/>
                <a:cs typeface="Space Grotesk" pitchFamily="34" charset="-120"/>
              </a:rPr>
              <a:t>node, python, go, java, simple, and more. It tells the bot which files hold the version.</a:t>
            </a:r>
            <a:endParaRPr lang="en-US" sz="1400" dirty="0"/>
          </a:p>
        </p:txBody>
      </p:sp>
      <p:sp>
        <p:nvSpPr>
          <p:cNvPr id="6" name="Text 4"/>
          <p:cNvSpPr/>
          <p:nvPr/>
        </p:nvSpPr>
        <p:spPr>
          <a:xfrm>
            <a:off x="7409959" y="3516616"/>
            <a:ext cx="4088319"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A5C"/>
                </a:solidFill>
                <a:latin typeface="Space Grotesk" pitchFamily="34" charset="0"/>
                <a:ea typeface="Space Grotesk" pitchFamily="34" charset="-122"/>
                <a:cs typeface="Space Grotesk" pitchFamily="34" charset="-120"/>
              </a:rPr>
              <a:t>Grant two permissions</a:t>
            </a:r>
            <a:endParaRPr lang="en-US" sz="1800" dirty="0"/>
          </a:p>
        </p:txBody>
      </p:sp>
      <p:sp>
        <p:nvSpPr>
          <p:cNvPr id="7" name="Text 5"/>
          <p:cNvSpPr/>
          <p:nvPr/>
        </p:nvSpPr>
        <p:spPr>
          <a:xfrm>
            <a:off x="7409959" y="3882876"/>
            <a:ext cx="4088319"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9B6"/>
                </a:solidFill>
                <a:latin typeface="Space Grotesk" pitchFamily="34" charset="0"/>
                <a:ea typeface="Space Grotesk" pitchFamily="34" charset="-122"/>
                <a:cs typeface="Space Grotesk" pitchFamily="34" charset="-120"/>
              </a:rPr>
              <a:t>Write access to contents and pull requests.</a:t>
            </a:r>
            <a:endParaRPr lang="en-US" sz="1400" dirty="0"/>
          </a:p>
        </p:txBody>
      </p:sp>
      <p:sp>
        <p:nvSpPr>
          <p:cNvPr id="8" name="Text 6"/>
          <p:cNvSpPr/>
          <p:nvPr/>
        </p:nvSpPr>
        <p:spPr>
          <a:xfrm>
            <a:off x="7409959" y="4688948"/>
            <a:ext cx="4088319"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A5C"/>
                </a:solidFill>
                <a:latin typeface="Space Grotesk" pitchFamily="34" charset="0"/>
                <a:ea typeface="Space Grotesk" pitchFamily="34" charset="-122"/>
                <a:cs typeface="Space Grotesk" pitchFamily="34" charset="-120"/>
              </a:rPr>
              <a:t>Monorepo?</a:t>
            </a:r>
            <a:endParaRPr lang="en-US" sz="1800" dirty="0"/>
          </a:p>
        </p:txBody>
      </p:sp>
      <p:sp>
        <p:nvSpPr>
          <p:cNvPr id="9" name="Text 7"/>
          <p:cNvSpPr/>
          <p:nvPr/>
        </p:nvSpPr>
        <p:spPr>
          <a:xfrm>
            <a:off x="7409959" y="5055208"/>
            <a:ext cx="4088319"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9B6"/>
                </a:solidFill>
                <a:latin typeface="Space Grotesk" pitchFamily="34" charset="0"/>
                <a:ea typeface="Space Grotesk" pitchFamily="34" charset="-122"/>
                <a:cs typeface="Space Grotesk" pitchFamily="34" charset="-120"/>
              </a:rPr>
              <a:t>Add a config file and a manifest to version each package separately.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037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B1E26"/>
                </a:solidFill>
                <a:latin typeface="Space Grotesk" pitchFamily="34" charset="0"/>
                <a:ea typeface="Space Grotesk" pitchFamily="34" charset="-122"/>
                <a:cs typeface="Space Grotesk" pitchFamily="34" charset="-120"/>
              </a:rPr>
              <a:t>One repo, two components</a:t>
            </a:r>
            <a:endParaRPr lang="en-US" sz="3600" dirty="0"/>
          </a:p>
        </p:txBody>
      </p:sp>
      <p:sp>
        <p:nvSpPr>
          <p:cNvPr id="3" name="Text 1"/>
          <p:cNvSpPr/>
          <p:nvPr/>
        </p:nvSpPr>
        <p:spPr>
          <a:xfrm>
            <a:off x="812800" y="1695946"/>
            <a:ext cx="4804309"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6270"/>
                </a:solidFill>
                <a:latin typeface="Space Grotesk" pitchFamily="34" charset="0"/>
                <a:ea typeface="Space Grotesk" pitchFamily="34" charset="-122"/>
                <a:cs typeface="Space Grotesk" pitchFamily="34" charset="-120"/>
              </a:rPr>
              <a:t>The repo</a:t>
            </a:r>
            <a:endParaRPr lang="en-US" sz="1400" dirty="0"/>
          </a:p>
        </p:txBody>
      </p:sp>
      <p:sp>
        <p:nvSpPr>
          <p:cNvPr id="4" name="Shape 2"/>
          <p:cNvSpPr/>
          <p:nvPr/>
        </p:nvSpPr>
        <p:spPr>
          <a:xfrm>
            <a:off x="812800" y="2083823"/>
            <a:ext cx="4664377" cy="2011589"/>
          </a:xfrm>
          <a:prstGeom prst="roundRect">
            <a:avLst>
              <a:gd name="adj" fmla="val 6313"/>
            </a:avLst>
          </a:prstGeom>
          <a:solidFill>
            <a:srgbClr val="15181F"/>
          </a:solidFill>
          <a:ln/>
        </p:spPr>
      </p:sp>
      <p:sp>
        <p:nvSpPr>
          <p:cNvPr id="5" name="Text 3"/>
          <p:cNvSpPr/>
          <p:nvPr/>
        </p:nvSpPr>
        <p:spPr>
          <a:xfrm>
            <a:off x="1092200" y="2312423"/>
            <a:ext cx="4228745" cy="375897"/>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6F3EC"/>
                </a:solidFill>
                <a:latin typeface="JetBrains Mono" pitchFamily="49" charset="0"/>
                <a:ea typeface="JetBrains Mono" pitchFamily="49" charset="-122"/>
                <a:cs typeface="JetBrains Mono" pitchFamily="49" charset="-120"/>
              </a:rPr>
              <a:t>repo/</a:t>
            </a:r>
            <a:endParaRPr lang="en-US" sz="1600" dirty="0"/>
          </a:p>
        </p:txBody>
      </p:sp>
      <p:sp>
        <p:nvSpPr>
          <p:cNvPr id="6" name="Text 4"/>
          <p:cNvSpPr/>
          <p:nvPr/>
        </p:nvSpPr>
        <p:spPr>
          <a:xfrm>
            <a:off x="1092200" y="2713720"/>
            <a:ext cx="4228745" cy="375897"/>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7FB0FF"/>
                </a:solidFill>
                <a:latin typeface="JetBrains Mono" pitchFamily="49" charset="0"/>
                <a:ea typeface="JetBrains Mono" pitchFamily="49" charset="-122"/>
                <a:cs typeface="JetBrains Mono" pitchFamily="49" charset="-120"/>
              </a:rPr>
              <a:t>  ml-pipeline/ </a:t>
            </a:r>
            <a:r>
              <a:rPr lang="en-US" sz="1600" dirty="0">
                <a:solidFill>
                  <a:srgbClr val="A3A9B6"/>
                </a:solidFill>
                <a:latin typeface="JetBrains Mono" pitchFamily="49" charset="0"/>
                <a:ea typeface="JetBrains Mono" pitchFamily="49" charset="-122"/>
                <a:cs typeface="JetBrains Mono" pitchFamily="49" charset="-120"/>
              </a:rPr>
              <a:t>Python</a:t>
            </a:r>
            <a:endParaRPr lang="en-US" sz="1600" dirty="0"/>
          </a:p>
        </p:txBody>
      </p:sp>
      <p:sp>
        <p:nvSpPr>
          <p:cNvPr id="7" name="Text 5"/>
          <p:cNvSpPr/>
          <p:nvPr/>
        </p:nvSpPr>
        <p:spPr>
          <a:xfrm>
            <a:off x="1092200" y="3115016"/>
            <a:ext cx="4228745" cy="375897"/>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8A5C"/>
                </a:solidFill>
                <a:latin typeface="JetBrains Mono" pitchFamily="49" charset="0"/>
                <a:ea typeface="JetBrains Mono" pitchFamily="49" charset="-122"/>
                <a:cs typeface="JetBrains Mono" pitchFamily="49" charset="-120"/>
              </a:rPr>
              <a:t>  infra/ </a:t>
            </a:r>
            <a:r>
              <a:rPr lang="en-US" sz="1600" dirty="0">
                <a:solidFill>
                  <a:srgbClr val="A3A9B6"/>
                </a:solidFill>
                <a:latin typeface="JetBrains Mono" pitchFamily="49" charset="0"/>
                <a:ea typeface="JetBrains Mono" pitchFamily="49" charset="-122"/>
                <a:cs typeface="JetBrains Mono" pitchFamily="49" charset="-120"/>
              </a:rPr>
              <a:t>Terraform</a:t>
            </a:r>
            <a:endParaRPr lang="en-US" sz="1600" dirty="0"/>
          </a:p>
        </p:txBody>
      </p:sp>
      <p:sp>
        <p:nvSpPr>
          <p:cNvPr id="8" name="Text 6"/>
          <p:cNvSpPr/>
          <p:nvPr/>
        </p:nvSpPr>
        <p:spPr>
          <a:xfrm>
            <a:off x="1092200" y="3516313"/>
            <a:ext cx="4228745" cy="375897"/>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8A909C"/>
                </a:solidFill>
                <a:latin typeface="JetBrains Mono" pitchFamily="49" charset="0"/>
                <a:ea typeface="JetBrains Mono" pitchFamily="49" charset="-122"/>
                <a:cs typeface="JetBrains Mono" pitchFamily="49" charset="-120"/>
              </a:rPr>
              <a:t>  README.md </a:t>
            </a:r>
            <a:r>
              <a:rPr lang="en-US" sz="1600" dirty="0">
                <a:solidFill>
                  <a:srgbClr val="A3A9B6"/>
                </a:solidFill>
                <a:latin typeface="JetBrains Mono" pitchFamily="49" charset="0"/>
                <a:ea typeface="JetBrains Mono" pitchFamily="49" charset="-122"/>
                <a:cs typeface="JetBrains Mono" pitchFamily="49" charset="-120"/>
              </a:rPr>
              <a:t>neither</a:t>
            </a:r>
            <a:endParaRPr lang="en-US" sz="1600" dirty="0"/>
          </a:p>
        </p:txBody>
      </p:sp>
      <p:sp>
        <p:nvSpPr>
          <p:cNvPr id="9" name="Text 7"/>
          <p:cNvSpPr/>
          <p:nvPr/>
        </p:nvSpPr>
        <p:spPr>
          <a:xfrm>
            <a:off x="5781977" y="1695946"/>
            <a:ext cx="5765139"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6270"/>
                </a:solidFill>
                <a:latin typeface="Space Grotesk" pitchFamily="34" charset="0"/>
                <a:ea typeface="Space Grotesk" pitchFamily="34" charset="-122"/>
                <a:cs typeface="Space Grotesk" pitchFamily="34" charset="-120"/>
              </a:rPr>
              <a:t>release-please-config.json (simplified)</a:t>
            </a:r>
            <a:endParaRPr lang="en-US" sz="1400" dirty="0"/>
          </a:p>
        </p:txBody>
      </p:sp>
      <p:sp>
        <p:nvSpPr>
          <p:cNvPr id="10" name="Text 8"/>
          <p:cNvSpPr/>
          <p:nvPr/>
        </p:nvSpPr>
        <p:spPr>
          <a:xfrm>
            <a:off x="5781977" y="2083823"/>
            <a:ext cx="5597223" cy="2516981"/>
          </a:xfrm>
          <a:prstGeom prst="roundRect">
            <a:avLst>
              <a:gd name="adj" fmla="val 5046"/>
            </a:avLst>
          </a:prstGeom>
          <a:solidFill>
            <a:srgbClr val="15181F"/>
          </a:solidFill>
          <a:ln/>
        </p:spPr>
        <p:txBody>
          <a:bodyPr wrap="square" lIns="242203" tIns="191403" rIns="91050" bIns="166003" rtlCol="0" anchor="t">
            <a:normAutofit/>
          </a:bodyPr>
          <a:lstStyle/>
          <a:p>
            <a:pPr algn="l" indent="0" marL="0">
              <a:lnSpc>
                <a:spcPts val="2015"/>
              </a:lnSpc>
              <a:buNone/>
            </a:pPr>
            <a:r>
              <a:rPr lang="en-US" sz="1300" dirty="0">
                <a:solidFill>
                  <a:srgbClr val="E6E2D8"/>
                </a:solidFill>
                <a:latin typeface="JetBrains Mono" pitchFamily="49" charset="0"/>
                <a:ea typeface="JetBrains Mono" pitchFamily="49" charset="-122"/>
                <a:cs typeface="JetBrains Mono" pitchFamily="49" charset="-120"/>
              </a:rPr>
              <a:t>{</a:t>
            </a:r>
            <a:endParaRPr lang="en-US" sz="1300" dirty="0"/>
          </a:p>
          <a:p>
            <a:pPr algn="l" indent="0" marL="0">
              <a:lnSpc>
                <a:spcPts val="2015"/>
              </a:lnSpc>
              <a:buNone/>
            </a:pPr>
            <a:r>
              <a:rPr lang="en-US" sz="1300" dirty="0">
                <a:solidFill>
                  <a:srgbClr val="E6E2D8"/>
                </a:solidFill>
                <a:latin typeface="JetBrains Mono" pitchFamily="49" charset="0"/>
                <a:ea typeface="JetBrains Mono" pitchFamily="49" charset="-122"/>
                <a:cs typeface="JetBrains Mono" pitchFamily="49" charset="-120"/>
              </a:rPr>
              <a:t>  "packages": {</a:t>
            </a:r>
            <a:endParaRPr lang="en-US" sz="1300" dirty="0"/>
          </a:p>
          <a:p>
            <a:pPr algn="l" indent="0" marL="0">
              <a:lnSpc>
                <a:spcPts val="2015"/>
              </a:lnSpc>
              <a:buNone/>
            </a:pPr>
            <a:r>
              <a:rPr lang="en-US" sz="1300" dirty="0">
                <a:solidFill>
                  <a:srgbClr val="E6E2D8"/>
                </a:solidFill>
                <a:latin typeface="JetBrains Mono" pitchFamily="49" charset="0"/>
                <a:ea typeface="JetBrains Mono" pitchFamily="49" charset="-122"/>
                <a:cs typeface="JetBrains Mono" pitchFamily="49" charset="-120"/>
              </a:rPr>
              <a:t>    </a:t>
            </a:r>
            <a:r>
              <a:rPr lang="en-US" sz="1300" dirty="0">
                <a:solidFill>
                  <a:srgbClr val="7FB0FF"/>
                </a:solidFill>
                <a:latin typeface="JetBrains Mono" pitchFamily="49" charset="0"/>
                <a:ea typeface="JetBrains Mono" pitchFamily="49" charset="-122"/>
                <a:cs typeface="JetBrains Mono" pitchFamily="49" charset="-120"/>
              </a:rPr>
              <a:t>"ml-pipeline"</a:t>
            </a:r>
            <a:r>
              <a:rPr lang="en-US" sz="1300" dirty="0">
                <a:solidFill>
                  <a:srgbClr val="E6E2D8"/>
                </a:solidFill>
                <a:latin typeface="JetBrains Mono" pitchFamily="49" charset="0"/>
                <a:ea typeface="JetBrains Mono" pitchFamily="49" charset="-122"/>
                <a:cs typeface="JetBrains Mono" pitchFamily="49" charset="-120"/>
              </a:rPr>
              <a:t>: { "release-type": "python" },</a:t>
            </a:r>
            <a:endParaRPr lang="en-US" sz="1300" dirty="0"/>
          </a:p>
          <a:p>
            <a:pPr algn="l" indent="0" marL="0">
              <a:lnSpc>
                <a:spcPts val="2015"/>
              </a:lnSpc>
              <a:buNone/>
            </a:pPr>
            <a:r>
              <a:rPr lang="en-US" sz="1300" dirty="0">
                <a:solidFill>
                  <a:srgbClr val="E6E2D8"/>
                </a:solidFill>
                <a:latin typeface="JetBrains Mono" pitchFamily="49" charset="0"/>
                <a:ea typeface="JetBrains Mono" pitchFamily="49" charset="-122"/>
                <a:cs typeface="JetBrains Mono" pitchFamily="49" charset="-120"/>
              </a:rPr>
              <a:t>    </a:t>
            </a:r>
            <a:r>
              <a:rPr lang="en-US" sz="1300" dirty="0">
                <a:solidFill>
                  <a:srgbClr val="FF8A5C"/>
                </a:solidFill>
                <a:latin typeface="JetBrains Mono" pitchFamily="49" charset="0"/>
                <a:ea typeface="JetBrains Mono" pitchFamily="49" charset="-122"/>
                <a:cs typeface="JetBrains Mono" pitchFamily="49" charset="-120"/>
              </a:rPr>
              <a:t>"infra"</a:t>
            </a:r>
            <a:r>
              <a:rPr lang="en-US" sz="1300" dirty="0">
                <a:solidFill>
                  <a:srgbClr val="E6E2D8"/>
                </a:solidFill>
                <a:latin typeface="JetBrains Mono" pitchFamily="49" charset="0"/>
                <a:ea typeface="JetBrains Mono" pitchFamily="49" charset="-122"/>
                <a:cs typeface="JetBrains Mono" pitchFamily="49" charset="-120"/>
              </a:rPr>
              <a:t>: { "release-type": "simple" }</a:t>
            </a:r>
            <a:endParaRPr lang="en-US" sz="1300" dirty="0"/>
          </a:p>
          <a:p>
            <a:pPr algn="l" indent="0" marL="0">
              <a:lnSpc>
                <a:spcPts val="2015"/>
              </a:lnSpc>
              <a:buNone/>
            </a:pPr>
            <a:r>
              <a:rPr lang="en-US" sz="1300" dirty="0">
                <a:solidFill>
                  <a:srgbClr val="E6E2D8"/>
                </a:solidFill>
                <a:latin typeface="JetBrains Mono" pitchFamily="49" charset="0"/>
                <a:ea typeface="JetBrains Mono" pitchFamily="49" charset="-122"/>
                <a:cs typeface="JetBrains Mono" pitchFamily="49" charset="-120"/>
              </a:rPr>
              <a:t>  }</a:t>
            </a:r>
            <a:endParaRPr lang="en-US" sz="1300" dirty="0"/>
          </a:p>
          <a:p>
            <a:pPr algn="l" indent="0" marL="0">
              <a:lnSpc>
                <a:spcPts val="2015"/>
              </a:lnSpc>
              <a:buNone/>
            </a:pPr>
            <a:r>
              <a:rPr lang="en-US" sz="1300" dirty="0">
                <a:solidFill>
                  <a:srgbClr val="E6E2D8"/>
                </a:solidFill>
                <a:latin typeface="JetBrains Mono" pitchFamily="49" charset="0"/>
                <a:ea typeface="JetBrains Mono" pitchFamily="49" charset="-122"/>
                <a:cs typeface="JetBrains Mono" pitchFamily="49" charset="-120"/>
              </a:rPr>
              <a:t>}</a:t>
            </a:r>
            <a:endParaRPr lang="en-US" sz="1300" dirty="0"/>
          </a:p>
        </p:txBody>
      </p:sp>
      <p:sp>
        <p:nvSpPr>
          <p:cNvPr id="11" name="Text 9"/>
          <p:cNvSpPr/>
          <p:nvPr/>
        </p:nvSpPr>
        <p:spPr>
          <a:xfrm>
            <a:off x="812800" y="4905604"/>
            <a:ext cx="10883392" cy="936701"/>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1B1E26"/>
                </a:solidFill>
                <a:latin typeface="Space Grotesk" pitchFamily="34" charset="0"/>
                <a:ea typeface="Space Grotesk" pitchFamily="34" charset="-122"/>
                <a:cs typeface="Space Grotesk" pitchFamily="34" charset="-120"/>
              </a:rPr>
              <a:t>The </a:t>
            </a:r>
            <a:r>
              <a:rPr lang="en-US" sz="2600" b="1" dirty="0">
                <a:solidFill>
                  <a:srgbClr val="2F62B0"/>
                </a:solidFill>
                <a:latin typeface="Space Grotesk" pitchFamily="34" charset="0"/>
                <a:ea typeface="Space Grotesk" pitchFamily="34" charset="-122"/>
                <a:cs typeface="Space Grotesk" pitchFamily="34" charset="-120"/>
              </a:rPr>
              <a:t>file path</a:t>
            </a:r>
            <a:r>
              <a:rPr lang="en-US" sz="2600" b="1" dirty="0">
                <a:solidFill>
                  <a:srgbClr val="1B1E26"/>
                </a:solidFill>
                <a:latin typeface="Space Grotesk" pitchFamily="34" charset="0"/>
                <a:ea typeface="Space Grotesk" pitchFamily="34" charset="-122"/>
                <a:cs typeface="Space Grotesk" pitchFamily="34" charset="-120"/>
              </a:rPr>
              <a:t> picks the component. The </a:t>
            </a:r>
            <a:r>
              <a:rPr lang="en-US" sz="2600" b="1" dirty="0">
                <a:solidFill>
                  <a:srgbClr val="B8441B"/>
                </a:solidFill>
                <a:latin typeface="Space Grotesk" pitchFamily="34" charset="0"/>
                <a:ea typeface="Space Grotesk" pitchFamily="34" charset="-122"/>
                <a:cs typeface="Space Grotesk" pitchFamily="34" charset="-120"/>
              </a:rPr>
              <a:t>commit type</a:t>
            </a:r>
            <a:r>
              <a:rPr lang="en-US" sz="2600" b="1" dirty="0">
                <a:solidFill>
                  <a:srgbClr val="1B1E26"/>
                </a:solidFill>
                <a:latin typeface="Space Grotesk" pitchFamily="34" charset="0"/>
                <a:ea typeface="Space Grotesk" pitchFamily="34" charset="-122"/>
                <a:cs typeface="Space Grotesk" pitchFamily="34" charset="-120"/>
              </a:rPr>
              <a:t> picks the bump.</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CE7D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037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B1E26"/>
                </a:solidFill>
                <a:latin typeface="Space Grotesk" pitchFamily="34" charset="0"/>
                <a:ea typeface="Space Grotesk" pitchFamily="34" charset="-122"/>
                <a:cs typeface="Space Grotesk" pitchFamily="34" charset="-120"/>
              </a:rPr>
              <a:t>Three changes, three outcomes</a:t>
            </a:r>
            <a:endParaRPr lang="en-US" sz="3600" dirty="0"/>
          </a:p>
        </p:txBody>
      </p:sp>
      <p:sp>
        <p:nvSpPr>
          <p:cNvPr id="3" name="Shape 1"/>
          <p:cNvSpPr/>
          <p:nvPr/>
        </p:nvSpPr>
        <p:spPr>
          <a:xfrm>
            <a:off x="819150" y="1676896"/>
            <a:ext cx="3415884" cy="3193294"/>
          </a:xfrm>
          <a:prstGeom prst="roundRect">
            <a:avLst>
              <a:gd name="adj" fmla="val 2983"/>
            </a:avLst>
          </a:prstGeom>
          <a:solidFill>
            <a:srgbClr val="FFFDF8"/>
          </a:solidFill>
          <a:ln w="12700">
            <a:solidFill>
              <a:srgbClr val="D6CFC0"/>
            </a:solidFill>
            <a:prstDash val="solid"/>
          </a:ln>
        </p:spPr>
      </p:sp>
      <p:sp>
        <p:nvSpPr>
          <p:cNvPr id="4" name="Text 2"/>
          <p:cNvSpPr/>
          <p:nvPr/>
        </p:nvSpPr>
        <p:spPr>
          <a:xfrm>
            <a:off x="1028095" y="1885838"/>
            <a:ext cx="3087934" cy="375897"/>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6"/>
                </a:solidFill>
                <a:latin typeface="Space Grotesk" pitchFamily="34" charset="0"/>
                <a:ea typeface="Space Grotesk" pitchFamily="34" charset="-122"/>
                <a:cs typeface="Space Grotesk" pitchFamily="34" charset="-120"/>
              </a:rPr>
              <a:t>Python only</a:t>
            </a:r>
            <a:endParaRPr lang="en-US" sz="2000" dirty="0"/>
          </a:p>
        </p:txBody>
      </p:sp>
      <p:sp>
        <p:nvSpPr>
          <p:cNvPr id="5" name="Text 3"/>
          <p:cNvSpPr/>
          <p:nvPr/>
        </p:nvSpPr>
        <p:spPr>
          <a:xfrm>
            <a:off x="1028095" y="2325241"/>
            <a:ext cx="3087934"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E26"/>
                </a:solidFill>
                <a:latin typeface="JetBrains Mono" pitchFamily="49" charset="0"/>
                <a:ea typeface="JetBrains Mono" pitchFamily="49" charset="-122"/>
                <a:cs typeface="JetBrains Mono" pitchFamily="49" charset="-120"/>
              </a:rPr>
              <a:t>fix(ml-pipeline): handle empty rows</a:t>
            </a:r>
            <a:endParaRPr lang="en-US" sz="1300" dirty="0"/>
          </a:p>
        </p:txBody>
      </p:sp>
      <p:sp>
        <p:nvSpPr>
          <p:cNvPr id="6" name="Text 4"/>
          <p:cNvSpPr/>
          <p:nvPr/>
        </p:nvSpPr>
        <p:spPr>
          <a:xfrm>
            <a:off x="1028095" y="2945718"/>
            <a:ext cx="308793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270"/>
                </a:solidFill>
                <a:latin typeface="Space Grotesk" pitchFamily="34" charset="0"/>
                <a:ea typeface="Space Grotesk" pitchFamily="34" charset="-122"/>
                <a:cs typeface="Space Grotesk" pitchFamily="34" charset="-120"/>
              </a:rPr>
              <a:t>Files in ml-pipeline/</a:t>
            </a:r>
            <a:endParaRPr lang="en-US" sz="1200" dirty="0"/>
          </a:p>
        </p:txBody>
      </p:sp>
      <p:pic>
        <p:nvPicPr>
          <p:cNvPr id="7" name="Image 0" descr="line">    </p:cNvPr>
          <p:cNvPicPr>
            <a:picLocks noChangeAspect="1"/>
          </p:cNvPicPr>
          <p:nvPr/>
        </p:nvPicPr>
        <p:blipFill>
          <a:blip r:embed="rId1"/>
          <a:srcRect l="-12" r="-12" t="0" b="0"/>
          <a:stretch/>
        </p:blipFill>
        <p:spPr>
          <a:xfrm>
            <a:off x="1028095" y="3279961"/>
            <a:ext cx="2997994" cy="12700"/>
          </a:xfrm>
          <a:prstGeom prst="rect">
            <a:avLst/>
          </a:prstGeom>
        </p:spPr>
      </p:pic>
      <p:sp>
        <p:nvSpPr>
          <p:cNvPr id="8" name="Text 5"/>
          <p:cNvSpPr/>
          <p:nvPr/>
        </p:nvSpPr>
        <p:spPr>
          <a:xfrm>
            <a:off x="1028095" y="3381561"/>
            <a:ext cx="3087934" cy="29119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2B0"/>
                </a:solidFill>
                <a:latin typeface="JetBrains Mono" pitchFamily="49" charset="0"/>
                <a:ea typeface="JetBrains Mono" pitchFamily="49" charset="-122"/>
                <a:cs typeface="JetBrains Mono" pitchFamily="49" charset="-120"/>
              </a:rPr>
              <a:t>ml-pipeline 1.4.1</a:t>
            </a:r>
            <a:endParaRPr lang="en-US" sz="1300" dirty="0"/>
          </a:p>
        </p:txBody>
      </p:sp>
      <p:sp>
        <p:nvSpPr>
          <p:cNvPr id="9" name="Text 6"/>
          <p:cNvSpPr/>
          <p:nvPr/>
        </p:nvSpPr>
        <p:spPr>
          <a:xfrm>
            <a:off x="1028095" y="3736256"/>
            <a:ext cx="3087934" cy="29119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6270"/>
                </a:solidFill>
                <a:latin typeface="JetBrains Mono" pitchFamily="49" charset="0"/>
                <a:ea typeface="JetBrains Mono" pitchFamily="49" charset="-122"/>
                <a:cs typeface="JetBrains Mono" pitchFamily="49" charset="-120"/>
              </a:rPr>
              <a:t>infra unchanged</a:t>
            </a:r>
            <a:endParaRPr lang="en-US" sz="1300" dirty="0"/>
          </a:p>
        </p:txBody>
      </p:sp>
      <p:sp>
        <p:nvSpPr>
          <p:cNvPr id="10" name="Text 7"/>
          <p:cNvSpPr/>
          <p:nvPr/>
        </p:nvSpPr>
        <p:spPr>
          <a:xfrm>
            <a:off x="1028095" y="4090950"/>
            <a:ext cx="3087934"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E26"/>
                </a:solidFill>
                <a:latin typeface="Space Grotesk" pitchFamily="34" charset="0"/>
                <a:ea typeface="Space Grotesk" pitchFamily="34" charset="-122"/>
                <a:cs typeface="Space Grotesk" pitchFamily="34" charset="-120"/>
              </a:rPr>
              <a:t>Patch bump. One tag: ml-pipeline-v1.4.1</a:t>
            </a:r>
            <a:endParaRPr lang="en-US" sz="1300" dirty="0"/>
          </a:p>
        </p:txBody>
      </p:sp>
      <p:sp>
        <p:nvSpPr>
          <p:cNvPr id="11" name="Shape 8"/>
          <p:cNvSpPr/>
          <p:nvPr/>
        </p:nvSpPr>
        <p:spPr>
          <a:xfrm>
            <a:off x="4400134" y="1676896"/>
            <a:ext cx="3415922" cy="3193294"/>
          </a:xfrm>
          <a:prstGeom prst="roundRect">
            <a:avLst>
              <a:gd name="adj" fmla="val 2983"/>
            </a:avLst>
          </a:prstGeom>
          <a:solidFill>
            <a:srgbClr val="FFFDF8"/>
          </a:solidFill>
          <a:ln w="12700">
            <a:solidFill>
              <a:srgbClr val="D6CFC0"/>
            </a:solidFill>
            <a:prstDash val="solid"/>
          </a:ln>
        </p:spPr>
      </p:sp>
      <p:sp>
        <p:nvSpPr>
          <p:cNvPr id="12" name="Text 9"/>
          <p:cNvSpPr/>
          <p:nvPr/>
        </p:nvSpPr>
        <p:spPr>
          <a:xfrm>
            <a:off x="4609080" y="1885838"/>
            <a:ext cx="3087972" cy="375897"/>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6"/>
                </a:solidFill>
                <a:latin typeface="Space Grotesk" pitchFamily="34" charset="0"/>
                <a:ea typeface="Space Grotesk" pitchFamily="34" charset="-122"/>
                <a:cs typeface="Space Grotesk" pitchFamily="34" charset="-120"/>
              </a:rPr>
              <a:t>Not Python</a:t>
            </a:r>
            <a:endParaRPr lang="en-US" sz="2000" dirty="0"/>
          </a:p>
        </p:txBody>
      </p:sp>
      <p:sp>
        <p:nvSpPr>
          <p:cNvPr id="13" name="Text 10"/>
          <p:cNvSpPr/>
          <p:nvPr/>
        </p:nvSpPr>
        <p:spPr>
          <a:xfrm>
            <a:off x="4609080" y="2325241"/>
            <a:ext cx="3087972"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E26"/>
                </a:solidFill>
                <a:latin typeface="JetBrains Mono" pitchFamily="49" charset="0"/>
                <a:ea typeface="JetBrains Mono" pitchFamily="49" charset="-122"/>
                <a:cs typeface="JetBrains Mono" pitchFamily="49" charset="-120"/>
              </a:rPr>
              <a:t>feat(infra): add staging bucket</a:t>
            </a:r>
            <a:endParaRPr lang="en-US" sz="1300" dirty="0"/>
          </a:p>
        </p:txBody>
      </p:sp>
      <p:sp>
        <p:nvSpPr>
          <p:cNvPr id="14" name="Text 11"/>
          <p:cNvSpPr/>
          <p:nvPr/>
        </p:nvSpPr>
        <p:spPr>
          <a:xfrm>
            <a:off x="4609080" y="2945718"/>
            <a:ext cx="308797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270"/>
                </a:solidFill>
                <a:latin typeface="Space Grotesk" pitchFamily="34" charset="0"/>
                <a:ea typeface="Space Grotesk" pitchFamily="34" charset="-122"/>
                <a:cs typeface="Space Grotesk" pitchFamily="34" charset="-120"/>
              </a:rPr>
              <a:t>Files in infra/</a:t>
            </a:r>
            <a:endParaRPr lang="en-US" sz="1200" dirty="0"/>
          </a:p>
        </p:txBody>
      </p:sp>
      <p:pic>
        <p:nvPicPr>
          <p:cNvPr id="15" name="Image 1" descr="line">    </p:cNvPr>
          <p:cNvPicPr>
            <a:picLocks noChangeAspect="1"/>
          </p:cNvPicPr>
          <p:nvPr/>
        </p:nvPicPr>
        <p:blipFill>
          <a:blip r:embed="rId2"/>
          <a:srcRect l="-16" r="-16" t="0" b="0"/>
          <a:stretch/>
        </p:blipFill>
        <p:spPr>
          <a:xfrm>
            <a:off x="4609080" y="3279961"/>
            <a:ext cx="2998032" cy="12700"/>
          </a:xfrm>
          <a:prstGeom prst="rect">
            <a:avLst/>
          </a:prstGeom>
        </p:spPr>
      </p:pic>
      <p:sp>
        <p:nvSpPr>
          <p:cNvPr id="16" name="Text 12"/>
          <p:cNvSpPr/>
          <p:nvPr/>
        </p:nvSpPr>
        <p:spPr>
          <a:xfrm>
            <a:off x="4609080" y="3381561"/>
            <a:ext cx="3087972" cy="29119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6270"/>
                </a:solidFill>
                <a:latin typeface="JetBrains Mono" pitchFamily="49" charset="0"/>
                <a:ea typeface="JetBrains Mono" pitchFamily="49" charset="-122"/>
                <a:cs typeface="JetBrains Mono" pitchFamily="49" charset="-120"/>
              </a:rPr>
              <a:t>ml-pipeline unchanged</a:t>
            </a:r>
            <a:endParaRPr lang="en-US" sz="1300" dirty="0"/>
          </a:p>
        </p:txBody>
      </p:sp>
      <p:sp>
        <p:nvSpPr>
          <p:cNvPr id="17" name="Text 13"/>
          <p:cNvSpPr/>
          <p:nvPr/>
        </p:nvSpPr>
        <p:spPr>
          <a:xfrm>
            <a:off x="4609080" y="3736256"/>
            <a:ext cx="3087972" cy="29119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41B"/>
                </a:solidFill>
                <a:latin typeface="JetBrains Mono" pitchFamily="49" charset="0"/>
                <a:ea typeface="JetBrains Mono" pitchFamily="49" charset="-122"/>
                <a:cs typeface="JetBrains Mono" pitchFamily="49" charset="-120"/>
              </a:rPr>
              <a:t>infra 0.4.0</a:t>
            </a:r>
            <a:endParaRPr lang="en-US" sz="1300" dirty="0"/>
          </a:p>
        </p:txBody>
      </p:sp>
      <p:sp>
        <p:nvSpPr>
          <p:cNvPr id="18" name="Text 14"/>
          <p:cNvSpPr/>
          <p:nvPr/>
        </p:nvSpPr>
        <p:spPr>
          <a:xfrm>
            <a:off x="4609080" y="4090950"/>
            <a:ext cx="3087972"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E26"/>
                </a:solidFill>
                <a:latin typeface="Space Grotesk" pitchFamily="34" charset="0"/>
                <a:ea typeface="Space Grotesk" pitchFamily="34" charset="-122"/>
                <a:cs typeface="Space Grotesk" pitchFamily="34" charset="-120"/>
              </a:rPr>
              <a:t>Minor bump. One tag: infra-v0.4.0</a:t>
            </a:r>
            <a:endParaRPr lang="en-US" sz="1300" dirty="0"/>
          </a:p>
        </p:txBody>
      </p:sp>
      <p:sp>
        <p:nvSpPr>
          <p:cNvPr id="19" name="Shape 15"/>
          <p:cNvSpPr/>
          <p:nvPr/>
        </p:nvSpPr>
        <p:spPr>
          <a:xfrm>
            <a:off x="7974806" y="1670546"/>
            <a:ext cx="3404394" cy="3205994"/>
          </a:xfrm>
          <a:prstGeom prst="roundRect">
            <a:avLst>
              <a:gd name="adj" fmla="val 3169"/>
            </a:avLst>
          </a:prstGeom>
          <a:solidFill>
            <a:srgbClr val="15181F"/>
          </a:solidFill>
          <a:ln/>
        </p:spPr>
      </p:sp>
      <p:sp>
        <p:nvSpPr>
          <p:cNvPr id="20" name="Shape 16"/>
          <p:cNvSpPr/>
          <p:nvPr/>
        </p:nvSpPr>
        <p:spPr>
          <a:xfrm>
            <a:off x="7974806" y="1670546"/>
            <a:ext cx="3404394" cy="3205994"/>
          </a:xfrm>
          <a:custGeom>
            <a:avLst/>
            <a:gdLst/>
            <a:ahLst/>
            <a:cxnLst/>
            <a:rect l="l" t="t" r="r" b="b"/>
            <a:pathLst>
              <a:path w="3404394" h="3205994">
                <a:moveTo>
                  <a:pt x="0" y="101600"/>
                </a:moveTo>
                <a:lnTo>
                  <a:pt x="0" y="101600"/>
                </a:lnTo>
                <a:arcTo hR="101600" wR="101600" stAng="10800000" swAng="5400000"/>
                <a:lnTo>
                  <a:pt x="3302794" y="0"/>
                </a:lnTo>
                <a:arcTo hR="101600" wR="101600" stAng="16200000" swAng="5400000"/>
                <a:lnTo>
                  <a:pt x="3404394" y="101600"/>
                </a:lnTo>
                <a:arcTo hR="38100" wR="101600" stAng="0" swAng="-5400000"/>
                <a:lnTo>
                  <a:pt x="101600" y="63500"/>
                </a:lnTo>
                <a:arcTo hR="38100" wR="101600" stAng="16200000" swAng="-5400000"/>
                <a:close/>
              </a:path>
            </a:pathLst>
          </a:custGeom>
          <a:solidFill>
            <a:srgbClr val="FFD166"/>
          </a:solidFill>
          <a:ln/>
        </p:spPr>
      </p:sp>
      <p:sp>
        <p:nvSpPr>
          <p:cNvPr id="21" name="Text 17"/>
          <p:cNvSpPr/>
          <p:nvPr/>
        </p:nvSpPr>
        <p:spPr>
          <a:xfrm>
            <a:off x="8178006" y="1936638"/>
            <a:ext cx="3087934" cy="375897"/>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3EC"/>
                </a:solidFill>
                <a:latin typeface="Space Grotesk" pitchFamily="34" charset="0"/>
                <a:ea typeface="Space Grotesk" pitchFamily="34" charset="-122"/>
                <a:cs typeface="Space Grotesk" pitchFamily="34" charset="-120"/>
              </a:rPr>
              <a:t>Both</a:t>
            </a:r>
            <a:endParaRPr lang="en-US" sz="2000" dirty="0"/>
          </a:p>
        </p:txBody>
      </p:sp>
      <p:sp>
        <p:nvSpPr>
          <p:cNvPr id="22" name="Text 18"/>
          <p:cNvSpPr/>
          <p:nvPr/>
        </p:nvSpPr>
        <p:spPr>
          <a:xfrm>
            <a:off x="8178006" y="2376041"/>
            <a:ext cx="3087934"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3EC"/>
                </a:solidFill>
                <a:latin typeface="JetBrains Mono" pitchFamily="49" charset="0"/>
                <a:ea typeface="JetBrains Mono" pitchFamily="49" charset="-122"/>
                <a:cs typeface="JetBrains Mono" pitchFamily="49" charset="-120"/>
              </a:rPr>
              <a:t>feat: add model registry support</a:t>
            </a:r>
            <a:endParaRPr lang="en-US" sz="1300" dirty="0"/>
          </a:p>
        </p:txBody>
      </p:sp>
      <p:sp>
        <p:nvSpPr>
          <p:cNvPr id="23" name="Text 19"/>
          <p:cNvSpPr/>
          <p:nvPr/>
        </p:nvSpPr>
        <p:spPr>
          <a:xfrm>
            <a:off x="8178006" y="2996518"/>
            <a:ext cx="308793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9B6"/>
                </a:solidFill>
                <a:latin typeface="Space Grotesk" pitchFamily="34" charset="0"/>
                <a:ea typeface="Space Grotesk" pitchFamily="34" charset="-122"/>
                <a:cs typeface="Space Grotesk" pitchFamily="34" charset="-120"/>
              </a:rPr>
              <a:t>Files in both folders</a:t>
            </a:r>
            <a:endParaRPr lang="en-US" sz="1200" dirty="0"/>
          </a:p>
        </p:txBody>
      </p:sp>
      <p:pic>
        <p:nvPicPr>
          <p:cNvPr id="24" name="Image 2" descr="line">    </p:cNvPr>
          <p:cNvPicPr>
            <a:picLocks noChangeAspect="1"/>
          </p:cNvPicPr>
          <p:nvPr/>
        </p:nvPicPr>
        <p:blipFill>
          <a:blip r:embed="rId3"/>
          <a:srcRect l="-12" r="-12" t="0" b="0"/>
          <a:stretch/>
        </p:blipFill>
        <p:spPr>
          <a:xfrm>
            <a:off x="8178006" y="3330761"/>
            <a:ext cx="2997994" cy="12700"/>
          </a:xfrm>
          <a:prstGeom prst="rect">
            <a:avLst/>
          </a:prstGeom>
        </p:spPr>
      </p:pic>
      <p:sp>
        <p:nvSpPr>
          <p:cNvPr id="25" name="Text 20"/>
          <p:cNvSpPr/>
          <p:nvPr/>
        </p:nvSpPr>
        <p:spPr>
          <a:xfrm>
            <a:off x="8178006" y="3432361"/>
            <a:ext cx="3087934" cy="29119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B0FF"/>
                </a:solidFill>
                <a:latin typeface="JetBrains Mono" pitchFamily="49" charset="0"/>
                <a:ea typeface="JetBrains Mono" pitchFamily="49" charset="-122"/>
                <a:cs typeface="JetBrains Mono" pitchFamily="49" charset="-120"/>
              </a:rPr>
              <a:t>ml-pipeline 1.5.0</a:t>
            </a:r>
            <a:endParaRPr lang="en-US" sz="1300" dirty="0"/>
          </a:p>
        </p:txBody>
      </p:sp>
      <p:sp>
        <p:nvSpPr>
          <p:cNvPr id="26" name="Text 21"/>
          <p:cNvSpPr/>
          <p:nvPr/>
        </p:nvSpPr>
        <p:spPr>
          <a:xfrm>
            <a:off x="8178006" y="3787056"/>
            <a:ext cx="3087934" cy="29119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8A5C"/>
                </a:solidFill>
                <a:latin typeface="JetBrains Mono" pitchFamily="49" charset="0"/>
                <a:ea typeface="JetBrains Mono" pitchFamily="49" charset="-122"/>
                <a:cs typeface="JetBrains Mono" pitchFamily="49" charset="-120"/>
              </a:rPr>
              <a:t>infra 0.4.0</a:t>
            </a:r>
            <a:endParaRPr lang="en-US" sz="1300" dirty="0"/>
          </a:p>
        </p:txBody>
      </p:sp>
      <p:sp>
        <p:nvSpPr>
          <p:cNvPr id="27" name="Text 22"/>
          <p:cNvSpPr/>
          <p:nvPr/>
        </p:nvSpPr>
        <p:spPr>
          <a:xfrm>
            <a:off x="8178006" y="4141750"/>
            <a:ext cx="3087934"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3EC"/>
                </a:solidFill>
                <a:latin typeface="Space Grotesk" pitchFamily="34" charset="0"/>
                <a:ea typeface="Space Grotesk" pitchFamily="34" charset="-122"/>
                <a:cs typeface="Space Grotesk" pitchFamily="34" charset="-120"/>
              </a:rPr>
              <a:t>Both bumped, one release PR. Two tags, two releases.</a:t>
            </a:r>
            <a:endParaRPr lang="en-US" sz="1300" dirty="0"/>
          </a:p>
        </p:txBody>
      </p:sp>
      <p:sp>
        <p:nvSpPr>
          <p:cNvPr id="28" name="Text 23"/>
          <p:cNvSpPr/>
          <p:nvPr/>
        </p:nvSpPr>
        <p:spPr>
          <a:xfrm>
            <a:off x="812800" y="6206257"/>
            <a:ext cx="1088339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270"/>
                </a:solidFill>
                <a:latin typeface="Space Grotesk" pitchFamily="34" charset="0"/>
                <a:ea typeface="Space Grotesk" pitchFamily="34" charset="-122"/>
                <a:cs typeface="Space Grotesk" pitchFamily="34" charset="-120"/>
              </a:rPr>
              <a:t>Starting versions: ml-pipeline 1.4.0, infra 0.3.1. Root-only changes like README.md release nothing.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1985"/>
          </a:xfrm>
          <a:prstGeom prst="rect">
            <a:avLst/>
          </a:prstGeom>
          <a:noFill/>
          <a:ln/>
        </p:spPr>
        <p:txBody>
          <a:bodyPr wrap="square" lIns="0" tIns="0" rIns="0" bIns="0" rtlCol="0" anchor="t">
            <a:normAutofit/>
          </a:bodyPr>
          <a:lstStyle/>
          <a:p>
            <a:pPr algn="l" indent="0" marL="0">
              <a:lnSpc>
                <a:spcPts val="3403"/>
              </a:lnSpc>
              <a:buNone/>
            </a:pPr>
            <a:r>
              <a:rPr lang="en-US" sz="3094" b="1" i="0" spc="-50" kern="0" dirty="0">
                <a:solidFill>
                  <a:srgbClr val="1B1E26"/>
                </a:solidFill>
                <a:latin typeface="Space Grotesk" pitchFamily="34" charset="0"/>
                <a:ea typeface="Space Grotesk" pitchFamily="34" charset="-122"/>
                <a:cs typeface="Space Grotesk" pitchFamily="34" charset="-120"/>
              </a:rPr>
              <a:t>PR titles vs. commits: what lands on main</a:t>
            </a:r>
            <a:endParaRPr lang="en-US" sz="3094" dirty="0"/>
          </a:p>
        </p:txBody>
      </p:sp>
      <p:sp>
        <p:nvSpPr>
          <p:cNvPr id="3" name="Shape 1"/>
          <p:cNvSpPr/>
          <p:nvPr/>
        </p:nvSpPr>
        <p:spPr>
          <a:xfrm>
            <a:off x="819150" y="1569740"/>
            <a:ext cx="5118100" cy="3418719"/>
          </a:xfrm>
          <a:prstGeom prst="roundRect">
            <a:avLst>
              <a:gd name="adj" fmla="val 2786"/>
            </a:avLst>
          </a:prstGeom>
          <a:solidFill>
            <a:srgbClr val="FFFDF8"/>
          </a:solidFill>
          <a:ln w="12700">
            <a:solidFill>
              <a:srgbClr val="E2DDD2"/>
            </a:solidFill>
            <a:prstDash val="solid"/>
          </a:ln>
        </p:spPr>
      </p:sp>
      <p:sp>
        <p:nvSpPr>
          <p:cNvPr id="4" name="Text 2"/>
          <p:cNvSpPr/>
          <p:nvPr/>
        </p:nvSpPr>
        <p:spPr>
          <a:xfrm>
            <a:off x="1028095" y="1778682"/>
            <a:ext cx="4841216" cy="308882"/>
          </a:xfrm>
          <a:prstGeom prst="rect">
            <a:avLst/>
          </a:prstGeom>
          <a:noFill/>
          <a:ln/>
        </p:spPr>
        <p:txBody>
          <a:bodyPr wrap="square" lIns="0" tIns="0" rIns="0" bIns="0" rtlCol="0" anchor="t">
            <a:normAutofit/>
          </a:bodyPr>
          <a:lstStyle/>
          <a:p>
            <a:pPr algn="l" indent="0" marL="0">
              <a:lnSpc>
                <a:spcPts val="1973"/>
              </a:lnSpc>
              <a:buNone/>
            </a:pPr>
            <a:r>
              <a:rPr lang="en-US" sz="1644" b="1" dirty="0">
                <a:solidFill>
                  <a:srgbClr val="1B1E26"/>
                </a:solidFill>
                <a:latin typeface="Space Grotesk" pitchFamily="34" charset="0"/>
                <a:ea typeface="Space Grotesk" pitchFamily="34" charset="-122"/>
                <a:cs typeface="Space Grotesk" pitchFamily="34" charset="-120"/>
              </a:rPr>
              <a:t>Squash merge </a:t>
            </a:r>
            <a:r>
              <a:rPr lang="en-US" sz="1644" b="1" dirty="0">
                <a:solidFill>
                  <a:srgbClr val="B8441B"/>
                </a:solidFill>
                <a:latin typeface="Space Grotesk" pitchFamily="34" charset="0"/>
                <a:ea typeface="Space Grotesk" pitchFamily="34" charset="-122"/>
                <a:cs typeface="Space Grotesk" pitchFamily="34" charset="-120"/>
              </a:rPr>
              <a:t>(recommended)</a:t>
            </a:r>
            <a:endParaRPr lang="en-US" sz="1644" dirty="0"/>
          </a:p>
        </p:txBody>
      </p:sp>
      <p:sp>
        <p:nvSpPr>
          <p:cNvPr id="5" name="Text 3"/>
          <p:cNvSpPr/>
          <p:nvPr/>
        </p:nvSpPr>
        <p:spPr>
          <a:xfrm>
            <a:off x="1028095" y="2163763"/>
            <a:ext cx="4841216" cy="256910"/>
          </a:xfrm>
          <a:prstGeom prst="rect">
            <a:avLst/>
          </a:prstGeom>
          <a:noFill/>
          <a:ln/>
        </p:spPr>
        <p:txBody>
          <a:bodyPr wrap="square" lIns="0" tIns="0" rIns="0" bIns="0" rtlCol="0" anchor="t">
            <a:normAutofit/>
          </a:bodyPr>
          <a:lstStyle/>
          <a:p>
            <a:pPr algn="l" indent="0" marL="0">
              <a:lnSpc>
                <a:spcPts val="1586"/>
              </a:lnSpc>
              <a:buNone/>
            </a:pPr>
            <a:r>
              <a:rPr lang="en-US" sz="1133" b="1" dirty="0">
                <a:solidFill>
                  <a:srgbClr val="5D6270"/>
                </a:solidFill>
                <a:latin typeface="Space Grotesk" pitchFamily="34" charset="0"/>
                <a:ea typeface="Space Grotesk" pitchFamily="34" charset="-122"/>
                <a:cs typeface="Space Grotesk" pitchFamily="34" charset="-120"/>
              </a:rPr>
              <a:t>Only the PR title matters</a:t>
            </a:r>
            <a:endParaRPr lang="en-US" sz="1133" dirty="0"/>
          </a:p>
        </p:txBody>
      </p:sp>
      <p:sp>
        <p:nvSpPr>
          <p:cNvPr id="6" name="Shape 4"/>
          <p:cNvSpPr/>
          <p:nvPr/>
        </p:nvSpPr>
        <p:spPr>
          <a:xfrm>
            <a:off x="1028095" y="2496877"/>
            <a:ext cx="4700210" cy="1486354"/>
          </a:xfrm>
          <a:prstGeom prst="roundRect">
            <a:avLst>
              <a:gd name="adj" fmla="val 5127"/>
            </a:avLst>
          </a:prstGeom>
          <a:solidFill>
            <a:srgbClr val="15181F"/>
          </a:solidFill>
          <a:ln/>
        </p:spPr>
      </p:sp>
      <p:sp>
        <p:nvSpPr>
          <p:cNvPr id="7" name="Text 5"/>
          <p:cNvSpPr/>
          <p:nvPr/>
        </p:nvSpPr>
        <p:spPr>
          <a:xfrm>
            <a:off x="1231295" y="2649277"/>
            <a:ext cx="4422624" cy="234459"/>
          </a:xfrm>
          <a:prstGeom prst="rect">
            <a:avLst/>
          </a:prstGeom>
          <a:noFill/>
          <a:ln/>
        </p:spPr>
        <p:txBody>
          <a:bodyPr wrap="square" lIns="0" tIns="0" rIns="0" bIns="0" rtlCol="0" anchor="t">
            <a:normAutofit/>
          </a:bodyPr>
          <a:lstStyle/>
          <a:p>
            <a:pPr algn="l" indent="0" marL="0">
              <a:lnSpc>
                <a:spcPts val="1456"/>
              </a:lnSpc>
              <a:buNone/>
            </a:pPr>
            <a:r>
              <a:rPr lang="en-US" sz="1040" strike="sngStrike" dirty="0">
                <a:solidFill>
                  <a:srgbClr val="8A909C"/>
                </a:solidFill>
                <a:latin typeface="JetBrains Mono" pitchFamily="49" charset="0"/>
                <a:ea typeface="JetBrains Mono" pitchFamily="49" charset="-122"/>
                <a:cs typeface="JetBrains Mono" pitchFamily="49" charset="-120"/>
              </a:rPr>
              <a:t>wip</a:t>
            </a:r>
            <a:endParaRPr lang="en-US" sz="1040" dirty="0"/>
          </a:p>
        </p:txBody>
      </p:sp>
      <p:sp>
        <p:nvSpPr>
          <p:cNvPr id="8" name="Text 6"/>
          <p:cNvSpPr/>
          <p:nvPr/>
        </p:nvSpPr>
        <p:spPr>
          <a:xfrm>
            <a:off x="1231295" y="2896431"/>
            <a:ext cx="4422624" cy="234421"/>
          </a:xfrm>
          <a:prstGeom prst="rect">
            <a:avLst/>
          </a:prstGeom>
          <a:noFill/>
          <a:ln/>
        </p:spPr>
        <p:txBody>
          <a:bodyPr wrap="square" lIns="0" tIns="0" rIns="0" bIns="0" rtlCol="0" anchor="t">
            <a:normAutofit/>
          </a:bodyPr>
          <a:lstStyle/>
          <a:p>
            <a:pPr algn="l" indent="0" marL="0">
              <a:lnSpc>
                <a:spcPts val="1456"/>
              </a:lnSpc>
              <a:buNone/>
            </a:pPr>
            <a:r>
              <a:rPr lang="en-US" sz="1040" strike="sngStrike" dirty="0">
                <a:solidFill>
                  <a:srgbClr val="8A909C"/>
                </a:solidFill>
                <a:latin typeface="JetBrains Mono" pitchFamily="49" charset="0"/>
                <a:ea typeface="JetBrains Mono" pitchFamily="49" charset="-122"/>
                <a:cs typeface="JetBrains Mono" pitchFamily="49" charset="-120"/>
              </a:rPr>
              <a:t>fix typo</a:t>
            </a:r>
            <a:endParaRPr lang="en-US" sz="1040" dirty="0"/>
          </a:p>
        </p:txBody>
      </p:sp>
      <p:sp>
        <p:nvSpPr>
          <p:cNvPr id="9" name="Text 7"/>
          <p:cNvSpPr/>
          <p:nvPr/>
        </p:nvSpPr>
        <p:spPr>
          <a:xfrm>
            <a:off x="1231295" y="3143560"/>
            <a:ext cx="4422624" cy="234459"/>
          </a:xfrm>
          <a:prstGeom prst="rect">
            <a:avLst/>
          </a:prstGeom>
          <a:noFill/>
          <a:ln/>
        </p:spPr>
        <p:txBody>
          <a:bodyPr wrap="square" lIns="0" tIns="0" rIns="0" bIns="0" rtlCol="0" anchor="t">
            <a:normAutofit/>
          </a:bodyPr>
          <a:lstStyle/>
          <a:p>
            <a:pPr algn="l" indent="0" marL="0">
              <a:lnSpc>
                <a:spcPts val="1456"/>
              </a:lnSpc>
              <a:buNone/>
            </a:pPr>
            <a:r>
              <a:rPr lang="en-US" sz="1040" strike="sngStrike" dirty="0">
                <a:solidFill>
                  <a:srgbClr val="8A909C"/>
                </a:solidFill>
                <a:latin typeface="JetBrains Mono" pitchFamily="49" charset="0"/>
                <a:ea typeface="JetBrains Mono" pitchFamily="49" charset="-122"/>
                <a:cs typeface="JetBrains Mono" pitchFamily="49" charset="-120"/>
              </a:rPr>
              <a:t>try again</a:t>
            </a:r>
            <a:endParaRPr lang="en-US" sz="1040" dirty="0"/>
          </a:p>
        </p:txBody>
      </p:sp>
      <p:sp>
        <p:nvSpPr>
          <p:cNvPr id="10" name="Text 8"/>
          <p:cNvSpPr/>
          <p:nvPr/>
        </p:nvSpPr>
        <p:spPr>
          <a:xfrm>
            <a:off x="1231295" y="3390714"/>
            <a:ext cx="4422624" cy="218357"/>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A3A9B6"/>
                </a:solidFill>
                <a:latin typeface="Space Grotesk" pitchFamily="34" charset="0"/>
                <a:ea typeface="Space Grotesk" pitchFamily="34" charset="-122"/>
                <a:cs typeface="Space Grotesk" pitchFamily="34" charset="-120"/>
              </a:rPr>
              <a:t>squashed into one commit on main:</a:t>
            </a:r>
            <a:endParaRPr lang="en-US" sz="945" dirty="0"/>
          </a:p>
        </p:txBody>
      </p:sp>
      <p:sp>
        <p:nvSpPr>
          <p:cNvPr id="11" name="Text 9"/>
          <p:cNvSpPr/>
          <p:nvPr/>
        </p:nvSpPr>
        <p:spPr>
          <a:xfrm>
            <a:off x="1231295" y="3621770"/>
            <a:ext cx="4422624" cy="234459"/>
          </a:xfrm>
          <a:prstGeom prst="rect">
            <a:avLst/>
          </a:prstGeom>
          <a:noFill/>
          <a:ln/>
        </p:spPr>
        <p:txBody>
          <a:bodyPr wrap="square" lIns="0" tIns="0" rIns="0" bIns="0" rtlCol="0" anchor="t">
            <a:normAutofit/>
          </a:bodyPr>
          <a:lstStyle/>
          <a:p>
            <a:pPr algn="l" indent="0" marL="0">
              <a:lnSpc>
                <a:spcPts val="1456"/>
              </a:lnSpc>
              <a:buNone/>
            </a:pPr>
            <a:r>
              <a:rPr lang="en-US" sz="1040" b="1" dirty="0">
                <a:solidFill>
                  <a:srgbClr val="FF8A5C"/>
                </a:solidFill>
                <a:latin typeface="JetBrains Mono" pitchFamily="49" charset="0"/>
                <a:ea typeface="JetBrains Mono" pitchFamily="49" charset="-122"/>
                <a:cs typeface="JetBrains Mono" pitchFamily="49" charset="-120"/>
              </a:rPr>
              <a:t>feat(reports): export to CSV</a:t>
            </a:r>
            <a:endParaRPr lang="en-US" sz="1040" dirty="0"/>
          </a:p>
        </p:txBody>
      </p:sp>
      <p:sp>
        <p:nvSpPr>
          <p:cNvPr id="12" name="Text 10"/>
          <p:cNvSpPr/>
          <p:nvPr/>
        </p:nvSpPr>
        <p:spPr>
          <a:xfrm>
            <a:off x="1028095" y="4084824"/>
            <a:ext cx="4841216" cy="720082"/>
          </a:xfrm>
          <a:prstGeom prst="rect">
            <a:avLst/>
          </a:prstGeom>
          <a:noFill/>
          <a:ln/>
        </p:spPr>
        <p:txBody>
          <a:bodyPr wrap="square" lIns="0" tIns="0" rIns="0" bIns="0" rtlCol="0" anchor="t">
            <a:normAutofit/>
          </a:bodyPr>
          <a:lstStyle/>
          <a:p>
            <a:pPr algn="l" indent="0" marL="0">
              <a:lnSpc>
                <a:spcPts val="1880"/>
              </a:lnSpc>
              <a:buNone/>
            </a:pPr>
            <a:r>
              <a:rPr lang="en-US" sz="1343" dirty="0">
                <a:solidFill>
                  <a:srgbClr val="1B1E26"/>
                </a:solidFill>
                <a:latin typeface="Space Grotesk" pitchFamily="34" charset="0"/>
                <a:ea typeface="Space Grotesk" pitchFamily="34" charset="-122"/>
                <a:cs typeface="Space Grotesk" pitchFamily="34" charset="-120"/>
              </a:rPr>
              <a:t>Messy branch commits are fine. The </a:t>
            </a:r>
            <a:r>
              <a:rPr lang="en-US" sz="1343" b="1" dirty="0">
                <a:solidFill>
                  <a:srgbClr val="1B1E26"/>
                </a:solidFill>
                <a:latin typeface="Space Grotesk" pitchFamily="34" charset="0"/>
                <a:ea typeface="Space Grotesk" pitchFamily="34" charset="-122"/>
                <a:cs typeface="Space Grotesk" pitchFamily="34" charset="-120"/>
              </a:rPr>
              <a:t>PR title</a:t>
            </a:r>
            <a:r>
              <a:rPr lang="en-US" sz="1343" dirty="0">
                <a:solidFill>
                  <a:srgbClr val="1B1E26"/>
                </a:solidFill>
                <a:latin typeface="Space Grotesk" pitchFamily="34" charset="0"/>
                <a:ea typeface="Space Grotesk" pitchFamily="34" charset="-122"/>
                <a:cs typeface="Space Grotesk" pitchFamily="34" charset="-120"/>
              </a:rPr>
              <a:t> becomes the single commit Release Please reads.</a:t>
            </a:r>
            <a:endParaRPr lang="en-US" sz="1343" dirty="0"/>
          </a:p>
        </p:txBody>
      </p:sp>
      <p:sp>
        <p:nvSpPr>
          <p:cNvPr id="13" name="Shape 11"/>
          <p:cNvSpPr/>
          <p:nvPr/>
        </p:nvSpPr>
        <p:spPr>
          <a:xfrm>
            <a:off x="6254750" y="1569740"/>
            <a:ext cx="5118100" cy="3418719"/>
          </a:xfrm>
          <a:prstGeom prst="roundRect">
            <a:avLst>
              <a:gd name="adj" fmla="val 2786"/>
            </a:avLst>
          </a:prstGeom>
          <a:solidFill>
            <a:srgbClr val="FFFDF8"/>
          </a:solidFill>
          <a:ln w="12700">
            <a:solidFill>
              <a:srgbClr val="E2DDD2"/>
            </a:solidFill>
            <a:prstDash val="solid"/>
          </a:ln>
        </p:spPr>
      </p:sp>
      <p:sp>
        <p:nvSpPr>
          <p:cNvPr id="14" name="Text 12"/>
          <p:cNvSpPr/>
          <p:nvPr/>
        </p:nvSpPr>
        <p:spPr>
          <a:xfrm>
            <a:off x="6463695" y="1778682"/>
            <a:ext cx="4841216" cy="308882"/>
          </a:xfrm>
          <a:prstGeom prst="rect">
            <a:avLst/>
          </a:prstGeom>
          <a:noFill/>
          <a:ln/>
        </p:spPr>
        <p:txBody>
          <a:bodyPr wrap="square" lIns="0" tIns="0" rIns="0" bIns="0" rtlCol="0" anchor="t">
            <a:normAutofit/>
          </a:bodyPr>
          <a:lstStyle/>
          <a:p>
            <a:pPr algn="l" indent="0" marL="0">
              <a:lnSpc>
                <a:spcPts val="1973"/>
              </a:lnSpc>
              <a:buNone/>
            </a:pPr>
            <a:r>
              <a:rPr lang="en-US" sz="1644" b="1" dirty="0">
                <a:solidFill>
                  <a:srgbClr val="1B1E26"/>
                </a:solidFill>
                <a:latin typeface="Space Grotesk" pitchFamily="34" charset="0"/>
                <a:ea typeface="Space Grotesk" pitchFamily="34" charset="-122"/>
                <a:cs typeface="Space Grotesk" pitchFamily="34" charset="-120"/>
              </a:rPr>
              <a:t>Merge commit or rebase</a:t>
            </a:r>
            <a:endParaRPr lang="en-US" sz="1644" dirty="0"/>
          </a:p>
        </p:txBody>
      </p:sp>
      <p:sp>
        <p:nvSpPr>
          <p:cNvPr id="15" name="Text 13"/>
          <p:cNvSpPr/>
          <p:nvPr/>
        </p:nvSpPr>
        <p:spPr>
          <a:xfrm>
            <a:off x="6463695" y="2163763"/>
            <a:ext cx="4841216" cy="256910"/>
          </a:xfrm>
          <a:prstGeom prst="rect">
            <a:avLst/>
          </a:prstGeom>
          <a:noFill/>
          <a:ln/>
        </p:spPr>
        <p:txBody>
          <a:bodyPr wrap="square" lIns="0" tIns="0" rIns="0" bIns="0" rtlCol="0" anchor="t">
            <a:normAutofit/>
          </a:bodyPr>
          <a:lstStyle/>
          <a:p>
            <a:pPr algn="l" indent="0" marL="0">
              <a:lnSpc>
                <a:spcPts val="1586"/>
              </a:lnSpc>
              <a:buNone/>
            </a:pPr>
            <a:r>
              <a:rPr lang="en-US" sz="1133" b="1" dirty="0">
                <a:solidFill>
                  <a:srgbClr val="5D6270"/>
                </a:solidFill>
                <a:latin typeface="Space Grotesk" pitchFamily="34" charset="0"/>
                <a:ea typeface="Space Grotesk" pitchFamily="34" charset="-122"/>
                <a:cs typeface="Space Grotesk" pitchFamily="34" charset="-120"/>
              </a:rPr>
              <a:t>Every commit matters</a:t>
            </a:r>
            <a:endParaRPr lang="en-US" sz="1133" dirty="0"/>
          </a:p>
        </p:txBody>
      </p:sp>
      <p:sp>
        <p:nvSpPr>
          <p:cNvPr id="16" name="Shape 14"/>
          <p:cNvSpPr/>
          <p:nvPr/>
        </p:nvSpPr>
        <p:spPr>
          <a:xfrm>
            <a:off x="6463695" y="2496877"/>
            <a:ext cx="4700210" cy="1486354"/>
          </a:xfrm>
          <a:prstGeom prst="roundRect">
            <a:avLst>
              <a:gd name="adj" fmla="val 5127"/>
            </a:avLst>
          </a:prstGeom>
          <a:solidFill>
            <a:srgbClr val="15181F"/>
          </a:solidFill>
          <a:ln/>
        </p:spPr>
      </p:sp>
      <p:sp>
        <p:nvSpPr>
          <p:cNvPr id="17" name="Text 15"/>
          <p:cNvSpPr/>
          <p:nvPr/>
        </p:nvSpPr>
        <p:spPr>
          <a:xfrm>
            <a:off x="6666895" y="2649277"/>
            <a:ext cx="4422624" cy="218357"/>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A3A9B6"/>
                </a:solidFill>
                <a:latin typeface="Space Grotesk" pitchFamily="34" charset="0"/>
                <a:ea typeface="Space Grotesk" pitchFamily="34" charset="-122"/>
                <a:cs typeface="Space Grotesk" pitchFamily="34" charset="-120"/>
              </a:rPr>
              <a:t>every branch commit lands on main:</a:t>
            </a:r>
            <a:endParaRPr lang="en-US" sz="945" dirty="0"/>
          </a:p>
        </p:txBody>
      </p:sp>
      <p:sp>
        <p:nvSpPr>
          <p:cNvPr id="18" name="Text 16"/>
          <p:cNvSpPr/>
          <p:nvPr/>
        </p:nvSpPr>
        <p:spPr>
          <a:xfrm>
            <a:off x="6666895" y="2880333"/>
            <a:ext cx="4422624" cy="234421"/>
          </a:xfrm>
          <a:prstGeom prst="rect">
            <a:avLst/>
          </a:prstGeom>
          <a:noFill/>
          <a:ln/>
        </p:spPr>
        <p:txBody>
          <a:bodyPr wrap="square" lIns="0" tIns="0" rIns="0" bIns="0" rtlCol="0" anchor="t">
            <a:normAutofit/>
          </a:bodyPr>
          <a:lstStyle/>
          <a:p>
            <a:pPr algn="l" indent="0" marL="0">
              <a:lnSpc>
                <a:spcPts val="1456"/>
              </a:lnSpc>
              <a:buNone/>
            </a:pPr>
            <a:r>
              <a:rPr lang="en-US" sz="1040" b="1" dirty="0">
                <a:solidFill>
                  <a:srgbClr val="7FB0FF"/>
                </a:solidFill>
                <a:latin typeface="JetBrains Mono" pitchFamily="49" charset="0"/>
                <a:ea typeface="JetBrains Mono" pitchFamily="49" charset="-122"/>
                <a:cs typeface="JetBrains Mono" pitchFamily="49" charset="-120"/>
              </a:rPr>
              <a:t>feat(reports): export to CSV</a:t>
            </a:r>
            <a:endParaRPr lang="en-US" sz="1040" dirty="0"/>
          </a:p>
        </p:txBody>
      </p:sp>
      <p:sp>
        <p:nvSpPr>
          <p:cNvPr id="19" name="Text 17"/>
          <p:cNvSpPr/>
          <p:nvPr/>
        </p:nvSpPr>
        <p:spPr>
          <a:xfrm>
            <a:off x="6666895" y="3127449"/>
            <a:ext cx="4422624" cy="234459"/>
          </a:xfrm>
          <a:prstGeom prst="rect">
            <a:avLst/>
          </a:prstGeom>
          <a:noFill/>
          <a:ln/>
        </p:spPr>
        <p:txBody>
          <a:bodyPr wrap="square" lIns="0" tIns="0" rIns="0" bIns="0" rtlCol="0" anchor="t">
            <a:normAutofit/>
          </a:bodyPr>
          <a:lstStyle/>
          <a:p>
            <a:pPr algn="l" indent="0" marL="0">
              <a:lnSpc>
                <a:spcPts val="1456"/>
              </a:lnSpc>
              <a:buNone/>
            </a:pPr>
            <a:r>
              <a:rPr lang="en-US" sz="1040" dirty="0">
                <a:solidFill>
                  <a:srgbClr val="E6E2D8"/>
                </a:solidFill>
                <a:latin typeface="JetBrains Mono" pitchFamily="49" charset="0"/>
                <a:ea typeface="JetBrains Mono" pitchFamily="49" charset="-122"/>
                <a:cs typeface="JetBrains Mono" pitchFamily="49" charset="-120"/>
              </a:rPr>
              <a:t>wip </a:t>
            </a:r>
            <a:r>
              <a:rPr lang="en-US" sz="1040" dirty="0">
                <a:solidFill>
                  <a:srgbClr val="FFD166"/>
                </a:solidFill>
                <a:latin typeface="JetBrains Mono" pitchFamily="49" charset="0"/>
                <a:ea typeface="JetBrains Mono" pitchFamily="49" charset="-122"/>
                <a:cs typeface="JetBrains Mono" pitchFamily="49" charset="-120"/>
              </a:rPr>
              <a:t>(skipped)</a:t>
            </a:r>
            <a:endParaRPr lang="en-US" sz="1040" dirty="0"/>
          </a:p>
        </p:txBody>
      </p:sp>
      <p:sp>
        <p:nvSpPr>
          <p:cNvPr id="20" name="Text 18"/>
          <p:cNvSpPr/>
          <p:nvPr/>
        </p:nvSpPr>
        <p:spPr>
          <a:xfrm>
            <a:off x="6666895" y="3374616"/>
            <a:ext cx="4422624" cy="234459"/>
          </a:xfrm>
          <a:prstGeom prst="rect">
            <a:avLst/>
          </a:prstGeom>
          <a:noFill/>
          <a:ln/>
        </p:spPr>
        <p:txBody>
          <a:bodyPr wrap="square" lIns="0" tIns="0" rIns="0" bIns="0" rtlCol="0" anchor="t">
            <a:normAutofit/>
          </a:bodyPr>
          <a:lstStyle/>
          <a:p>
            <a:pPr algn="l" indent="0" marL="0">
              <a:lnSpc>
                <a:spcPts val="1456"/>
              </a:lnSpc>
              <a:buNone/>
            </a:pPr>
            <a:r>
              <a:rPr lang="en-US" sz="1040" dirty="0">
                <a:solidFill>
                  <a:srgbClr val="E6E2D8"/>
                </a:solidFill>
                <a:latin typeface="JetBrains Mono" pitchFamily="49" charset="0"/>
                <a:ea typeface="JetBrains Mono" pitchFamily="49" charset="-122"/>
                <a:cs typeface="JetBrains Mono" pitchFamily="49" charset="-120"/>
              </a:rPr>
              <a:t>fix typo </a:t>
            </a:r>
            <a:r>
              <a:rPr lang="en-US" sz="1040" dirty="0">
                <a:solidFill>
                  <a:srgbClr val="FFD166"/>
                </a:solidFill>
                <a:latin typeface="JetBrains Mono" pitchFamily="49" charset="0"/>
                <a:ea typeface="JetBrains Mono" pitchFamily="49" charset="-122"/>
                <a:cs typeface="JetBrains Mono" pitchFamily="49" charset="-120"/>
              </a:rPr>
              <a:t>(skipped)</a:t>
            </a:r>
            <a:endParaRPr lang="en-US" sz="1040" dirty="0"/>
          </a:p>
        </p:txBody>
      </p:sp>
      <p:sp>
        <p:nvSpPr>
          <p:cNvPr id="21" name="Text 19"/>
          <p:cNvSpPr/>
          <p:nvPr/>
        </p:nvSpPr>
        <p:spPr>
          <a:xfrm>
            <a:off x="6666895" y="3621770"/>
            <a:ext cx="4422624" cy="234459"/>
          </a:xfrm>
          <a:prstGeom prst="rect">
            <a:avLst/>
          </a:prstGeom>
          <a:noFill/>
          <a:ln/>
        </p:spPr>
        <p:txBody>
          <a:bodyPr wrap="square" lIns="0" tIns="0" rIns="0" bIns="0" rtlCol="0" anchor="t">
            <a:normAutofit/>
          </a:bodyPr>
          <a:lstStyle/>
          <a:p>
            <a:pPr algn="l" indent="0" marL="0">
              <a:lnSpc>
                <a:spcPts val="1456"/>
              </a:lnSpc>
              <a:buNone/>
            </a:pPr>
            <a:r>
              <a:rPr lang="en-US" sz="1040" dirty="0">
                <a:solidFill>
                  <a:srgbClr val="E6E2D8"/>
                </a:solidFill>
                <a:latin typeface="JetBrains Mono" pitchFamily="49" charset="0"/>
                <a:ea typeface="JetBrains Mono" pitchFamily="49" charset="-122"/>
                <a:cs typeface="JetBrains Mono" pitchFamily="49" charset="-120"/>
              </a:rPr>
              <a:t>try again </a:t>
            </a:r>
            <a:r>
              <a:rPr lang="en-US" sz="1040" dirty="0">
                <a:solidFill>
                  <a:srgbClr val="FFD166"/>
                </a:solidFill>
                <a:latin typeface="JetBrains Mono" pitchFamily="49" charset="0"/>
                <a:ea typeface="JetBrains Mono" pitchFamily="49" charset="-122"/>
                <a:cs typeface="JetBrains Mono" pitchFamily="49" charset="-120"/>
              </a:rPr>
              <a:t>(skipped)</a:t>
            </a:r>
            <a:endParaRPr lang="en-US" sz="1040" dirty="0"/>
          </a:p>
        </p:txBody>
      </p:sp>
      <p:sp>
        <p:nvSpPr>
          <p:cNvPr id="22" name="Text 20"/>
          <p:cNvSpPr/>
          <p:nvPr/>
        </p:nvSpPr>
        <p:spPr>
          <a:xfrm>
            <a:off x="6463695" y="4084824"/>
            <a:ext cx="4841216" cy="720082"/>
          </a:xfrm>
          <a:prstGeom prst="rect">
            <a:avLst/>
          </a:prstGeom>
          <a:noFill/>
          <a:ln/>
        </p:spPr>
        <p:txBody>
          <a:bodyPr wrap="square" lIns="0" tIns="0" rIns="0" bIns="0" rtlCol="0" anchor="t">
            <a:normAutofit/>
          </a:bodyPr>
          <a:lstStyle/>
          <a:p>
            <a:pPr algn="l" indent="0" marL="0">
              <a:lnSpc>
                <a:spcPts val="1605"/>
              </a:lnSpc>
              <a:buNone/>
            </a:pPr>
            <a:r>
              <a:rPr lang="en-US" sz="1146" dirty="0">
                <a:solidFill>
                  <a:srgbClr val="1B1E26"/>
                </a:solidFill>
                <a:latin typeface="Space Grotesk" pitchFamily="34" charset="0"/>
                <a:ea typeface="Space Grotesk" pitchFamily="34" charset="-122"/>
                <a:cs typeface="Space Grotesk" pitchFamily="34" charset="-120"/>
              </a:rPr>
              <a:t>Each commit must follow the format. Ones that do not are ignored, so real changes can quietly miss the changelog.</a:t>
            </a:r>
            <a:endParaRPr lang="en-US" sz="1146" dirty="0"/>
          </a:p>
        </p:txBody>
      </p:sp>
      <p:sp>
        <p:nvSpPr>
          <p:cNvPr id="23" name="Shape 21"/>
          <p:cNvSpPr/>
          <p:nvPr/>
        </p:nvSpPr>
        <p:spPr>
          <a:xfrm>
            <a:off x="812800" y="5248808"/>
            <a:ext cx="10566400" cy="796396"/>
          </a:xfrm>
          <a:prstGeom prst="roundRect">
            <a:avLst>
              <a:gd name="adj" fmla="val 12757"/>
            </a:avLst>
          </a:prstGeom>
          <a:solidFill>
            <a:srgbClr val="15181F"/>
          </a:solidFill>
          <a:ln/>
        </p:spPr>
      </p:sp>
      <p:pic>
        <p:nvPicPr>
          <p:cNvPr id="24" name="Image 0" descr="Settings">    </p:cNvPr>
          <p:cNvPicPr>
            <a:picLocks noChangeAspect="1"/>
          </p:cNvPicPr>
          <p:nvPr/>
        </p:nvPicPr>
        <p:blipFill>
          <a:blip r:embed="rId1"/>
          <a:srcRect l="0" r="0" t="-51" b="-51"/>
          <a:stretch/>
        </p:blipFill>
        <p:spPr>
          <a:xfrm>
            <a:off x="1066800" y="5507310"/>
            <a:ext cx="222023" cy="279400"/>
          </a:xfrm>
          <a:prstGeom prst="rect">
            <a:avLst/>
          </a:prstGeom>
        </p:spPr>
      </p:pic>
      <p:sp>
        <p:nvSpPr>
          <p:cNvPr id="25" name="Text 22"/>
          <p:cNvSpPr/>
          <p:nvPr/>
        </p:nvSpPr>
        <p:spPr>
          <a:xfrm>
            <a:off x="1441223" y="5360727"/>
            <a:ext cx="9974496" cy="59795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Space Grotesk" pitchFamily="34" charset="0"/>
                <a:ea typeface="Space Grotesk" pitchFamily="34" charset="-122"/>
                <a:cs typeface="Space Grotesk" pitchFamily="34" charset="-120"/>
              </a:rPr>
              <a:t>Repo setting:</a:t>
            </a:r>
            <a:r>
              <a:rPr lang="en-US" sz="1400" dirty="0">
                <a:solidFill>
                  <a:srgbClr val="F6F3EC"/>
                </a:solidFill>
                <a:latin typeface="Space Grotesk" pitchFamily="34" charset="0"/>
                <a:ea typeface="Space Grotesk" pitchFamily="34" charset="-122"/>
                <a:cs typeface="Space Grotesk" pitchFamily="34" charset="-120"/>
              </a:rPr>
              <a:t> make squash merges default to the PR title. Otherwise a one-commit PR uses that commit's message instead.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037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B1E26"/>
                </a:solidFill>
                <a:latin typeface="Space Grotesk" pitchFamily="34" charset="0"/>
                <a:ea typeface="Space Grotesk" pitchFamily="34" charset="-122"/>
                <a:cs typeface="Space Grotesk" pitchFamily="34" charset="-120"/>
              </a:rPr>
              <a:t>Keep it honest: three guardrails</a:t>
            </a:r>
            <a:endParaRPr lang="en-US" sz="3600" dirty="0"/>
          </a:p>
        </p:txBody>
      </p:sp>
      <p:sp>
        <p:nvSpPr>
          <p:cNvPr id="3" name="Shape 1"/>
          <p:cNvSpPr/>
          <p:nvPr/>
        </p:nvSpPr>
        <p:spPr>
          <a:xfrm>
            <a:off x="819150" y="1702296"/>
            <a:ext cx="3407833" cy="2556404"/>
          </a:xfrm>
          <a:prstGeom prst="roundRect">
            <a:avLst>
              <a:gd name="adj" fmla="val 4720"/>
            </a:avLst>
          </a:prstGeom>
          <a:solidFill>
            <a:srgbClr val="FFFDF8"/>
          </a:solidFill>
          <a:ln w="12700">
            <a:solidFill>
              <a:srgbClr val="E2DDD2"/>
            </a:solidFill>
            <a:prstDash val="solid"/>
          </a:ln>
        </p:spPr>
      </p:sp>
      <p:pic>
        <p:nvPicPr>
          <p:cNvPr id="4" name="Image 0" descr="Check">    </p:cNvPr>
          <p:cNvPicPr>
            <a:picLocks noChangeAspect="1"/>
          </p:cNvPicPr>
          <p:nvPr/>
        </p:nvPicPr>
        <p:blipFill>
          <a:blip r:embed="rId1"/>
          <a:srcRect l="0" r="0" t="0" b="0"/>
          <a:stretch/>
        </p:blipFill>
        <p:spPr>
          <a:xfrm>
            <a:off x="1078895" y="1962038"/>
            <a:ext cx="355600" cy="355600"/>
          </a:xfrm>
          <a:prstGeom prst="rect">
            <a:avLst/>
          </a:prstGeom>
        </p:spPr>
      </p:pic>
      <p:sp>
        <p:nvSpPr>
          <p:cNvPr id="5" name="Text 2"/>
          <p:cNvSpPr/>
          <p:nvPr/>
        </p:nvSpPr>
        <p:spPr>
          <a:xfrm>
            <a:off x="1078895" y="2419238"/>
            <a:ext cx="2974993" cy="35839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B1E26"/>
                </a:solidFill>
                <a:latin typeface="Space Grotesk" pitchFamily="34" charset="0"/>
                <a:ea typeface="Space Grotesk" pitchFamily="34" charset="-122"/>
                <a:cs typeface="Space Grotesk" pitchFamily="34" charset="-120"/>
              </a:rPr>
              <a:t>Squash merge</a:t>
            </a:r>
            <a:endParaRPr lang="en-US" sz="1900" dirty="0"/>
          </a:p>
        </p:txBody>
      </p:sp>
      <p:sp>
        <p:nvSpPr>
          <p:cNvPr id="6" name="Text 3"/>
          <p:cNvSpPr/>
          <p:nvPr/>
        </p:nvSpPr>
        <p:spPr>
          <a:xfrm>
            <a:off x="1078895" y="2853841"/>
            <a:ext cx="2974993" cy="11705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270"/>
                </a:solidFill>
                <a:latin typeface="Space Grotesk" pitchFamily="34" charset="0"/>
                <a:ea typeface="Space Grotesk" pitchFamily="34" charset="-122"/>
                <a:cs typeface="Space Grotesk" pitchFamily="34" charset="-120"/>
              </a:rPr>
              <a:t>Use the PR title as the commit message. One clean commit per PR, so only titles need to be right.</a:t>
            </a:r>
            <a:endParaRPr lang="en-US" sz="1400" dirty="0"/>
          </a:p>
        </p:txBody>
      </p:sp>
      <p:sp>
        <p:nvSpPr>
          <p:cNvPr id="7" name="Shape 4"/>
          <p:cNvSpPr/>
          <p:nvPr/>
        </p:nvSpPr>
        <p:spPr>
          <a:xfrm>
            <a:off x="4392083" y="1702296"/>
            <a:ext cx="3407833" cy="2556404"/>
          </a:xfrm>
          <a:prstGeom prst="roundRect">
            <a:avLst>
              <a:gd name="adj" fmla="val 4720"/>
            </a:avLst>
          </a:prstGeom>
          <a:solidFill>
            <a:srgbClr val="FFFDF8"/>
          </a:solidFill>
          <a:ln w="12700">
            <a:solidFill>
              <a:srgbClr val="E2DDD2"/>
            </a:solidFill>
            <a:prstDash val="solid"/>
          </a:ln>
        </p:spPr>
      </p:sp>
      <p:pic>
        <p:nvPicPr>
          <p:cNvPr id="8" name="Image 1" descr="Verified">    </p:cNvPr>
          <p:cNvPicPr>
            <a:picLocks noChangeAspect="1"/>
          </p:cNvPicPr>
          <p:nvPr/>
        </p:nvPicPr>
        <p:blipFill>
          <a:blip r:embed="rId2"/>
          <a:srcRect l="0" r="0" t="0" b="0"/>
          <a:stretch/>
        </p:blipFill>
        <p:spPr>
          <a:xfrm>
            <a:off x="4651829" y="1962038"/>
            <a:ext cx="355600" cy="355600"/>
          </a:xfrm>
          <a:prstGeom prst="rect">
            <a:avLst/>
          </a:prstGeom>
        </p:spPr>
      </p:pic>
      <p:sp>
        <p:nvSpPr>
          <p:cNvPr id="9" name="Text 5"/>
          <p:cNvSpPr/>
          <p:nvPr/>
        </p:nvSpPr>
        <p:spPr>
          <a:xfrm>
            <a:off x="4651829" y="2419238"/>
            <a:ext cx="2974993" cy="35839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B1E26"/>
                </a:solidFill>
                <a:latin typeface="Space Grotesk" pitchFamily="34" charset="0"/>
                <a:ea typeface="Space Grotesk" pitchFamily="34" charset="-122"/>
                <a:cs typeface="Space Grotesk" pitchFamily="34" charset="-120"/>
              </a:rPr>
              <a:t>Lint PR titles</a:t>
            </a:r>
            <a:endParaRPr lang="en-US" sz="1900" dirty="0"/>
          </a:p>
        </p:txBody>
      </p:sp>
      <p:sp>
        <p:nvSpPr>
          <p:cNvPr id="10" name="Text 6"/>
          <p:cNvSpPr/>
          <p:nvPr/>
        </p:nvSpPr>
        <p:spPr>
          <a:xfrm>
            <a:off x="4651829" y="2853841"/>
            <a:ext cx="2974993" cy="11705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270"/>
                </a:solidFill>
                <a:latin typeface="Space Grotesk" pitchFamily="34" charset="0"/>
                <a:ea typeface="Space Grotesk" pitchFamily="34" charset="-122"/>
                <a:cs typeface="Space Grotesk" pitchFamily="34" charset="-120"/>
              </a:rPr>
              <a:t>A required check, such as action-semantic-pull-request, blocks titles that skip the format.</a:t>
            </a:r>
            <a:endParaRPr lang="en-US" sz="1400" dirty="0"/>
          </a:p>
        </p:txBody>
      </p:sp>
      <p:sp>
        <p:nvSpPr>
          <p:cNvPr id="11" name="Shape 7"/>
          <p:cNvSpPr/>
          <p:nvPr/>
        </p:nvSpPr>
        <p:spPr>
          <a:xfrm>
            <a:off x="7965017" y="1702296"/>
            <a:ext cx="3407833" cy="2556404"/>
          </a:xfrm>
          <a:prstGeom prst="roundRect">
            <a:avLst>
              <a:gd name="adj" fmla="val 4720"/>
            </a:avLst>
          </a:prstGeom>
          <a:solidFill>
            <a:srgbClr val="FFFDF8"/>
          </a:solidFill>
          <a:ln w="12700">
            <a:solidFill>
              <a:srgbClr val="E2DDD2"/>
            </a:solidFill>
            <a:prstDash val="solid"/>
          </a:ln>
        </p:spPr>
      </p:sp>
      <p:pic>
        <p:nvPicPr>
          <p:cNvPr id="12" name="Image 2" descr="Code">    </p:cNvPr>
          <p:cNvPicPr>
            <a:picLocks noChangeAspect="1"/>
          </p:cNvPicPr>
          <p:nvPr/>
        </p:nvPicPr>
        <p:blipFill>
          <a:blip r:embed="rId3"/>
          <a:srcRect l="0" r="0" t="0" b="0"/>
          <a:stretch/>
        </p:blipFill>
        <p:spPr>
          <a:xfrm>
            <a:off x="8224762" y="1962038"/>
            <a:ext cx="355600" cy="355600"/>
          </a:xfrm>
          <a:prstGeom prst="rect">
            <a:avLst/>
          </a:prstGeom>
        </p:spPr>
      </p:pic>
      <p:sp>
        <p:nvSpPr>
          <p:cNvPr id="13" name="Text 8"/>
          <p:cNvSpPr/>
          <p:nvPr/>
        </p:nvSpPr>
        <p:spPr>
          <a:xfrm>
            <a:off x="8224762" y="2419238"/>
            <a:ext cx="2974993" cy="35839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B1E26"/>
                </a:solidFill>
                <a:latin typeface="Space Grotesk" pitchFamily="34" charset="0"/>
                <a:ea typeface="Space Grotesk" pitchFamily="34" charset="-122"/>
                <a:cs typeface="Space Grotesk" pitchFamily="34" charset="-120"/>
              </a:rPr>
              <a:t>Lint locally</a:t>
            </a:r>
            <a:endParaRPr lang="en-US" sz="1900" dirty="0"/>
          </a:p>
        </p:txBody>
      </p:sp>
      <p:sp>
        <p:nvSpPr>
          <p:cNvPr id="14" name="Text 9"/>
          <p:cNvSpPr/>
          <p:nvPr/>
        </p:nvSpPr>
        <p:spPr>
          <a:xfrm>
            <a:off x="8224762" y="2853841"/>
            <a:ext cx="2974993" cy="88423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270"/>
                </a:solidFill>
                <a:latin typeface="Space Grotesk" pitchFamily="34" charset="0"/>
                <a:ea typeface="Space Grotesk" pitchFamily="34" charset="-122"/>
                <a:cs typeface="Space Grotesk" pitchFamily="34" charset="-120"/>
              </a:rPr>
              <a:t>Optional. commitlint in a git hook catches mistakes before you push.</a:t>
            </a:r>
            <a:endParaRPr lang="en-US" sz="1400" dirty="0"/>
          </a:p>
        </p:txBody>
      </p:sp>
      <p:sp>
        <p:nvSpPr>
          <p:cNvPr id="15" name="Shape 10"/>
          <p:cNvSpPr/>
          <p:nvPr/>
        </p:nvSpPr>
        <p:spPr>
          <a:xfrm>
            <a:off x="812800" y="4569842"/>
            <a:ext cx="10566400" cy="928158"/>
          </a:xfrm>
          <a:prstGeom prst="roundRect">
            <a:avLst>
              <a:gd name="adj" fmla="val 10946"/>
            </a:avLst>
          </a:prstGeom>
          <a:solidFill>
            <a:srgbClr val="15181F"/>
          </a:solidFill>
          <a:ln/>
        </p:spPr>
      </p:sp>
      <p:pic>
        <p:nvPicPr>
          <p:cNvPr id="16" name="Image 3" descr="Warning">    </p:cNvPr>
          <p:cNvPicPr>
            <a:picLocks noChangeAspect="1"/>
          </p:cNvPicPr>
          <p:nvPr/>
        </p:nvPicPr>
        <p:blipFill>
          <a:blip r:embed="rId4"/>
          <a:srcRect l="0" r="0" t="-350" b="-350"/>
          <a:stretch/>
        </p:blipFill>
        <p:spPr>
          <a:xfrm>
            <a:off x="1066800" y="4894225"/>
            <a:ext cx="189177" cy="279400"/>
          </a:xfrm>
          <a:prstGeom prst="rect">
            <a:avLst/>
          </a:prstGeom>
        </p:spPr>
      </p:pic>
      <p:sp>
        <p:nvSpPr>
          <p:cNvPr id="17" name="Text 11"/>
          <p:cNvSpPr/>
          <p:nvPr/>
        </p:nvSpPr>
        <p:spPr>
          <a:xfrm>
            <a:off x="1408377" y="4747642"/>
            <a:ext cx="10008328" cy="59795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Space Grotesk" pitchFamily="34" charset="0"/>
                <a:ea typeface="Space Grotesk" pitchFamily="34" charset="-122"/>
                <a:cs typeface="Space Grotesk" pitchFamily="34" charset="-120"/>
              </a:rPr>
              <a:t>Gotcha:</a:t>
            </a:r>
            <a:r>
              <a:rPr lang="en-US" sz="1400" dirty="0">
                <a:solidFill>
                  <a:srgbClr val="F6F3EC"/>
                </a:solidFill>
                <a:latin typeface="Space Grotesk" pitchFamily="34" charset="0"/>
                <a:ea typeface="Space Grotesk" pitchFamily="34" charset="-122"/>
                <a:cs typeface="Space Grotesk" pitchFamily="34" charset="-120"/>
              </a:rPr>
              <a:t> PRs opened with the default GITHUB_TOKEN do not trigger your other workflows. Use a GitHub App token if CI must run on the release PR.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18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037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6F3EC"/>
                </a:solidFill>
                <a:latin typeface="Space Grotesk" pitchFamily="34" charset="0"/>
                <a:ea typeface="Space Grotesk" pitchFamily="34" charset="-122"/>
                <a:cs typeface="Space Grotesk" pitchFamily="34" charset="-120"/>
              </a:rPr>
              <a:t>Remember three things</a:t>
            </a:r>
            <a:endParaRPr lang="en-US" sz="3600" dirty="0"/>
          </a:p>
        </p:txBody>
      </p:sp>
      <p:sp>
        <p:nvSpPr>
          <p:cNvPr id="3" name="Text 1"/>
          <p:cNvSpPr/>
          <p:nvPr/>
        </p:nvSpPr>
        <p:spPr>
          <a:xfrm>
            <a:off x="812800" y="2201453"/>
            <a:ext cx="378596" cy="761471"/>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8A5C"/>
                </a:solidFill>
                <a:latin typeface="JetBrains Mono" pitchFamily="49" charset="0"/>
                <a:ea typeface="JetBrains Mono" pitchFamily="49" charset="-122"/>
                <a:cs typeface="JetBrains Mono" pitchFamily="49" charset="-120"/>
              </a:rPr>
              <a:t>1</a:t>
            </a:r>
            <a:endParaRPr lang="en-US" sz="3600" dirty="0"/>
          </a:p>
        </p:txBody>
      </p:sp>
      <p:sp>
        <p:nvSpPr>
          <p:cNvPr id="4" name="Text 2"/>
          <p:cNvSpPr/>
          <p:nvPr/>
        </p:nvSpPr>
        <p:spPr>
          <a:xfrm>
            <a:off x="1382297" y="2334344"/>
            <a:ext cx="7531463" cy="4956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6F3EC"/>
                </a:solidFill>
                <a:latin typeface="Space Grotesk" pitchFamily="34" charset="0"/>
                <a:ea typeface="Space Grotesk" pitchFamily="34" charset="-122"/>
                <a:cs typeface="Space Grotesk" pitchFamily="34" charset="-120"/>
              </a:rPr>
              <a:t>Start every commit with a type.</a:t>
            </a:r>
            <a:endParaRPr lang="en-US" sz="2800" dirty="0"/>
          </a:p>
        </p:txBody>
      </p:sp>
      <p:sp>
        <p:nvSpPr>
          <p:cNvPr id="5" name="Text 3"/>
          <p:cNvSpPr/>
          <p:nvPr/>
        </p:nvSpPr>
        <p:spPr>
          <a:xfrm>
            <a:off x="812800" y="3166120"/>
            <a:ext cx="378596" cy="761471"/>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8A5C"/>
                </a:solidFill>
                <a:latin typeface="JetBrains Mono" pitchFamily="49" charset="0"/>
                <a:ea typeface="JetBrains Mono" pitchFamily="49" charset="-122"/>
                <a:cs typeface="JetBrains Mono" pitchFamily="49" charset="-120"/>
              </a:rPr>
              <a:t>2</a:t>
            </a:r>
            <a:endParaRPr lang="en-US" sz="3600" dirty="0"/>
          </a:p>
        </p:txBody>
      </p:sp>
      <p:sp>
        <p:nvSpPr>
          <p:cNvPr id="6" name="Text 4"/>
          <p:cNvSpPr/>
          <p:nvPr/>
        </p:nvSpPr>
        <p:spPr>
          <a:xfrm>
            <a:off x="1382297" y="3299011"/>
            <a:ext cx="7987348" cy="4956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6F3EC"/>
                </a:solidFill>
                <a:latin typeface="Space Grotesk" pitchFamily="34" charset="0"/>
                <a:ea typeface="Space Grotesk" pitchFamily="34" charset="-122"/>
                <a:cs typeface="Space Grotesk" pitchFamily="34" charset="-120"/>
              </a:rPr>
              <a:t>Merge to main like you always do.</a:t>
            </a:r>
            <a:endParaRPr lang="en-US" sz="2800" dirty="0"/>
          </a:p>
        </p:txBody>
      </p:sp>
      <p:sp>
        <p:nvSpPr>
          <p:cNvPr id="7" name="Text 5"/>
          <p:cNvSpPr/>
          <p:nvPr/>
        </p:nvSpPr>
        <p:spPr>
          <a:xfrm>
            <a:off x="812800" y="4130787"/>
            <a:ext cx="378596" cy="761471"/>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8A5C"/>
                </a:solidFill>
                <a:latin typeface="JetBrains Mono" pitchFamily="49" charset="0"/>
                <a:ea typeface="JetBrains Mono" pitchFamily="49" charset="-122"/>
                <a:cs typeface="JetBrains Mono" pitchFamily="49" charset="-120"/>
              </a:rPr>
              <a:t>3</a:t>
            </a:r>
            <a:endParaRPr lang="en-US" sz="3600" dirty="0"/>
          </a:p>
        </p:txBody>
      </p:sp>
      <p:sp>
        <p:nvSpPr>
          <p:cNvPr id="8" name="Text 6"/>
          <p:cNvSpPr/>
          <p:nvPr/>
        </p:nvSpPr>
        <p:spPr>
          <a:xfrm>
            <a:off x="1382297" y="4263690"/>
            <a:ext cx="10644006" cy="4956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6F3EC"/>
                </a:solidFill>
                <a:latin typeface="Space Grotesk" pitchFamily="34" charset="0"/>
                <a:ea typeface="Space Grotesk" pitchFamily="34" charset="-122"/>
                <a:cs typeface="Space Grotesk" pitchFamily="34" charset="-120"/>
              </a:rPr>
              <a:t>Merge the release PR when you want to ship.</a:t>
            </a:r>
            <a:endParaRPr lang="en-US" sz="2800" dirty="0"/>
          </a:p>
        </p:txBody>
      </p:sp>
      <p:sp>
        <p:nvSpPr>
          <p:cNvPr id="9" name="Text 7"/>
          <p:cNvSpPr/>
          <p:nvPr/>
        </p:nvSpPr>
        <p:spPr>
          <a:xfrm>
            <a:off x="812800" y="5677173"/>
            <a:ext cx="10883392" cy="39343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3A9B6"/>
                </a:solidFill>
                <a:latin typeface="Space Grotesk" pitchFamily="34" charset="0"/>
                <a:ea typeface="Space Grotesk" pitchFamily="34" charset="-122"/>
                <a:cs typeface="Space Grotesk" pitchFamily="34" charset="-120"/>
              </a:rPr>
              <a:t>Versions, changelogs, tags, and release notes: handled.</a:t>
            </a:r>
            <a:endParaRPr lang="en-US" sz="1800" dirty="0"/>
          </a:p>
        </p:txBody>
      </p:sp>
    </p:spTree>
  </p:cSld>
  <p:clrMapOvr>
    <a:masterClrMapping/>
  </p:clrMapOvr>
</p:sld>
</file>

<file path=ppt/theme/theme1.xml><?xml version="1.0" encoding="utf-8"?>
<a:theme xmlns:a="http://schemas.openxmlformats.org/drawingml/2006/main" name="Conventional Commits and Release Please">
  <a:themeElements>
    <a:clrScheme name="Conventional Commits and Release Please">
      <a:dk1>
        <a:srgbClr val="1B1E26"/>
      </a:dk1>
      <a:lt1>
        <a:srgbClr val="F6F3EC"/>
      </a:lt1>
      <a:dk2>
        <a:srgbClr val="525358"/>
      </a:dk2>
      <a:lt2>
        <a:srgbClr val="E0DED8"/>
      </a:lt2>
      <a:accent1>
        <a:srgbClr val="FF8A5C"/>
      </a:accent1>
      <a:accent2>
        <a:srgbClr val="B8441B"/>
      </a:accent2>
      <a:accent3>
        <a:srgbClr val="2F62B0"/>
      </a:accent3>
      <a:accent4>
        <a:srgbClr val="7FB0FF"/>
      </a:accent4>
      <a:accent5>
        <a:srgbClr val="8A6400"/>
      </a:accent5>
      <a:accent6>
        <a:srgbClr val="E8592A"/>
      </a:accent6>
      <a:hlink>
        <a:srgbClr val="0563C1"/>
      </a:hlink>
      <a:folHlink>
        <a:srgbClr val="954F72"/>
      </a:folHlink>
    </a:clrScheme>
    <a:fontScheme name="Conventional Commits and Release Pleas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Conventional Commits and Release Please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2026-10-29T16:59:25Z</dcterms:created>
  <dcterms:modified xsi:type="dcterms:W3CDTF">2026-10-29T16:59:25Z</dcterms:modified>
</cp:coreProperties>
</file>